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 id="274" r:id="rId25"/>
    <p:sldId id="275" r:id="rId2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33"/>
                </a:solidFill>
                <a:latin typeface="Calibri"/>
              </a:defRPr>
            </a:pPr>
            <a:r>
              <a:rPr sz="1200" b="0" i="0" u="none" strike="noStrike">
                <a:solidFill>
                  <a:srgbClr val="1F2A33"/>
                </a:solidFill>
                <a:latin typeface="Calibri"/>
              </a:rPr>
              <a:t>Doublets removed by scDblFinder (% of cells)</a:t>
            </a:r>
          </a:p>
        </c:rich>
      </c:tx>
      <c:layout/>
      <c:overlay val="0"/>
    </c:title>
    <c:autoTitleDeleted val="0"/>
    <c:plotArea>
      <c:layout/>
      <c:barChart>
        <c:barDir val="col"/>
        <c:grouping val="clustered"/>
        <c:varyColors val="0"/>
        <c:ser>
          <c:idx val="0"/>
          <c:order val="0"/>
          <c:tx>
            <c:strRef>
              <c:f>Sheet1!$B$1</c:f>
              <c:strCache>
                <c:ptCount val="1"/>
                <c:pt idx="0">
                  <c:v>Doublet %</c:v>
                </c:pt>
              </c:strCache>
            </c:strRef>
          </c:tx>
          <c:spPr>
            <a:solidFill>
              <a:srgbClr val="6A1B3A"/>
            </a:solidFill>
            <a:effectLst/>
          </c:spPr>
          <c:invertIfNegative val="0"/>
          <c:dLbls>
            <c:numFmt formatCode="0.0&quot;%&quot;"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Pulp1</c:v>
                  </c:pt>
                  <c:pt idx="1">
                    <c:v>Pulp2</c:v>
                  </c:pt>
                  <c:pt idx="2">
                    <c:v>Pulp3</c:v>
                  </c:pt>
                  <c:pt idx="3">
                    <c:v>Pulp4</c:v>
                  </c:pt>
                  <c:pt idx="4">
                    <c:v>Pulp5</c:v>
                  </c:pt>
                </c:lvl>
              </c:multiLvlStrCache>
            </c:multiLvlStrRef>
          </c:cat>
          <c:val>
            <c:numRef>
              <c:f>Sheet1!$B$2:$B$6</c:f>
              <c:numCache>
                <c:formatCode>General</c:formatCode>
                <c:ptCount val="5"/>
                <c:pt idx="0">
                  <c:v>6.8</c:v>
                </c:pt>
                <c:pt idx="1">
                  <c:v>6.8</c:v>
                </c:pt>
                <c:pt idx="2">
                  <c:v>7.5</c:v>
                </c:pt>
                <c:pt idx="3">
                  <c:v>6.4</c:v>
                </c:pt>
                <c:pt idx="4">
                  <c:v>6.3</c:v>
                </c:pt>
              </c:numCache>
            </c:numRef>
          </c:val>
        </c:ser>
        <c:dLbls>
          <c:numFmt formatCode="0.0&quot;%&quot;"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9"/>
          <c:min val="0"/>
        </c:scaling>
        <c:delete val="0"/>
        <c:axPos val="l"/>
        <c:majorGridlines>
          <c:spPr>
            <a:ln w="6350" cap="flat">
              <a:solidFill>
                <a:srgbClr val="E3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Mesenchymal</c:v>
                </c:pt>
              </c:strCache>
            </c:strRef>
          </c:tx>
          <c:spPr>
            <a:solidFill>
              <a:srgbClr val="C48A2C"/>
            </a:solidFill>
            <a:effectLst/>
          </c:spPr>
          <c:invertIfNegative val="0"/>
          <c:dLbls>
            <c:numFmt formatCode="0.00;-0.00;;" sourceLinked="0"/>
            <c:txPr>
              <a:bodyPr/>
              <a:lstStyle/>
              <a:p>
                <a:pPr>
                  <a:defRPr b="0" i="0" strike="noStrike" sz="900" u="none">
                    <a:solidFill>
                      <a:srgbClr val="1F2A33"/>
                    </a:solidFill>
                    <a:latin typeface="Calibri"/>
                  </a:defRPr>
                </a:pPr>
              </a:p>
            </c:txPr>
            <c:dLblPos val="inEnd"/>
            <c:showLegendKey val="0"/>
            <c:showVal val="1"/>
            <c:showCatName val="0"/>
            <c:showSerName val="0"/>
            <c:showPercent val="0"/>
            <c:showBubbleSize val="0"/>
            <c:showLeaderLines val="0"/>
          </c:dLbls>
          <c:cat>
            <c:multiLvlStrRef>
              <c:f>Sheet1!$A$2:$A$17</c:f>
              <c:multiLvlStrCache>
                <c:ptCount val="16"/>
                <c:lvl>
                  <c:pt idx="0">
                    <c:v>0 Fibro</c:v>
                  </c:pt>
                  <c:pt idx="1">
                    <c:v>1 Fibro</c:v>
                  </c:pt>
                  <c:pt idx="2">
                    <c:v>2 Endo</c:v>
                  </c:pt>
                  <c:pt idx="3">
                    <c:v>3 Endo</c:v>
                  </c:pt>
                  <c:pt idx="4">
                    <c:v>4 Periv</c:v>
                  </c:pt>
                  <c:pt idx="5">
                    <c:v>5 Schwann</c:v>
                  </c:pt>
                  <c:pt idx="6">
                    <c:v>6 T/NK</c:v>
                  </c:pt>
                  <c:pt idx="7">
                    <c:v>7 Periv</c:v>
                  </c:pt>
                  <c:pt idx="8">
                    <c:v>8 Schwann</c:v>
                  </c:pt>
                  <c:pt idx="9">
                    <c:v>9 Myeloid</c:v>
                  </c:pt>
                  <c:pt idx="10">
                    <c:v>10 Endo</c:v>
                  </c:pt>
                  <c:pt idx="11">
                    <c:v>11 T/NK</c:v>
                  </c:pt>
                  <c:pt idx="12">
                    <c:v>12 B/plasma</c:v>
                  </c:pt>
                  <c:pt idx="13">
                    <c:v>13 Myeloid</c:v>
                  </c:pt>
                  <c:pt idx="14">
                    <c:v>14 Epith</c:v>
                  </c:pt>
                  <c:pt idx="15">
                    <c:v>15 Ery</c:v>
                  </c:pt>
                </c:lvl>
              </c:multiLvlStrCache>
            </c:multiLvlStrRef>
          </c:cat>
          <c:val>
            <c:numRef>
              <c:f>Sheet1!$B$2:$B$17</c:f>
              <c:numCache>
                <c:formatCode>General</c:formatCode>
                <c:ptCount val="16"/>
                <c:pt idx="0">
                  <c:v>0.324</c:v>
                </c:pt>
                <c:pt idx="1">
                  <c:v>0.404</c:v>
                </c:pt>
                <c:pt idx="2">
                  <c:v>0</c:v>
                </c:pt>
                <c:pt idx="3">
                  <c:v>0</c:v>
                </c:pt>
                <c:pt idx="4">
                  <c:v>0.28</c:v>
                </c:pt>
                <c:pt idx="5">
                  <c:v>0</c:v>
                </c:pt>
                <c:pt idx="6">
                  <c:v>0</c:v>
                </c:pt>
                <c:pt idx="7">
                  <c:v>0.397</c:v>
                </c:pt>
                <c:pt idx="8">
                  <c:v>0</c:v>
                </c:pt>
                <c:pt idx="9">
                  <c:v>0</c:v>
                </c:pt>
                <c:pt idx="10">
                  <c:v>0</c:v>
                </c:pt>
                <c:pt idx="11">
                  <c:v>0</c:v>
                </c:pt>
                <c:pt idx="12">
                  <c:v>0</c:v>
                </c:pt>
                <c:pt idx="13">
                  <c:v>0</c:v>
                </c:pt>
                <c:pt idx="14">
                  <c:v>0</c:v>
                </c:pt>
                <c:pt idx="15">
                  <c:v>0</c:v>
                </c:pt>
              </c:numCache>
            </c:numRef>
          </c:val>
        </c:ser>
        <c:ser>
          <c:idx val="1"/>
          <c:order val="1"/>
          <c:tx>
            <c:strRef>
              <c:f>Sheet1!$C$1</c:f>
              <c:strCache>
                <c:ptCount val="1"/>
                <c:pt idx="0">
                  <c:v>Other</c:v>
                </c:pt>
              </c:strCache>
            </c:strRef>
          </c:tx>
          <c:spPr>
            <a:solidFill>
              <a:srgbClr val="A9B1B8"/>
            </a:solidFill>
            <a:effectLst/>
          </c:spPr>
          <c:invertIfNegative val="0"/>
          <c:dLbls>
            <c:numFmt formatCode="0.00;-0.00;;" sourceLinked="0"/>
            <c:txPr>
              <a:bodyPr/>
              <a:lstStyle/>
              <a:p>
                <a:pPr>
                  <a:defRPr b="0" i="0" strike="noStrike" sz="900" u="none">
                    <a:solidFill>
                      <a:srgbClr val="1F2A33"/>
                    </a:solidFill>
                    <a:latin typeface="Calibri"/>
                  </a:defRPr>
                </a:pPr>
              </a:p>
            </c:txPr>
            <c:dLblPos val="inEnd"/>
            <c:showLegendKey val="0"/>
            <c:showVal val="1"/>
            <c:showCatName val="0"/>
            <c:showSerName val="0"/>
            <c:showPercent val="0"/>
            <c:showBubbleSize val="0"/>
            <c:showLeaderLines val="0"/>
          </c:dLbls>
          <c:cat>
            <c:multiLvlStrRef>
              <c:f>Sheet1!$A$2:$A$17</c:f>
              <c:multiLvlStrCache>
                <c:ptCount val="16"/>
                <c:lvl>
                  <c:pt idx="0">
                    <c:v>0 Fibro</c:v>
                  </c:pt>
                  <c:pt idx="1">
                    <c:v>1 Fibro</c:v>
                  </c:pt>
                  <c:pt idx="2">
                    <c:v>2 Endo</c:v>
                  </c:pt>
                  <c:pt idx="3">
                    <c:v>3 Endo</c:v>
                  </c:pt>
                  <c:pt idx="4">
                    <c:v>4 Periv</c:v>
                  </c:pt>
                  <c:pt idx="5">
                    <c:v>5 Schwann</c:v>
                  </c:pt>
                  <c:pt idx="6">
                    <c:v>6 T/NK</c:v>
                  </c:pt>
                  <c:pt idx="7">
                    <c:v>7 Periv</c:v>
                  </c:pt>
                  <c:pt idx="8">
                    <c:v>8 Schwann</c:v>
                  </c:pt>
                  <c:pt idx="9">
                    <c:v>9 Myeloid</c:v>
                  </c:pt>
                  <c:pt idx="10">
                    <c:v>10 Endo</c:v>
                  </c:pt>
                  <c:pt idx="11">
                    <c:v>11 T/NK</c:v>
                  </c:pt>
                  <c:pt idx="12">
                    <c:v>12 B/plasma</c:v>
                  </c:pt>
                  <c:pt idx="13">
                    <c:v>13 Myeloid</c:v>
                  </c:pt>
                  <c:pt idx="14">
                    <c:v>14 Epith</c:v>
                  </c:pt>
                  <c:pt idx="15">
                    <c:v>15 Ery</c:v>
                  </c:pt>
                </c:lvl>
              </c:multiLvlStrCache>
            </c:multiLvlStrRef>
          </c:cat>
          <c:val>
            <c:numRef>
              <c:f>Sheet1!$C$2:$C$17</c:f>
              <c:numCache>
                <c:formatCode>General</c:formatCode>
                <c:ptCount val="16"/>
                <c:pt idx="0">
                  <c:v>0</c:v>
                </c:pt>
                <c:pt idx="1">
                  <c:v>0</c:v>
                </c:pt>
                <c:pt idx="2">
                  <c:v>0.353</c:v>
                </c:pt>
                <c:pt idx="3">
                  <c:v>0.311</c:v>
                </c:pt>
                <c:pt idx="4">
                  <c:v>0</c:v>
                </c:pt>
                <c:pt idx="5">
                  <c:v>0.417</c:v>
                </c:pt>
                <c:pt idx="6">
                  <c:v>0.613</c:v>
                </c:pt>
                <c:pt idx="7">
                  <c:v>0</c:v>
                </c:pt>
                <c:pt idx="8">
                  <c:v>0.267</c:v>
                </c:pt>
                <c:pt idx="9">
                  <c:v>0.359</c:v>
                </c:pt>
                <c:pt idx="10">
                  <c:v>0.287</c:v>
                </c:pt>
                <c:pt idx="11">
                  <c:v>0.479</c:v>
                </c:pt>
                <c:pt idx="12">
                  <c:v>0.519</c:v>
                </c:pt>
                <c:pt idx="13">
                  <c:v>0.567</c:v>
                </c:pt>
                <c:pt idx="14">
                  <c:v>0.816</c:v>
                </c:pt>
                <c:pt idx="15">
                  <c:v>0.53</c:v>
                </c:pt>
              </c:numCache>
            </c:numRef>
          </c:val>
        </c:ser>
        <c:dLbls>
          <c:numFmt formatCode="0.00;-0.00;;" sourceLinked="0"/>
          <c:txPr>
            <a:bodyPr/>
            <a:lstStyle/>
            <a:p>
              <a:pPr>
                <a:defRPr b="0" i="0" strike="noStrike" sz="900" u="none">
                  <a:solidFill>
                    <a:srgbClr val="1F2A33"/>
                  </a:solidFill>
                  <a:latin typeface="Calibr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Cells</c:v>
                </c:pt>
              </c:strCache>
            </c:strRef>
          </c:tx>
          <c:spPr>
            <a:solidFill>
              <a:srgbClr val="C48A2C"/>
            </a:solidFill>
            <a:effectLst/>
          </c:spPr>
          <c:invertIfNegative val="0"/>
          <c:dLbls>
            <c:numFmt formatCode="#,##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Erythrocyte</c:v>
                  </c:pt>
                  <c:pt idx="1">
                    <c:v>Epithelial</c:v>
                  </c:pt>
                  <c:pt idx="2">
                    <c:v>B/plasma</c:v>
                  </c:pt>
                  <c:pt idx="3">
                    <c:v>Myeloid</c:v>
                  </c:pt>
                  <c:pt idx="4">
                    <c:v>T/NK</c:v>
                  </c:pt>
                  <c:pt idx="5">
                    <c:v>Schwann/glia</c:v>
                  </c:pt>
                  <c:pt idx="6">
                    <c:v>Perivascular (mes.)</c:v>
                  </c:pt>
                  <c:pt idx="7">
                    <c:v>Endothelial</c:v>
                  </c:pt>
                  <c:pt idx="8">
                    <c:v>Pulp fibroblast (mes.)</c:v>
                  </c:pt>
                </c:lvl>
              </c:multiLvlStrCache>
            </c:multiLvlStrRef>
          </c:cat>
          <c:val>
            <c:numRef>
              <c:f>Sheet1!$B$2:$B$10</c:f>
              <c:numCache>
                <c:formatCode>General</c:formatCode>
                <c:ptCount val="9"/>
                <c:pt idx="0">
                  <c:v>66</c:v>
                </c:pt>
                <c:pt idx="1">
                  <c:v>87</c:v>
                </c:pt>
                <c:pt idx="2">
                  <c:v>158</c:v>
                </c:pt>
                <c:pt idx="3">
                  <c:v>832</c:v>
                </c:pt>
                <c:pt idx="4">
                  <c:v>1692</c:v>
                </c:pt>
                <c:pt idx="5">
                  <c:v>2300</c:v>
                </c:pt>
                <c:pt idx="6">
                  <c:v>2877</c:v>
                </c:pt>
                <c:pt idx="7">
                  <c:v>5718</c:v>
                </c:pt>
                <c:pt idx="8">
                  <c:v>9597</c:v>
                </c:pt>
              </c:numCache>
            </c:numRef>
          </c:val>
        </c:ser>
        <c:dLbls>
          <c:numFmt formatCode="#,##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12000"/>
        </c:scaling>
        <c:delete val="0"/>
        <c:axPos val="b"/>
        <c:majorGridlines>
          <c:spPr>
            <a:ln w="6350" cap="flat">
              <a:solidFill>
                <a:srgbClr val="E3E6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Candidate DPSC</c:v>
                </c:pt>
              </c:strCache>
            </c:strRef>
          </c:tx>
          <c:spPr>
            <a:solidFill>
              <a:srgbClr val="B03A5B"/>
            </a:solidFill>
            <a:effectLst/>
          </c:spPr>
          <c:invertIfNegative val="0"/>
          <c:dLbls>
            <c:numFmt formatCode="0.00;-0.00;;" sourceLinked="0"/>
            <c:txPr>
              <a:bodyPr/>
              <a:lstStyle/>
              <a:p>
                <a:pPr>
                  <a:defRPr b="0" i="0" strike="noStrike" sz="900" u="none">
                    <a:solidFill>
                      <a:srgbClr val="1F2A33"/>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Sub 4</c:v>
                  </c:pt>
                  <c:pt idx="1">
                    <c:v>Sub 2</c:v>
                  </c:pt>
                  <c:pt idx="2">
                    <c:v>Sub 8</c:v>
                  </c:pt>
                  <c:pt idx="3">
                    <c:v>Sub 1</c:v>
                  </c:pt>
                  <c:pt idx="4">
                    <c:v>Sub 5</c:v>
                  </c:pt>
                  <c:pt idx="5">
                    <c:v>Sub 7</c:v>
                  </c:pt>
                  <c:pt idx="6">
                    <c:v>Sub 0</c:v>
                  </c:pt>
                  <c:pt idx="7">
                    <c:v>Sub 6</c:v>
                  </c:pt>
                  <c:pt idx="8">
                    <c:v>Sub 3</c:v>
                  </c:pt>
                  <c:pt idx="9">
                    <c:v>Sub 9</c:v>
                  </c:pt>
                </c:lvl>
              </c:multiLvlStrCache>
            </c:multiLvlStrRef>
          </c:cat>
          <c:val>
            <c:numRef>
              <c:f>Sheet1!$B$2:$B$11</c:f>
              <c:numCache>
                <c:formatCode>General</c:formatCode>
                <c:ptCount val="10"/>
                <c:pt idx="0">
                  <c:v>0.197</c:v>
                </c:pt>
                <c:pt idx="1">
                  <c:v>0.099</c:v>
                </c:pt>
                <c:pt idx="2">
                  <c:v>0.035</c:v>
                </c:pt>
                <c:pt idx="3">
                  <c:v>0</c:v>
                </c:pt>
                <c:pt idx="4">
                  <c:v>0</c:v>
                </c:pt>
                <c:pt idx="5">
                  <c:v>0</c:v>
                </c:pt>
                <c:pt idx="6">
                  <c:v>0</c:v>
                </c:pt>
                <c:pt idx="7">
                  <c:v>0</c:v>
                </c:pt>
                <c:pt idx="8">
                  <c:v>0</c:v>
                </c:pt>
                <c:pt idx="9">
                  <c:v>0</c:v>
                </c:pt>
              </c:numCache>
            </c:numRef>
          </c:val>
        </c:ser>
        <c:ser>
          <c:idx val="1"/>
          <c:order val="1"/>
          <c:tx>
            <c:strRef>
              <c:f>Sheet1!$C$1</c:f>
              <c:strCache>
                <c:ptCount val="1"/>
                <c:pt idx="0">
                  <c:v>Fibroblast</c:v>
                </c:pt>
              </c:strCache>
            </c:strRef>
          </c:tx>
          <c:spPr>
            <a:solidFill>
              <a:srgbClr val="C48A2C"/>
            </a:solidFill>
            <a:effectLst/>
          </c:spPr>
          <c:invertIfNegative val="0"/>
          <c:dLbls>
            <c:numFmt formatCode="0.00;-0.00;;" sourceLinked="0"/>
            <c:txPr>
              <a:bodyPr/>
              <a:lstStyle/>
              <a:p>
                <a:pPr>
                  <a:defRPr b="0" i="0" strike="noStrike" sz="900" u="none">
                    <a:solidFill>
                      <a:srgbClr val="1F2A33"/>
                    </a:solidFill>
                    <a:latin typeface="Calibri"/>
                  </a:defRPr>
                </a:pPr>
              </a:p>
            </c:txPr>
            <c:dLblPos val="inEnd"/>
            <c:showLegendKey val="0"/>
            <c:showVal val="1"/>
            <c:showCatName val="0"/>
            <c:showSerName val="0"/>
            <c:showPercent val="0"/>
            <c:showBubbleSize val="0"/>
            <c:showLeaderLines val="0"/>
          </c:dLbls>
          <c:cat>
            <c:multiLvlStrRef>
              <c:f>Sheet1!$A$2:$A$11</c:f>
              <c:multiLvlStrCache>
                <c:ptCount val="10"/>
                <c:lvl>
                  <c:pt idx="0">
                    <c:v>Sub 4</c:v>
                  </c:pt>
                  <c:pt idx="1">
                    <c:v>Sub 2</c:v>
                  </c:pt>
                  <c:pt idx="2">
                    <c:v>Sub 8</c:v>
                  </c:pt>
                  <c:pt idx="3">
                    <c:v>Sub 1</c:v>
                  </c:pt>
                  <c:pt idx="4">
                    <c:v>Sub 5</c:v>
                  </c:pt>
                  <c:pt idx="5">
                    <c:v>Sub 7</c:v>
                  </c:pt>
                  <c:pt idx="6">
                    <c:v>Sub 0</c:v>
                  </c:pt>
                  <c:pt idx="7">
                    <c:v>Sub 6</c:v>
                  </c:pt>
                  <c:pt idx="8">
                    <c:v>Sub 3</c:v>
                  </c:pt>
                  <c:pt idx="9">
                    <c:v>Sub 9</c:v>
                  </c:pt>
                </c:lvl>
              </c:multiLvlStrCache>
            </c:multiLvlStrRef>
          </c:cat>
          <c:val>
            <c:numRef>
              <c:f>Sheet1!$C$2:$C$11</c:f>
              <c:numCache>
                <c:formatCode>General</c:formatCode>
                <c:ptCount val="10"/>
                <c:pt idx="0">
                  <c:v>0</c:v>
                </c:pt>
                <c:pt idx="1">
                  <c:v>0</c:v>
                </c:pt>
                <c:pt idx="2">
                  <c:v>0</c:v>
                </c:pt>
                <c:pt idx="3">
                  <c:v>-0.102</c:v>
                </c:pt>
                <c:pt idx="4">
                  <c:v>-0.109</c:v>
                </c:pt>
                <c:pt idx="5">
                  <c:v>-0.11</c:v>
                </c:pt>
                <c:pt idx="6">
                  <c:v>-0.141</c:v>
                </c:pt>
                <c:pt idx="7">
                  <c:v>-0.174</c:v>
                </c:pt>
                <c:pt idx="8">
                  <c:v>-0.2</c:v>
                </c:pt>
                <c:pt idx="9">
                  <c:v>-0.275</c:v>
                </c:pt>
              </c:numCache>
            </c:numRef>
          </c:val>
        </c:ser>
        <c:dLbls>
          <c:numFmt formatCode="0.00;-0.00;;" sourceLinked="0"/>
          <c:txPr>
            <a:bodyPr/>
            <a:lstStyle/>
            <a:p>
              <a:pPr>
                <a:defRPr b="0" i="0" strike="noStrike" sz="900" u="none">
                  <a:solidFill>
                    <a:srgbClr val="1F2A33"/>
                  </a:solidFill>
                  <a:latin typeface="Calibr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0.25"/>
          <c:min val="-0.3"/>
        </c:scaling>
        <c:delete val="0"/>
        <c:axPos val="l"/>
        <c:majorGridlines>
          <c:spPr>
            <a:ln w="6350" cap="flat">
              <a:solidFill>
                <a:srgbClr val="E3E6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WLS+</c:v>
                </c:pt>
              </c:strCache>
            </c:strRef>
          </c:tx>
          <c:spPr>
            <a:solidFill>
              <a:srgbClr val="0E7C7B"/>
            </a:solidFill>
            <a:effectLst/>
          </c:spPr>
          <c:invertIfNegative val="0"/>
          <c:dLbls>
            <c:numFmt formatCode="0.0&quot;%&quot;"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T/NK</c:v>
                  </c:pt>
                  <c:pt idx="1">
                    <c:v>B/plasma</c:v>
                  </c:pt>
                  <c:pt idx="2">
                    <c:v>Endothelial</c:v>
                  </c:pt>
                  <c:pt idx="3">
                    <c:v>► Candidate DPSC</c:v>
                  </c:pt>
                  <c:pt idx="4">
                    <c:v>Schwann/glia</c:v>
                  </c:pt>
                  <c:pt idx="5">
                    <c:v>Myeloid</c:v>
                  </c:pt>
                  <c:pt idx="6">
                    <c:v>Pulp fibroblast</c:v>
                  </c:pt>
                </c:lvl>
              </c:multiLvlStrCache>
            </c:multiLvlStrRef>
          </c:cat>
          <c:val>
            <c:numRef>
              <c:f>Sheet1!$B$2:$B$8</c:f>
              <c:numCache>
                <c:formatCode>General</c:formatCode>
                <c:ptCount val="7"/>
                <c:pt idx="0">
                  <c:v>1.3</c:v>
                </c:pt>
                <c:pt idx="1">
                  <c:v>2.4</c:v>
                </c:pt>
                <c:pt idx="2">
                  <c:v>7.8</c:v>
                </c:pt>
                <c:pt idx="3">
                  <c:v>11.1</c:v>
                </c:pt>
                <c:pt idx="4">
                  <c:v>12.2</c:v>
                </c:pt>
                <c:pt idx="5">
                  <c:v>20</c:v>
                </c:pt>
                <c:pt idx="6">
                  <c:v>20.7</c:v>
                </c:pt>
              </c:numCache>
            </c:numRef>
          </c:val>
        </c:ser>
        <c:dLbls>
          <c:numFmt formatCode="0.0&quot;%&quot;"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6350" cap="flat">
              <a:solidFill>
                <a:srgbClr val="E3E6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log2FC</c:v>
                </c:pt>
              </c:strCache>
            </c:strRef>
          </c:tx>
          <c:spPr>
            <a:solidFill>
              <a:srgbClr val="6A1B3A"/>
            </a:solidFill>
            <a:effectLst/>
          </c:spPr>
          <c:invertIfNegative val="0"/>
          <c:dLbls>
            <c:numFmt formatCode="+0.00;-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vs Endothelial</c:v>
                  </c:pt>
                  <c:pt idx="1">
                    <c:v>vs All other cells</c:v>
                  </c:pt>
                  <c:pt idx="2">
                    <c:v>vs Schwann/glia</c:v>
                  </c:pt>
                  <c:pt idx="3">
                    <c:v>vs Pulp fibroblast</c:v>
                  </c:pt>
                  <c:pt idx="4">
                    <c:v>vs Myeloid</c:v>
                  </c:pt>
                </c:lvl>
              </c:multiLvlStrCache>
            </c:multiLvlStrRef>
          </c:cat>
          <c:val>
            <c:numRef>
              <c:f>Sheet1!$B$2:$B$6</c:f>
              <c:numCache>
                <c:formatCode>General</c:formatCode>
                <c:ptCount val="5"/>
                <c:pt idx="0">
                  <c:v>1.282</c:v>
                </c:pt>
                <c:pt idx="1">
                  <c:v>-0.139</c:v>
                </c:pt>
                <c:pt idx="2">
                  <c:v>-0.23</c:v>
                </c:pt>
                <c:pt idx="3">
                  <c:v>-0.949</c:v>
                </c:pt>
                <c:pt idx="4">
                  <c:v>-1.342</c:v>
                </c:pt>
              </c:numCache>
            </c:numRef>
          </c:val>
        </c:ser>
        <c:dLbls>
          <c:numFmt formatCode="+0.00;-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1.6"/>
          <c:min val="-1.6"/>
        </c:scaling>
        <c:delete val="0"/>
        <c:axPos val="b"/>
        <c:majorGridlines>
          <c:spPr>
            <a:ln w="6350" cap="flat">
              <a:solidFill>
                <a:srgbClr val="E3E6E8"/>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Unadjusted</c:v>
                </c:pt>
              </c:strCache>
            </c:strRef>
          </c:tx>
          <c:spPr>
            <a:solidFill>
              <a:srgbClr val="A9B1B8"/>
            </a:solidFill>
            <a:effectLst/>
          </c:spPr>
          <c:invertIfNegative val="0"/>
          <c:dLbls>
            <c:numFmt formatCode="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Candidate DPSC</c:v>
                  </c:pt>
                  <c:pt idx="1">
                    <c:v>Pulp fibroblast</c:v>
                  </c:pt>
                  <c:pt idx="2">
                    <c:v>Endothelial</c:v>
                  </c:pt>
                  <c:pt idx="3">
                    <c:v>Schwann/glia</c:v>
                  </c:pt>
                  <c:pt idx="4">
                    <c:v>Myeloid</c:v>
                  </c:pt>
                </c:lvl>
              </c:multiLvlStrCache>
            </c:multiLvlStrRef>
          </c:cat>
          <c:val>
            <c:numRef>
              <c:f>Sheet1!$B$2:$B$6</c:f>
              <c:numCache>
                <c:formatCode>General</c:formatCode>
                <c:ptCount val="5"/>
                <c:pt idx="0">
                  <c:v>1.38</c:v>
                </c:pt>
                <c:pt idx="1">
                  <c:v>1.23</c:v>
                </c:pt>
                <c:pt idx="2">
                  <c:v>1.67</c:v>
                </c:pt>
                <c:pt idx="3">
                  <c:v>1.95</c:v>
                </c:pt>
                <c:pt idx="4">
                  <c:v>1.81</c:v>
                </c:pt>
              </c:numCache>
            </c:numRef>
          </c:val>
        </c:ser>
        <c:ser>
          <c:idx val="1"/>
          <c:order val="1"/>
          <c:tx>
            <c:strRef>
              <c:f>Sheet1!$C$1</c:f>
              <c:strCache>
                <c:ptCount val="1"/>
                <c:pt idx="0">
                  <c:v>Depth-adjusted</c:v>
                </c:pt>
              </c:strCache>
            </c:strRef>
          </c:tx>
          <c:spPr>
            <a:solidFill>
              <a:srgbClr val="6A1B3A"/>
            </a:solidFill>
            <a:effectLst/>
          </c:spPr>
          <c:invertIfNegative val="0"/>
          <c:dLbls>
            <c:numFmt formatCode="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Candidate DPSC</c:v>
                  </c:pt>
                  <c:pt idx="1">
                    <c:v>Pulp fibroblast</c:v>
                  </c:pt>
                  <c:pt idx="2">
                    <c:v>Endothelial</c:v>
                  </c:pt>
                  <c:pt idx="3">
                    <c:v>Schwann/glia</c:v>
                  </c:pt>
                  <c:pt idx="4">
                    <c:v>Myeloid</c:v>
                  </c:pt>
                </c:lvl>
              </c:multiLvlStrCache>
            </c:multiLvlStrRef>
          </c:cat>
          <c:val>
            <c:numRef>
              <c:f>Sheet1!$C$2:$C$6</c:f>
              <c:numCache>
                <c:formatCode>General</c:formatCode>
                <c:ptCount val="5"/>
                <c:pt idx="0">
                  <c:v>1</c:v>
                </c:pt>
                <c:pt idx="1">
                  <c:v>1</c:v>
                </c:pt>
                <c:pt idx="2">
                  <c:v>1.02</c:v>
                </c:pt>
                <c:pt idx="3">
                  <c:v>1.8</c:v>
                </c:pt>
                <c:pt idx="4">
                  <c:v>0.71</c:v>
                </c:pt>
              </c:numCache>
            </c:numRef>
          </c:val>
        </c:ser>
        <c:dLbls>
          <c:numFmt formatCode="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2.4"/>
          <c:min val="0"/>
        </c:scaling>
        <c:delete val="0"/>
        <c:axPos val="l"/>
        <c:majorGridlines>
          <c:spPr>
            <a:ln w="6350" cap="flat">
              <a:solidFill>
                <a:srgbClr val="E3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33"/>
                </a:solidFill>
                <a:latin typeface="Calibri"/>
              </a:defRPr>
            </a:pPr>
            <a:r>
              <a:rPr sz="1200" b="0" i="0" u="none" strike="noStrike">
                <a:solidFill>
                  <a:srgbClr val="1F2A33"/>
                </a:solidFill>
                <a:latin typeface="Calibri"/>
              </a:rPr>
              <a:t>% cells expressing each ligand</a:t>
            </a:r>
          </a:p>
        </c:rich>
      </c:tx>
      <c:layout/>
      <c:overlay val="0"/>
    </c:title>
    <c:autoTitleDeleted val="0"/>
    <c:plotArea>
      <c:layout/>
      <c:barChart>
        <c:barDir val="col"/>
        <c:grouping val="clustered"/>
        <c:varyColors val="0"/>
        <c:ser>
          <c:idx val="0"/>
          <c:order val="0"/>
          <c:tx>
            <c:strRef>
              <c:f>Sheet1!$B$1</c:f>
              <c:strCache>
                <c:ptCount val="1"/>
                <c:pt idx="0">
                  <c:v>Candidate DPSC</c:v>
                </c:pt>
              </c:strCache>
            </c:strRef>
          </c:tx>
          <c:spPr>
            <a:solidFill>
              <a:srgbClr val="B03A5B"/>
            </a:solidFill>
            <a:effectLst/>
          </c:spPr>
          <c:invertIfNegative val="0"/>
          <c:dLbls>
            <c:numFmt formatCode="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WNT2B</c:v>
                  </c:pt>
                  <c:pt idx="1">
                    <c:v>WNT5A</c:v>
                  </c:pt>
                  <c:pt idx="2">
                    <c:v>WNT5B</c:v>
                  </c:pt>
                  <c:pt idx="3">
                    <c:v>WNT6</c:v>
                  </c:pt>
                </c:lvl>
              </c:multiLvlStrCache>
            </c:multiLvlStrRef>
          </c:cat>
          <c:val>
            <c:numRef>
              <c:f>Sheet1!$B$2:$B$5</c:f>
              <c:numCache>
                <c:formatCode>General</c:formatCode>
                <c:ptCount val="4"/>
                <c:pt idx="0">
                  <c:v>0.91</c:v>
                </c:pt>
                <c:pt idx="1">
                  <c:v>1.16</c:v>
                </c:pt>
                <c:pt idx="2">
                  <c:v>0.6</c:v>
                </c:pt>
                <c:pt idx="3">
                  <c:v>3.83</c:v>
                </c:pt>
              </c:numCache>
            </c:numRef>
          </c:val>
        </c:ser>
        <c:ser>
          <c:idx val="1"/>
          <c:order val="1"/>
          <c:tx>
            <c:strRef>
              <c:f>Sheet1!$C$1</c:f>
              <c:strCache>
                <c:ptCount val="1"/>
                <c:pt idx="0">
                  <c:v>Pulp fibroblast</c:v>
                </c:pt>
              </c:strCache>
            </c:strRef>
          </c:tx>
          <c:spPr>
            <a:solidFill>
              <a:srgbClr val="C48A2C"/>
            </a:solidFill>
            <a:effectLst/>
          </c:spPr>
          <c:invertIfNegative val="0"/>
          <c:dLbls>
            <c:numFmt formatCode="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WNT2B</c:v>
                  </c:pt>
                  <c:pt idx="1">
                    <c:v>WNT5A</c:v>
                  </c:pt>
                  <c:pt idx="2">
                    <c:v>WNT5B</c:v>
                  </c:pt>
                  <c:pt idx="3">
                    <c:v>WNT6</c:v>
                  </c:pt>
                </c:lvl>
              </c:multiLvlStrCache>
            </c:multiLvlStrRef>
          </c:cat>
          <c:val>
            <c:numRef>
              <c:f>Sheet1!$C$2:$C$5</c:f>
              <c:numCache>
                <c:formatCode>General</c:formatCode>
                <c:ptCount val="4"/>
                <c:pt idx="0">
                  <c:v>1.11</c:v>
                </c:pt>
                <c:pt idx="1">
                  <c:v>9.97</c:v>
                </c:pt>
                <c:pt idx="2">
                  <c:v>3.56</c:v>
                </c:pt>
                <c:pt idx="3">
                  <c:v>0.29</c:v>
                </c:pt>
              </c:numCache>
            </c:numRef>
          </c:val>
        </c:ser>
        <c:dLbls>
          <c:numFmt formatCode="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3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log2FC</c:v>
                </c:pt>
              </c:strCache>
            </c:strRef>
          </c:tx>
          <c:spPr>
            <a:solidFill>
              <a:srgbClr val="B03A5B"/>
            </a:solidFill>
            <a:effectLst/>
          </c:spPr>
          <c:invertIfNegative val="0"/>
          <c:dLbls>
            <c:numFmt formatCode="+0.00;-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 MCAM⁺ (CD146⁺)</c:v>
                  </c:pt>
                  <c:pt idx="1">
                    <c:v>C: ≥3 stem markers</c:v>
                  </c:pt>
                  <c:pt idx="2">
                    <c:v>B: top 20% stem score</c:v>
                  </c:pt>
                  <c:pt idx="3">
                    <c:v>A: perivascular sub-clusters</c:v>
                  </c:pt>
                </c:lvl>
              </c:multiLvlStrCache>
            </c:multiLvlStrRef>
          </c:cat>
          <c:val>
            <c:numRef>
              <c:f>Sheet1!$B$2:$B$5</c:f>
              <c:numCache>
                <c:formatCode>General</c:formatCode>
                <c:ptCount val="4"/>
                <c:pt idx="0">
                  <c:v>-0.473</c:v>
                </c:pt>
                <c:pt idx="1">
                  <c:v>-0.12</c:v>
                </c:pt>
                <c:pt idx="2">
                  <c:v>-0.438</c:v>
                </c:pt>
                <c:pt idx="3">
                  <c:v>-0.947</c:v>
                </c:pt>
              </c:numCache>
            </c:numRef>
          </c:val>
        </c:ser>
        <c:dLbls>
          <c:numFmt formatCode="+0.00;-0.00"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0.2"/>
          <c:min val="-1.2"/>
        </c:scaling>
        <c:delete val="0"/>
        <c:axPos val="b"/>
        <c:majorGridlines>
          <c:spPr>
            <a:ln w="6350" cap="flat">
              <a:solidFill>
                <a:srgbClr val="E3E6E8"/>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WLS+</c:v>
                </c:pt>
              </c:strCache>
            </c:strRef>
          </c:tx>
          <c:spPr>
            <a:solidFill>
              <a:srgbClr val="0E7C7B"/>
            </a:solidFill>
            <a:effectLst/>
          </c:spPr>
          <c:invertIfNegative val="0"/>
          <c:dLbls>
            <c:numFmt formatCode="0.0&quot;%&quot;"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Pulp3 (446 genes)</c:v>
                  </c:pt>
                  <c:pt idx="1">
                    <c:v>Pulp2 (971)</c:v>
                  </c:pt>
                  <c:pt idx="2">
                    <c:v>Pulp4 (1,196)</c:v>
                  </c:pt>
                  <c:pt idx="3">
                    <c:v>Pulp5 (1,231)</c:v>
                  </c:pt>
                  <c:pt idx="4">
                    <c:v>Pulp1 (1,293)</c:v>
                  </c:pt>
                </c:lvl>
              </c:multiLvlStrCache>
            </c:multiLvlStrRef>
          </c:cat>
          <c:val>
            <c:numRef>
              <c:f>Sheet1!$B$2:$B$6</c:f>
              <c:numCache>
                <c:formatCode>General</c:formatCode>
                <c:ptCount val="5"/>
                <c:pt idx="0">
                  <c:v>1.3</c:v>
                </c:pt>
                <c:pt idx="1">
                  <c:v>5.4</c:v>
                </c:pt>
                <c:pt idx="2">
                  <c:v>13.1</c:v>
                </c:pt>
                <c:pt idx="3">
                  <c:v>16.8</c:v>
                </c:pt>
                <c:pt idx="4">
                  <c:v>11.1</c:v>
                </c:pt>
              </c:numCache>
            </c:numRef>
          </c:val>
        </c:ser>
        <c:dLbls>
          <c:numFmt formatCode="0.0&quot;%&quot;" sourceLinked="0"/>
          <c:txPr>
            <a:bodyPr/>
            <a:lstStyle/>
            <a:p>
              <a:pPr>
                <a:defRPr b="0" i="0" strike="noStrike" sz="900" u="none">
                  <a:solidFill>
                    <a:srgbClr val="1F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3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F2A33"/>
                </a:solidFill>
                <a:latin typeface="Calibri"/>
              </a:rPr>
              <a:t>GSE202476 · young tooth</a:t>
            </a:r>
          </a:p>
        </c:rich>
      </c:tx>
      <c:layout/>
      <c:overlay val="0"/>
    </c:title>
    <c:autoTitleDeleted val="0"/>
    <c:plotArea>
      <c:barChart>
        <c:barDir val="bar"/>
        <c:grouping val="clustered"/>
        <c:ser>
          <c:idx val="0"/>
          <c:order val="0"/>
          <c:tx>
            <c:strRef>
              <c:f>Sheet1!$B$1</c:f>
              <c:strCache>
                <c:ptCount val="1"/>
                <c:pt idx="0">
                  <c:v>% WLS⁺</c:v>
                </c:pt>
              </c:strCache>
            </c:strRef>
          </c:tx>
          <c:dPt>
            <c:idx val="0"/>
            <c:spPr>
              <a:solidFill>
                <a:srgbClr val="0E7C7B"/>
              </a:solidFill>
            </c:spPr>
          </c:dPt>
          <c:dPt>
            <c:idx val="1"/>
            <c:spPr>
              <a:solidFill>
                <a:srgbClr val="0E7C7B"/>
              </a:solidFill>
            </c:spPr>
          </c:dPt>
          <c:dPt>
            <c:idx val="2"/>
            <c:spPr>
              <a:solidFill>
                <a:srgbClr val="0E7C7B"/>
              </a:solidFill>
            </c:spPr>
          </c:dPt>
          <c:dPt>
            <c:idx val="3"/>
            <c:spPr>
              <a:solidFill>
                <a:srgbClr val="6A1B3A"/>
              </a:solidFill>
            </c:spPr>
          </c:dPt>
          <c:dPt>
            <c:idx val="4"/>
            <c:spPr>
              <a:solidFill>
                <a:srgbClr val="0E7C7B"/>
              </a:solidFill>
            </c:spPr>
          </c:dPt>
          <c:dPt>
            <c:idx val="5"/>
            <c:spPr>
              <a:solidFill>
                <a:srgbClr val="0E7C7B"/>
              </a:solidFill>
            </c:spPr>
          </c:dPt>
          <c:cat>
            <c:strRef>
              <c:f>Sheet1!$A$2:$A$7</c:f>
              <c:strCache>
                <c:ptCount val="6"/>
                <c:pt idx="0">
                  <c:v>T/NK</c:v>
                </c:pt>
                <c:pt idx="1">
                  <c:v>Schwann/glia</c:v>
                </c:pt>
                <c:pt idx="2">
                  <c:v>Endothelial</c:v>
                </c:pt>
                <c:pt idx="3">
                  <c:v>Candidate DPSC</c:v>
                </c:pt>
                <c:pt idx="4">
                  <c:v>Myeloid</c:v>
                </c:pt>
                <c:pt idx="5">
                  <c:v>Pulp fibroblast</c:v>
                </c:pt>
              </c:strCache>
            </c:strRef>
          </c:cat>
          <c:val>
            <c:numRef>
              <c:f>Sheet1!$B$2:$B$7</c:f>
              <c:numCache>
                <c:formatCode>General</c:formatCode>
                <c:ptCount val="6"/>
                <c:pt idx="0">
                  <c:v>1.4</c:v>
                </c:pt>
                <c:pt idx="1">
                  <c:v>14.8</c:v>
                </c:pt>
                <c:pt idx="2">
                  <c:v>24.1</c:v>
                </c:pt>
                <c:pt idx="3">
                  <c:v>33.8</c:v>
                </c:pt>
                <c:pt idx="4">
                  <c:v>36.8</c:v>
                </c:pt>
                <c:pt idx="5">
                  <c:v>50.5</c:v>
                </c:pt>
              </c:numCache>
            </c:numRef>
          </c:val>
        </c:ser>
        <c:dLbls>
          <c:numFmt formatCode="0.0&quot;%&quot;" sourceLinked="0"/>
          <c:txPr>
            <a:bodyPr/>
            <a:lstStyle/>
            <a:p>
              <a:pPr>
                <a:defRPr sz="1000">
                  <a:solidFill>
                    <a:srgbClr val="1F2A33"/>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5DBDF"/>
            </a:solidFill>
          </a:ln>
        </c:spPr>
        <c:txPr>
          <a:bodyPr/>
          <a:lstStyle/>
          <a:p>
            <a:pPr>
              <a:defRPr sz="1000">
                <a:solidFill>
                  <a:srgbClr val="1F2A33"/>
                </a:solidFill>
                <a:latin typeface="Calibri"/>
              </a:defRPr>
            </a:pPr>
          </a:p>
        </c:txPr>
        <c:crossAx val="-2113994440"/>
        <c:crosses val="autoZero"/>
        <c:auto val="1"/>
        <c:lblAlgn val="ctr"/>
        <c:lblOffset val="100"/>
        <c:noMultiLvlLbl val="0"/>
      </c:catAx>
      <c:valAx>
        <c:axId val="-2113994440"/>
        <c:scaling>
          <c:max val="65.65"/>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F2A33"/>
                </a:solidFill>
                <a:latin typeface="Calibri"/>
              </a:rPr>
              <a:t>GSE185222 · sound tooth</a:t>
            </a:r>
          </a:p>
        </c:rich>
      </c:tx>
      <c:layout/>
      <c:overlay val="0"/>
    </c:title>
    <c:autoTitleDeleted val="0"/>
    <c:plotArea>
      <c:barChart>
        <c:barDir val="bar"/>
        <c:grouping val="clustered"/>
        <c:ser>
          <c:idx val="0"/>
          <c:order val="0"/>
          <c:tx>
            <c:strRef>
              <c:f>Sheet1!$B$1</c:f>
              <c:strCache>
                <c:ptCount val="1"/>
                <c:pt idx="0">
                  <c:v>% WLS⁺</c:v>
                </c:pt>
              </c:strCache>
            </c:strRef>
          </c:tx>
          <c:dPt>
            <c:idx val="0"/>
            <c:spPr>
              <a:solidFill>
                <a:srgbClr val="0E7C7B"/>
              </a:solidFill>
            </c:spPr>
          </c:dPt>
          <c:dPt>
            <c:idx val="1"/>
            <c:spPr>
              <a:solidFill>
                <a:srgbClr val="0E7C7B"/>
              </a:solidFill>
            </c:spPr>
          </c:dPt>
          <c:dPt>
            <c:idx val="2"/>
            <c:spPr>
              <a:solidFill>
                <a:srgbClr val="0E7C7B"/>
              </a:solidFill>
            </c:spPr>
          </c:dPt>
          <c:dPt>
            <c:idx val="3"/>
            <c:spPr>
              <a:solidFill>
                <a:srgbClr val="0E7C7B"/>
              </a:solidFill>
            </c:spPr>
          </c:dPt>
          <c:dPt>
            <c:idx val="4"/>
            <c:spPr>
              <a:solidFill>
                <a:srgbClr val="0E7C7B"/>
              </a:solidFill>
            </c:spPr>
          </c:dPt>
          <c:dPt>
            <c:idx val="5"/>
            <c:spPr>
              <a:solidFill>
                <a:srgbClr val="6A1B3A"/>
              </a:solidFill>
            </c:spPr>
          </c:dPt>
          <c:dPt>
            <c:idx val="6"/>
            <c:spPr>
              <a:solidFill>
                <a:srgbClr val="0E7C7B"/>
              </a:solidFill>
            </c:spPr>
          </c:dPt>
          <c:cat>
            <c:strRef>
              <c:f>Sheet1!$A$2:$A$8</c:f>
              <c:strCache>
                <c:ptCount val="7"/>
                <c:pt idx="0">
                  <c:v>T/NK</c:v>
                </c:pt>
                <c:pt idx="1">
                  <c:v>Odontoblast</c:v>
                </c:pt>
                <c:pt idx="2">
                  <c:v>Endothelial</c:v>
                </c:pt>
                <c:pt idx="3">
                  <c:v>Schwann/glia</c:v>
                </c:pt>
                <c:pt idx="4">
                  <c:v>Myeloid</c:v>
                </c:pt>
                <c:pt idx="5">
                  <c:v>Candidate DPSC</c:v>
                </c:pt>
                <c:pt idx="6">
                  <c:v>Pulp fibroblast</c:v>
                </c:pt>
              </c:strCache>
            </c:strRef>
          </c:cat>
          <c:val>
            <c:numRef>
              <c:f>Sheet1!$B$2:$B$8</c:f>
              <c:numCache>
                <c:formatCode>General</c:formatCode>
                <c:ptCount val="7"/>
                <c:pt idx="0">
                  <c:v>0.0</c:v>
                </c:pt>
                <c:pt idx="1">
                  <c:v>5.6</c:v>
                </c:pt>
                <c:pt idx="2">
                  <c:v>7.5</c:v>
                </c:pt>
                <c:pt idx="3">
                  <c:v>12.8</c:v>
                </c:pt>
                <c:pt idx="4">
                  <c:v>14.7</c:v>
                </c:pt>
                <c:pt idx="5">
                  <c:v>14.8</c:v>
                </c:pt>
                <c:pt idx="6">
                  <c:v>24.6</c:v>
                </c:pt>
              </c:numCache>
            </c:numRef>
          </c:val>
        </c:ser>
        <c:dLbls>
          <c:numFmt formatCode="0.0&quot;%&quot;" sourceLinked="0"/>
          <c:txPr>
            <a:bodyPr/>
            <a:lstStyle/>
            <a:p>
              <a:pPr>
                <a:defRPr sz="1000">
                  <a:solidFill>
                    <a:srgbClr val="1F2A33"/>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5DBDF"/>
            </a:solidFill>
          </a:ln>
        </c:spPr>
        <c:txPr>
          <a:bodyPr/>
          <a:lstStyle/>
          <a:p>
            <a:pPr>
              <a:defRPr sz="1000">
                <a:solidFill>
                  <a:srgbClr val="1F2A33"/>
                </a:solidFill>
                <a:latin typeface="Calibri"/>
              </a:defRPr>
            </a:pPr>
          </a:p>
        </c:txPr>
        <c:crossAx val="-2113994440"/>
        <c:crosses val="autoZero"/>
        <c:auto val="1"/>
        <c:lblAlgn val="ctr"/>
        <c:lblOffset val="100"/>
        <c:noMultiLvlLbl val="0"/>
      </c:catAx>
      <c:valAx>
        <c:axId val="-2113994440"/>
        <c:scaling>
          <c:max val="31.980000000000004"/>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F2A33"/>
                </a:solidFill>
                <a:latin typeface="Calibri"/>
              </a:rPr>
              <a:t>GSE227731 · stem cells</a:t>
            </a:r>
          </a:p>
        </c:rich>
      </c:tx>
      <c:layout/>
      <c:overlay val="0"/>
    </c:title>
    <c:autoTitleDeleted val="0"/>
    <c:plotArea>
      <c:barChart>
        <c:barDir val="bar"/>
        <c:grouping val="clustered"/>
        <c:ser>
          <c:idx val="0"/>
          <c:order val="0"/>
          <c:tx>
            <c:strRef>
              <c:f>Sheet1!$B$1</c:f>
              <c:strCache>
                <c:ptCount val="1"/>
                <c:pt idx="0">
                  <c:v>% WLS⁺</c:v>
                </c:pt>
              </c:strCache>
            </c:strRef>
          </c:tx>
          <c:dPt>
            <c:idx val="0"/>
            <c:spPr>
              <a:solidFill>
                <a:srgbClr val="6A1B3A"/>
              </a:solidFill>
            </c:spPr>
          </c:dPt>
          <c:dPt>
            <c:idx val="1"/>
            <c:spPr>
              <a:solidFill>
                <a:srgbClr val="0E7C7B"/>
              </a:solidFill>
            </c:spPr>
          </c:dPt>
          <c:cat>
            <c:strRef>
              <c:f>Sheet1!$A$2:$A$3</c:f>
              <c:strCache>
                <c:ptCount val="2"/>
                <c:pt idx="0">
                  <c:v>DPSC</c:v>
                </c:pt>
                <c:pt idx="1">
                  <c:v>PDLSC</c:v>
                </c:pt>
              </c:strCache>
            </c:strRef>
          </c:cat>
          <c:val>
            <c:numRef>
              <c:f>Sheet1!$B$2:$B$3</c:f>
              <c:numCache>
                <c:formatCode>General</c:formatCode>
                <c:ptCount val="2"/>
                <c:pt idx="0">
                  <c:v>69.5</c:v>
                </c:pt>
                <c:pt idx="1">
                  <c:v>83.7</c:v>
                </c:pt>
              </c:numCache>
            </c:numRef>
          </c:val>
        </c:ser>
        <c:dLbls>
          <c:numFmt formatCode="0.0&quot;%&quot;" sourceLinked="0"/>
          <c:txPr>
            <a:bodyPr/>
            <a:lstStyle/>
            <a:p>
              <a:pPr>
                <a:defRPr sz="1000">
                  <a:solidFill>
                    <a:srgbClr val="1F2A33"/>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5DBDF"/>
            </a:solidFill>
          </a:ln>
        </c:spPr>
        <c:txPr>
          <a:bodyPr/>
          <a:lstStyle/>
          <a:p>
            <a:pPr>
              <a:defRPr sz="1000">
                <a:solidFill>
                  <a:srgbClr val="1F2A33"/>
                </a:solidFill>
                <a:latin typeface="Calibri"/>
              </a:defRPr>
            </a:pPr>
          </a:p>
        </c:txPr>
        <c:crossAx val="-2113994440"/>
        <c:crosses val="autoZero"/>
        <c:auto val="1"/>
        <c:lblAlgn val="ctr"/>
        <c:lblOffset val="100"/>
        <c:noMultiLvlLbl val="0"/>
      </c:catAx>
      <c:valAx>
        <c:axId val="-2113994440"/>
        <c:scaling>
          <c:max val="108.81"/>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Every slide ends with a source line naming the dataset, the script that produced the result and the results file it came from, so any number can be traced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 H1 (WLS expressed) is supported; H2 (WLS enriched in DPSCs) is not. The comparison with fibroblasts is a donor-paired pseudobulk test, so the five donors are the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pulp samples from GSE164157 in 10x Cell Ranger format. Singlet counts are after QC and doublet removal. Clinical details of the teeth are not in the processed files; the original GSE164157 publication should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order is shown left to right. Each script reads the previous stage output from data/processed and writes figures, CSV tables and sessionInfo.txt to its results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856 cells (3.3%) failed QC; 1,703 doublets (6.8%) were removed, run per donor because doublets form only within one 10x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Harmony the mesenchymal clusters draw cells evenly from all donors, so the DPSC comparison is not driven by one donor. Figure: results/06a_batch/07_UMAP_after_harmony.png.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bars are mesenchymal lineages. UMAP figure: results/06_annotation/03_UMAP_cell_types.png. Marker dot plot: results/06_annotation/01_DotPlot_lineage_markers.png.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 DPSCs = mesenchymal sub-clusters with a positive mean stem score. Figure: results/06_annotation/04_mesenchyme_DPSC_score.png.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with at least 20 cells per donor. Figures: results/07_WLS/01_UMAP_WLS_and_groups.png and 05_WLS_pct_per_donor.png.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 higher in candidate DPSCs. Lower than fibroblasts and myeloid cells, higher than endothelial, equal to the pulp average. The mixed-model p-value is overly small because it treats cells as observations; use the pseudobulk FDRs for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adjusting for genes detected per cell, the association is gone everywhere except Schwann/glia (OR 1.80, 95% CI 1.18–2.73, p = 0.006). Fibroblasts express WNT5A/WNT5B; candidate DPSCs mainly WNT6.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C selects the best-sequenced cells, which favours WLS detection, so it is least likely to show a deficit. Figure: results/07b_sensitivity/01_sensitivity_log2FC.png.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UMIs per candidate DPSC: Pulp3 656, Pulp2 1,723, Pulp4 2,338, Pulp5 2,485, Pulp1 3,228.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WLS is present in DPSCs but they are not a specialised WLS-high population in uninjured adult pulp.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the four questions; the answers decide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of the GSE164157 result in GSE202476, GSE185222 (sound tooth) and GSE227731 (DPSC vs PDLSC), with the same QC, marker panels and DPSC definition A as 06_annotation.R. The answer is unchanged: WLS is present in DPSCs but they are not a WLS-high population.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row within its dataset. Percentages of WLS-positive cells differ between datasets because of sequencing depth, chemistry and culture, so only the DPSC-vs-comparison direction is comparable. Only GSE164157 has donor-level replication; the other three are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GSE185222 is the sound tooth only (887 cells; odontoblasts n = 18). In GSE227731 the main DPSC sub-clusters are 64–80% WLS-positive; one sub-cluster (187 cells) is WLS-low at 14%. T/NK cells are essentially WLS-negative in every dataset.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large WLS-positive mass on the right is the fibroblasts; the perivascular island (candidate DPSCs) shows sparser signal. Middle: sound tooth only. Right: cultured DPSCs and PDLSCs together; WLS is broad.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across four datasets, WLS is present in DPSCs at or below the level of surrounding cells. GSE227731 comes from the Kantarci lab at ADA Forsyth, so culture conditions and donor numbers can be confirmed directly.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chart" Target="../charts/char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A1B3A"/>
        </a:solidFill>
      </p:bgPr>
    </p:bg>
    <p:spTree>
      <p:nvGrpSpPr>
        <p:cNvPr id="1" name=""/>
        <p:cNvGrpSpPr/>
        <p:nvPr/>
      </p:nvGrpSpPr>
      <p:grpSpPr>
        <a:xfrm>
          <a:off x="0" y="0"/>
          <a:ext cx="0" cy="0"/>
          <a:chOff x="0" y="0"/>
          <a:chExt cx="0" cy="0"/>
        </a:xfrm>
      </p:grpSpPr>
      <p:sp>
        <p:nvSpPr>
          <p:cNvPr id="2" name="Shape 0"/>
          <p:cNvSpPr/>
          <p:nvPr/>
        </p:nvSpPr>
        <p:spPr>
          <a:xfrm>
            <a:off x="6309360" y="822960"/>
            <a:ext cx="3291840" cy="3291840"/>
          </a:xfrm>
          <a:prstGeom prst="ellipse">
            <a:avLst/>
          </a:prstGeom>
          <a:solidFill>
            <a:srgbClr val="B03A5B">
              <a:alpha val="45000"/>
            </a:srgbClr>
          </a:solidFill>
          <a:ln w="12700">
            <a:solidFill>
              <a:srgbClr val="B03A5B">
                <a:alpha val="45000"/>
              </a:srgbClr>
            </a:solidFill>
            <a:prstDash val="solid"/>
          </a:ln>
        </p:spPr>
      </p:sp>
      <p:sp>
        <p:nvSpPr>
          <p:cNvPr id="3" name="Shape 1"/>
          <p:cNvSpPr/>
          <p:nvPr/>
        </p:nvSpPr>
        <p:spPr>
          <a:xfrm>
            <a:off x="7223760" y="2011680"/>
            <a:ext cx="1737360" cy="1737360"/>
          </a:xfrm>
          <a:prstGeom prst="ellipse">
            <a:avLst/>
          </a:prstGeom>
          <a:solidFill>
            <a:srgbClr val="F3DDE6">
              <a:alpha val="30000"/>
            </a:srgbClr>
          </a:solidFill>
          <a:ln w="12700">
            <a:solidFill>
              <a:srgbClr val="F3DDE6">
                <a:alpha val="30000"/>
              </a:srgbClr>
            </a:solidFill>
            <a:prstDash val="solid"/>
          </a:ln>
        </p:spPr>
      </p:sp>
      <p:sp>
        <p:nvSpPr>
          <p:cNvPr id="4" name="Text 2"/>
          <p:cNvSpPr txBox="1"/>
          <p:nvPr/>
        </p:nvSpPr>
        <p:spPr>
          <a:xfrm>
            <a:off x="457200" y="914400"/>
            <a:ext cx="603504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WLS (GPR177/Wntless) in Human Dental Pulp Stem Cells</a:t>
            </a:r>
            <a:endParaRPr lang="en-US" sz="3400" dirty="0"/>
          </a:p>
        </p:txBody>
      </p:sp>
      <p:sp>
        <p:nvSpPr>
          <p:cNvPr id="5" name="Text 3"/>
          <p:cNvSpPr txBox="1"/>
          <p:nvPr/>
        </p:nvSpPr>
        <p:spPr>
          <a:xfrm>
            <a:off x="457200" y="2468880"/>
            <a:ext cx="5943600" cy="411480"/>
          </a:xfrm>
          <a:prstGeom prst="rect">
            <a:avLst/>
          </a:prstGeom>
          <a:noFill/>
          <a:ln/>
        </p:spPr>
        <p:txBody>
          <a:bodyPr wrap="square" lIns="0" tIns="0" rIns="0" bIns="0" rtlCol="0" anchor="ctr"/>
          <a:lstStyle/>
          <a:p>
            <a:pPr indent="0" marL="0">
              <a:buNone/>
            </a:pPr>
            <a:r>
              <a:rPr lang="en-US" sz="1700" i="1" dirty="0">
                <a:solidFill>
                  <a:srgbClr val="F3DDE6"/>
                </a:solidFill>
                <a:latin typeface="Calibri" pitchFamily="34" charset="0"/>
                <a:ea typeface="Calibri" pitchFamily="34" charset="-122"/>
                <a:cs typeface="Calibri" pitchFamily="34" charset="-120"/>
              </a:rPr>
              <a:t>A donor-aware single-cell analysis of GSE164157</a:t>
            </a:r>
            <a:endParaRPr lang="en-US" sz="1700" dirty="0"/>
          </a:p>
        </p:txBody>
      </p:sp>
      <p:sp>
        <p:nvSpPr>
          <p:cNvPr id="6" name="Text 4"/>
          <p:cNvSpPr txBox="1"/>
          <p:nvPr/>
        </p:nvSpPr>
        <p:spPr>
          <a:xfrm>
            <a:off x="457200" y="3154680"/>
            <a:ext cx="594360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Md Tariqul Islam</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Laboratory of Professor Wei Hsu, The ADA Forsyth Institute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October 2026</a:t>
            </a:r>
            <a:endParaRPr lang="en-US" sz="1300" dirty="0"/>
          </a:p>
        </p:txBody>
      </p:sp>
      <p:sp>
        <p:nvSpPr>
          <p:cNvPr id="7" name="Shape 5"/>
          <p:cNvSpPr/>
          <p:nvPr/>
        </p:nvSpPr>
        <p:spPr>
          <a:xfrm>
            <a:off x="457200" y="4645152"/>
            <a:ext cx="8229600" cy="310896"/>
          </a:xfrm>
          <a:prstGeom prst="roundRect">
            <a:avLst>
              <a:gd name="adj" fmla="val 23529"/>
            </a:avLst>
          </a:prstGeom>
          <a:solidFill>
            <a:srgbClr val="4A1328"/>
          </a:solidFill>
          <a:ln w="12700">
            <a:solidFill>
              <a:srgbClr val="4A1328"/>
            </a:solidFill>
            <a:prstDash val="solid"/>
          </a:ln>
        </p:spPr>
      </p:sp>
      <p:sp>
        <p:nvSpPr>
          <p:cNvPr id="8" name="Text 6"/>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F3DDE6"/>
                </a:solidFill>
                <a:latin typeface="Calibri" pitchFamily="34" charset="0"/>
                <a:ea typeface="Calibri" pitchFamily="34" charset="-122"/>
                <a:cs typeface="Calibri" pitchFamily="34" charset="-120"/>
              </a:rPr>
              <a:t>Data: GEO GSE164157 (5 donors, 10x Genomics)  |  Code: github.com/mtariqi/dpsc-wls-human-scRNAseq</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The answer up front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Is WLS expressed, and enriched, in human DPSCs?</a:t>
            </a:r>
            <a:endParaRPr lang="en-US" sz="1300" dirty="0"/>
          </a:p>
        </p:txBody>
      </p:sp>
      <p:sp>
        <p:nvSpPr>
          <p:cNvPr id="4" name="Text 2"/>
          <p:cNvSpPr txBox="1"/>
          <p:nvPr/>
        </p:nvSpPr>
        <p:spPr>
          <a:xfrm>
            <a:off x="457200" y="1280160"/>
            <a:ext cx="8229600" cy="548640"/>
          </a:xfrm>
          <a:prstGeom prst="rect">
            <a:avLst/>
          </a:prstGeom>
          <a:noFill/>
          <a:ln/>
        </p:spPr>
        <p:txBody>
          <a:bodyPr wrap="square" lIns="0" tIns="0" rIns="0" bIns="0" rtlCol="0" anchor="ctr"/>
          <a:lstStyle/>
          <a:p>
            <a:pPr indent="0" marL="0">
              <a:buNone/>
            </a:pPr>
            <a:r>
              <a:rPr lang="en-US" sz="1800" b="1" dirty="0">
                <a:solidFill>
                  <a:srgbClr val="1F2A33"/>
                </a:solidFill>
                <a:latin typeface="Cambria" pitchFamily="34" charset="0"/>
                <a:ea typeface="Cambria" pitchFamily="34" charset="-122"/>
                <a:cs typeface="Cambria" pitchFamily="34" charset="-120"/>
              </a:rPr>
              <a:t>WLS is expressed in candidate DPSCs in every donor, but it is not enriched in them.</a:t>
            </a:r>
            <a:endParaRPr lang="en-US" sz="1800" dirty="0"/>
          </a:p>
        </p:txBody>
      </p:sp>
      <p:sp>
        <p:nvSpPr>
          <p:cNvPr id="5" name="Shape 3"/>
          <p:cNvSpPr/>
          <p:nvPr/>
        </p:nvSpPr>
        <p:spPr>
          <a:xfrm>
            <a:off x="457200" y="2057400"/>
            <a:ext cx="2606040" cy="2286000"/>
          </a:xfrm>
          <a:prstGeom prst="roundRect">
            <a:avLst>
              <a:gd name="adj" fmla="val 4800"/>
            </a:avLst>
          </a:prstGeom>
          <a:solidFill>
            <a:srgbClr val="F4F6F7"/>
          </a:solidFill>
          <a:ln w="12700">
            <a:solidFill>
              <a:srgbClr val="F4F6F7"/>
            </a:solidFill>
            <a:prstDash val="solid"/>
          </a:ln>
        </p:spPr>
      </p:sp>
      <p:sp>
        <p:nvSpPr>
          <p:cNvPr id="6" name="Text 4"/>
          <p:cNvSpPr txBox="1"/>
          <p:nvPr/>
        </p:nvSpPr>
        <p:spPr>
          <a:xfrm>
            <a:off x="640080" y="2240280"/>
            <a:ext cx="2240280" cy="914400"/>
          </a:xfrm>
          <a:prstGeom prst="rect">
            <a:avLst/>
          </a:prstGeom>
          <a:noFill/>
          <a:ln/>
        </p:spPr>
        <p:txBody>
          <a:bodyPr wrap="square" lIns="0" tIns="0" rIns="0" bIns="0" rtlCol="0" anchor="ctr"/>
          <a:lstStyle/>
          <a:p>
            <a:pPr indent="0" marL="0">
              <a:buNone/>
            </a:pPr>
            <a:r>
              <a:rPr lang="en-US" sz="4400" b="1" dirty="0">
                <a:solidFill>
                  <a:srgbClr val="0E7C7B"/>
                </a:solidFill>
                <a:latin typeface="Cambria" pitchFamily="34" charset="0"/>
                <a:ea typeface="Cambria" pitchFamily="34" charset="-122"/>
                <a:cs typeface="Cambria" pitchFamily="34" charset="-120"/>
              </a:rPr>
              <a:t>11.1%</a:t>
            </a:r>
            <a:endParaRPr lang="en-US" sz="4400" dirty="0"/>
          </a:p>
        </p:txBody>
      </p:sp>
      <p:sp>
        <p:nvSpPr>
          <p:cNvPr id="7" name="Text 5"/>
          <p:cNvSpPr txBox="1"/>
          <p:nvPr/>
        </p:nvSpPr>
        <p:spPr>
          <a:xfrm>
            <a:off x="640080" y="3200400"/>
            <a:ext cx="2240280" cy="91440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median WLS⁺ candidate DPSCs per donor (all 5 donors)</a:t>
            </a:r>
            <a:endParaRPr lang="en-US" sz="1300" dirty="0"/>
          </a:p>
        </p:txBody>
      </p:sp>
      <p:sp>
        <p:nvSpPr>
          <p:cNvPr id="8" name="Shape 6"/>
          <p:cNvSpPr/>
          <p:nvPr/>
        </p:nvSpPr>
        <p:spPr>
          <a:xfrm>
            <a:off x="3246120" y="2057400"/>
            <a:ext cx="2606040" cy="2286000"/>
          </a:xfrm>
          <a:prstGeom prst="roundRect">
            <a:avLst>
              <a:gd name="adj" fmla="val 4800"/>
            </a:avLst>
          </a:prstGeom>
          <a:solidFill>
            <a:srgbClr val="F4F6F7"/>
          </a:solidFill>
          <a:ln w="12700">
            <a:solidFill>
              <a:srgbClr val="F4F6F7"/>
            </a:solidFill>
            <a:prstDash val="solid"/>
          </a:ln>
        </p:spPr>
      </p:sp>
      <p:sp>
        <p:nvSpPr>
          <p:cNvPr id="9" name="Text 7"/>
          <p:cNvSpPr txBox="1"/>
          <p:nvPr/>
        </p:nvSpPr>
        <p:spPr>
          <a:xfrm>
            <a:off x="3429000" y="2240280"/>
            <a:ext cx="2240280" cy="914400"/>
          </a:xfrm>
          <a:prstGeom prst="rect">
            <a:avLst/>
          </a:prstGeom>
          <a:noFill/>
          <a:ln/>
        </p:spPr>
        <p:txBody>
          <a:bodyPr wrap="square" lIns="0" tIns="0" rIns="0" bIns="0" rtlCol="0" anchor="ctr"/>
          <a:lstStyle/>
          <a:p>
            <a:pPr indent="0" marL="0">
              <a:buNone/>
            </a:pPr>
            <a:r>
              <a:rPr lang="en-US" sz="4400" b="1" dirty="0">
                <a:solidFill>
                  <a:srgbClr val="B03A5B"/>
                </a:solidFill>
                <a:latin typeface="Cambria" pitchFamily="34" charset="0"/>
                <a:ea typeface="Cambria" pitchFamily="34" charset="-122"/>
                <a:cs typeface="Cambria" pitchFamily="34" charset="-120"/>
              </a:rPr>
              <a:t>1.9×</a:t>
            </a:r>
            <a:endParaRPr lang="en-US" sz="4400" dirty="0"/>
          </a:p>
        </p:txBody>
      </p:sp>
      <p:sp>
        <p:nvSpPr>
          <p:cNvPr id="10" name="Text 8"/>
          <p:cNvSpPr txBox="1"/>
          <p:nvPr/>
        </p:nvSpPr>
        <p:spPr>
          <a:xfrm>
            <a:off x="3429000" y="3200400"/>
            <a:ext cx="2240280" cy="91440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lower than pulp fibroblasts (pseudobulk FDR 0.0014)</a:t>
            </a:r>
            <a:endParaRPr lang="en-US" sz="1300" dirty="0"/>
          </a:p>
        </p:txBody>
      </p:sp>
      <p:sp>
        <p:nvSpPr>
          <p:cNvPr id="11" name="Shape 9"/>
          <p:cNvSpPr/>
          <p:nvPr/>
        </p:nvSpPr>
        <p:spPr>
          <a:xfrm>
            <a:off x="6035040" y="2057400"/>
            <a:ext cx="2606040" cy="2286000"/>
          </a:xfrm>
          <a:prstGeom prst="roundRect">
            <a:avLst>
              <a:gd name="adj" fmla="val 4800"/>
            </a:avLst>
          </a:prstGeom>
          <a:solidFill>
            <a:srgbClr val="F4F6F7"/>
          </a:solidFill>
          <a:ln w="12700">
            <a:solidFill>
              <a:srgbClr val="F4F6F7"/>
            </a:solidFill>
            <a:prstDash val="solid"/>
          </a:ln>
        </p:spPr>
      </p:sp>
      <p:sp>
        <p:nvSpPr>
          <p:cNvPr id="12" name="Text 10"/>
          <p:cNvSpPr txBox="1"/>
          <p:nvPr/>
        </p:nvSpPr>
        <p:spPr>
          <a:xfrm>
            <a:off x="6217920" y="2240280"/>
            <a:ext cx="2240280" cy="914400"/>
          </a:xfrm>
          <a:prstGeom prst="rect">
            <a:avLst/>
          </a:prstGeom>
          <a:noFill/>
          <a:ln/>
        </p:spPr>
        <p:txBody>
          <a:bodyPr wrap="square" lIns="0" tIns="0" rIns="0" bIns="0" rtlCol="0" anchor="ctr"/>
          <a:lstStyle/>
          <a:p>
            <a:pPr indent="0" marL="0">
              <a:buNone/>
            </a:pPr>
            <a:r>
              <a:rPr lang="en-US" sz="4400" b="1" dirty="0">
                <a:solidFill>
                  <a:srgbClr val="C48A2C"/>
                </a:solidFill>
                <a:latin typeface="Cambria" pitchFamily="34" charset="0"/>
                <a:ea typeface="Cambria" pitchFamily="34" charset="-122"/>
                <a:cs typeface="Cambria" pitchFamily="34" charset="-120"/>
              </a:rPr>
              <a:t>0 of 4</a:t>
            </a:r>
            <a:endParaRPr lang="en-US" sz="4400" dirty="0"/>
          </a:p>
        </p:txBody>
      </p:sp>
      <p:sp>
        <p:nvSpPr>
          <p:cNvPr id="13" name="Text 11"/>
          <p:cNvSpPr txBox="1"/>
          <p:nvPr/>
        </p:nvSpPr>
        <p:spPr>
          <a:xfrm>
            <a:off x="6217920" y="3200400"/>
            <a:ext cx="2240280" cy="91440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DPSC definitions in which WLS was higher</a:t>
            </a:r>
            <a:endParaRPr lang="en-US" sz="1300" dirty="0"/>
          </a:p>
        </p:txBody>
      </p:sp>
      <p:sp>
        <p:nvSpPr>
          <p:cNvPr id="14" name="Shape 12"/>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15" name="Text 13"/>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Tables: results/07_WLS/WLS_summary_by_group.csv  |  results/07_WLS/WLS_pseudobulk_edgeR_tests.csv  |  results/07b_sensitivity/WLS_sensitivity_by_definition.csv</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Data and study design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Secondary analysis of a public human dental pulp atlas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3931920" cy="914400"/>
        </p:xfrm>
        <a:graphic>
          <a:graphicData uri="http://schemas.openxmlformats.org/drawingml/2006/table">
            <a:tbl>
              <a:tblPr/>
              <a:tblGrid>
                <a:gridCol w="1554480"/>
                <a:gridCol w="1097280"/>
                <a:gridCol w="128016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GEO sample</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Donor</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Singlets</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r>
              <a:tr h="329184">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GSM4998457</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Pulp1</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4,775</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29184">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GSM4998458</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Pulp2</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5,406</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29184">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GSM4998459</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Pulp3</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5,395</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29184">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GSM4998460</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Pulp4</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3,717</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29184">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GSM4998461</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Pulp5</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dirty="0">
                          <a:solidFill>
                            <a:srgbClr val="1F2A33"/>
                          </a:solidFill>
                          <a:latin typeface="Calibri" pitchFamily="34" charset="0"/>
                          <a:ea typeface="Calibri" pitchFamily="34" charset="-122"/>
                          <a:cs typeface="Calibri" pitchFamily="34" charset="-120"/>
                        </a:rPr>
                        <a:t>4,034</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29184">
                <a:tc>
                  <a:txBody>
                    <a:bodyPr/>
                    <a:lstStyle/>
                    <a:p>
                      <a:pPr algn="l" indent="0" marL="0">
                        <a:buNone/>
                      </a:pPr>
                      <a:r>
                        <a:rPr lang="en-US" sz="1200" b="1" dirty="0">
                          <a:solidFill>
                            <a:srgbClr val="1F2A33"/>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1200" b="1" dirty="0">
                          <a:solidFill>
                            <a:srgbClr val="1F2A33"/>
                          </a:solidFill>
                          <a:latin typeface="Calibri" pitchFamily="34" charset="0"/>
                          <a:ea typeface="Calibri" pitchFamily="34" charset="-122"/>
                          <a:cs typeface="Calibri" pitchFamily="34" charset="-120"/>
                        </a:rPr>
                        <a:t>23,327</a:t>
                      </a:r>
                      <a:endParaRPr lang="en-US" sz="12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5" name="Shape 2"/>
          <p:cNvSpPr/>
          <p:nvPr/>
        </p:nvSpPr>
        <p:spPr>
          <a:xfrm>
            <a:off x="4754880" y="1371600"/>
            <a:ext cx="457200" cy="457200"/>
          </a:xfrm>
          <a:prstGeom prst="ellipse">
            <a:avLst/>
          </a:prstGeom>
          <a:solidFill>
            <a:srgbClr val="0E7C7B"/>
          </a:solidFill>
          <a:ln w="12700">
            <a:solidFill>
              <a:srgbClr val="0E7C7B"/>
            </a:solidFill>
            <a:prstDash val="solid"/>
          </a:ln>
        </p:spPr>
      </p:sp>
      <p:sp>
        <p:nvSpPr>
          <p:cNvPr id="6" name="Text 3"/>
          <p:cNvSpPr txBox="1"/>
          <p:nvPr/>
        </p:nvSpPr>
        <p:spPr>
          <a:xfrm>
            <a:off x="475488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5394960" y="1325880"/>
            <a:ext cx="3291840" cy="320040"/>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Tissue, not culture</a:t>
            </a:r>
            <a:endParaRPr lang="en-US" sz="1400" dirty="0"/>
          </a:p>
        </p:txBody>
      </p:sp>
      <p:sp>
        <p:nvSpPr>
          <p:cNvPr id="8" name="Text 5"/>
          <p:cNvSpPr txBox="1"/>
          <p:nvPr/>
        </p:nvSpPr>
        <p:spPr>
          <a:xfrm>
            <a:off x="5394960" y="1645920"/>
            <a:ext cx="3291840" cy="594360"/>
          </a:xfrm>
          <a:prstGeom prst="rect">
            <a:avLst/>
          </a:prstGeom>
          <a:noFill/>
          <a:ln/>
        </p:spPr>
        <p:txBody>
          <a:bodyPr wrap="square" lIns="0" tIns="0" rIns="0" bIns="0" rtlCol="0" anchor="t"/>
          <a:lstStyle/>
          <a:p>
            <a:pPr indent="0" marL="0">
              <a:buNone/>
            </a:pPr>
            <a:r>
              <a:rPr lang="en-US" sz="1200" dirty="0">
                <a:solidFill>
                  <a:srgbClr val="55606B"/>
                </a:solidFill>
                <a:latin typeface="Calibri" pitchFamily="34" charset="0"/>
                <a:ea typeface="Calibri" pitchFamily="34" charset="-122"/>
                <a:cs typeface="Calibri" pitchFamily="34" charset="-120"/>
              </a:rPr>
              <a:t>Freshly dissociated pulp cells; DPSCs defined by marker combinations</a:t>
            </a:r>
            <a:endParaRPr lang="en-US" sz="1200" dirty="0"/>
          </a:p>
        </p:txBody>
      </p:sp>
      <p:sp>
        <p:nvSpPr>
          <p:cNvPr id="9" name="Shape 6"/>
          <p:cNvSpPr/>
          <p:nvPr/>
        </p:nvSpPr>
        <p:spPr>
          <a:xfrm>
            <a:off x="4754880" y="2395728"/>
            <a:ext cx="457200" cy="457200"/>
          </a:xfrm>
          <a:prstGeom prst="ellipse">
            <a:avLst/>
          </a:prstGeom>
          <a:solidFill>
            <a:srgbClr val="0E7C7B"/>
          </a:solidFill>
          <a:ln w="12700">
            <a:solidFill>
              <a:srgbClr val="0E7C7B"/>
            </a:solidFill>
            <a:prstDash val="solid"/>
          </a:ln>
        </p:spPr>
      </p:sp>
      <p:sp>
        <p:nvSpPr>
          <p:cNvPr id="10" name="Text 7"/>
          <p:cNvSpPr txBox="1"/>
          <p:nvPr/>
        </p:nvSpPr>
        <p:spPr>
          <a:xfrm>
            <a:off x="4754880" y="23957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5394960" y="2350008"/>
            <a:ext cx="3291840" cy="320040"/>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Donors as replicates</a:t>
            </a:r>
            <a:endParaRPr lang="en-US" sz="1400" dirty="0"/>
          </a:p>
        </p:txBody>
      </p:sp>
      <p:sp>
        <p:nvSpPr>
          <p:cNvPr id="12" name="Text 9"/>
          <p:cNvSpPr txBox="1"/>
          <p:nvPr/>
        </p:nvSpPr>
        <p:spPr>
          <a:xfrm>
            <a:off x="5394960" y="2670048"/>
            <a:ext cx="3291840" cy="594360"/>
          </a:xfrm>
          <a:prstGeom prst="rect">
            <a:avLst/>
          </a:prstGeom>
          <a:noFill/>
          <a:ln/>
        </p:spPr>
        <p:txBody>
          <a:bodyPr wrap="square" lIns="0" tIns="0" rIns="0" bIns="0" rtlCol="0" anchor="t"/>
          <a:lstStyle/>
          <a:p>
            <a:pPr indent="0" marL="0">
              <a:buNone/>
            </a:pPr>
            <a:r>
              <a:rPr lang="en-US" sz="1200" dirty="0">
                <a:solidFill>
                  <a:srgbClr val="55606B"/>
                </a:solidFill>
                <a:latin typeface="Calibri" pitchFamily="34" charset="0"/>
                <a:ea typeface="Calibri" pitchFamily="34" charset="-122"/>
                <a:cs typeface="Calibri" pitchFamily="34" charset="-120"/>
              </a:rPr>
              <a:t>All inference by donor-paired pseudobulk; cell-level tests exploratory only</a:t>
            </a:r>
            <a:endParaRPr lang="en-US" sz="1200" dirty="0"/>
          </a:p>
        </p:txBody>
      </p:sp>
      <p:sp>
        <p:nvSpPr>
          <p:cNvPr id="13" name="Shape 10"/>
          <p:cNvSpPr/>
          <p:nvPr/>
        </p:nvSpPr>
        <p:spPr>
          <a:xfrm>
            <a:off x="4754880" y="3419856"/>
            <a:ext cx="457200" cy="457200"/>
          </a:xfrm>
          <a:prstGeom prst="ellipse">
            <a:avLst/>
          </a:prstGeom>
          <a:solidFill>
            <a:srgbClr val="0E7C7B"/>
          </a:solidFill>
          <a:ln w="12700">
            <a:solidFill>
              <a:srgbClr val="0E7C7B"/>
            </a:solidFill>
            <a:prstDash val="solid"/>
          </a:ln>
        </p:spPr>
      </p:sp>
      <p:sp>
        <p:nvSpPr>
          <p:cNvPr id="14" name="Text 11"/>
          <p:cNvSpPr txBox="1"/>
          <p:nvPr/>
        </p:nvSpPr>
        <p:spPr>
          <a:xfrm>
            <a:off x="4754880" y="34198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5394960" y="3374136"/>
            <a:ext cx="3291840" cy="320040"/>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Robustness built in</a:t>
            </a:r>
            <a:endParaRPr lang="en-US" sz="1400" dirty="0"/>
          </a:p>
        </p:txBody>
      </p:sp>
      <p:sp>
        <p:nvSpPr>
          <p:cNvPr id="16" name="Text 13"/>
          <p:cNvSpPr txBox="1"/>
          <p:nvPr/>
        </p:nvSpPr>
        <p:spPr>
          <a:xfrm>
            <a:off x="5394960" y="3694176"/>
            <a:ext cx="3291840" cy="594360"/>
          </a:xfrm>
          <a:prstGeom prst="rect">
            <a:avLst/>
          </a:prstGeom>
          <a:noFill/>
          <a:ln/>
        </p:spPr>
        <p:txBody>
          <a:bodyPr wrap="square" lIns="0" tIns="0" rIns="0" bIns="0" rtlCol="0" anchor="t"/>
          <a:lstStyle/>
          <a:p>
            <a:pPr indent="0" marL="0">
              <a:buNone/>
            </a:pPr>
            <a:r>
              <a:rPr lang="en-US" sz="1200" dirty="0">
                <a:solidFill>
                  <a:srgbClr val="55606B"/>
                </a:solidFill>
                <a:latin typeface="Calibri" pitchFamily="34" charset="0"/>
                <a:ea typeface="Calibri" pitchFamily="34" charset="-122"/>
                <a:cs typeface="Calibri" pitchFamily="34" charset="-120"/>
              </a:rPr>
              <a:t>Four DPSC definitions and depth-adjusted models</a:t>
            </a:r>
            <a:endParaRPr lang="en-US" sz="1200" dirty="0"/>
          </a:p>
        </p:txBody>
      </p:sp>
      <p:sp>
        <p:nvSpPr>
          <p:cNvPr id="17" name="Shape 14"/>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18" name="Text 15"/>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Data: GEO GSE164157  |  Scripts: scripts/02_download_GEO.R (GEOquery), scripts/04_QC.R  |  Table: results/06a_batch/doublets_by_sample.csv</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Reproducible pipeline</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Each stage is one script; outputs go to a numbered results folder</a:t>
            </a:r>
            <a:endParaRPr lang="en-US" sz="1300" dirty="0"/>
          </a:p>
        </p:txBody>
      </p:sp>
      <p:sp>
        <p:nvSpPr>
          <p:cNvPr id="4" name="Shape 2"/>
          <p:cNvSpPr/>
          <p:nvPr/>
        </p:nvSpPr>
        <p:spPr>
          <a:xfrm>
            <a:off x="457200" y="1417320"/>
            <a:ext cx="1234440" cy="1645920"/>
          </a:xfrm>
          <a:prstGeom prst="roundRect">
            <a:avLst>
              <a:gd name="adj" fmla="val 7407"/>
            </a:avLst>
          </a:prstGeom>
          <a:solidFill>
            <a:srgbClr val="6A1B3A"/>
          </a:solidFill>
          <a:ln w="12700">
            <a:solidFill>
              <a:srgbClr val="6A1B3A"/>
            </a:solidFill>
            <a:prstDash val="solid"/>
          </a:ln>
        </p:spPr>
      </p:sp>
      <p:sp>
        <p:nvSpPr>
          <p:cNvPr id="5" name="Text 3"/>
          <p:cNvSpPr txBox="1"/>
          <p:nvPr/>
        </p:nvSpPr>
        <p:spPr>
          <a:xfrm>
            <a:off x="530352" y="1554480"/>
            <a:ext cx="108813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QC</a:t>
            </a:r>
            <a:endParaRPr lang="en-US" sz="1300" dirty="0"/>
          </a:p>
        </p:txBody>
      </p:sp>
      <p:sp>
        <p:nvSpPr>
          <p:cNvPr id="6" name="Text 4"/>
          <p:cNvSpPr txBox="1"/>
          <p:nvPr/>
        </p:nvSpPr>
        <p:spPr>
          <a:xfrm>
            <a:off x="502920" y="2468880"/>
            <a:ext cx="1143000" cy="457200"/>
          </a:xfrm>
          <a:prstGeom prst="rect">
            <a:avLst/>
          </a:prstGeom>
          <a:noFill/>
          <a:ln/>
        </p:spPr>
        <p:txBody>
          <a:bodyPr wrap="square" lIns="0" tIns="0" rIns="0" bIns="0" rtlCol="0" anchor="ctr"/>
          <a:lstStyle/>
          <a:p>
            <a:pPr algn="ctr" indent="0" marL="0">
              <a:buNone/>
            </a:pPr>
            <a:r>
              <a:rPr lang="en-US" sz="850" dirty="0">
                <a:solidFill>
                  <a:srgbClr val="F3DDE6"/>
                </a:solidFill>
                <a:latin typeface="Calibri" pitchFamily="34" charset="0"/>
                <a:ea typeface="Calibri" pitchFamily="34" charset="-122"/>
                <a:cs typeface="Calibri" pitchFamily="34" charset="-120"/>
              </a:rPr>
              <a:t>04_QC.R</a:t>
            </a:r>
            <a:endParaRPr lang="en-US" sz="850" dirty="0"/>
          </a:p>
        </p:txBody>
      </p:sp>
      <p:sp>
        <p:nvSpPr>
          <p:cNvPr id="7" name="Shape 5"/>
          <p:cNvSpPr/>
          <p:nvPr/>
        </p:nvSpPr>
        <p:spPr>
          <a:xfrm>
            <a:off x="1709928" y="2148840"/>
            <a:ext cx="118872" cy="182880"/>
          </a:xfrm>
          <a:prstGeom prst="rtTriangle">
            <a:avLst/>
          </a:prstGeom>
          <a:solidFill>
            <a:srgbClr val="A9B1B8"/>
          </a:solidFill>
          <a:ln w="12700">
            <a:solidFill>
              <a:srgbClr val="A9B1B8"/>
            </a:solidFill>
            <a:prstDash val="solid"/>
          </a:ln>
        </p:spPr>
      </p:sp>
      <p:sp>
        <p:nvSpPr>
          <p:cNvPr id="8" name="Shape 6"/>
          <p:cNvSpPr/>
          <p:nvPr/>
        </p:nvSpPr>
        <p:spPr>
          <a:xfrm>
            <a:off x="1847088" y="1417320"/>
            <a:ext cx="1234440" cy="1645920"/>
          </a:xfrm>
          <a:prstGeom prst="roundRect">
            <a:avLst>
              <a:gd name="adj" fmla="val 7407"/>
            </a:avLst>
          </a:prstGeom>
          <a:solidFill>
            <a:srgbClr val="6A1B3A"/>
          </a:solidFill>
          <a:ln w="12700">
            <a:solidFill>
              <a:srgbClr val="6A1B3A"/>
            </a:solidFill>
            <a:prstDash val="solid"/>
          </a:ln>
        </p:spPr>
      </p:sp>
      <p:sp>
        <p:nvSpPr>
          <p:cNvPr id="9" name="Text 7"/>
          <p:cNvSpPr txBox="1"/>
          <p:nvPr/>
        </p:nvSpPr>
        <p:spPr>
          <a:xfrm>
            <a:off x="1920240" y="1554480"/>
            <a:ext cx="108813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Clustering</a:t>
            </a:r>
            <a:endParaRPr lang="en-US" sz="1300" dirty="0"/>
          </a:p>
        </p:txBody>
      </p:sp>
      <p:sp>
        <p:nvSpPr>
          <p:cNvPr id="10" name="Text 8"/>
          <p:cNvSpPr txBox="1"/>
          <p:nvPr/>
        </p:nvSpPr>
        <p:spPr>
          <a:xfrm>
            <a:off x="1892808" y="2468880"/>
            <a:ext cx="1143000" cy="457200"/>
          </a:xfrm>
          <a:prstGeom prst="rect">
            <a:avLst/>
          </a:prstGeom>
          <a:noFill/>
          <a:ln/>
        </p:spPr>
        <p:txBody>
          <a:bodyPr wrap="square" lIns="0" tIns="0" rIns="0" bIns="0" rtlCol="0" anchor="ctr"/>
          <a:lstStyle/>
          <a:p>
            <a:pPr algn="ctr" indent="0" marL="0">
              <a:buNone/>
            </a:pPr>
            <a:r>
              <a:rPr lang="en-US" sz="850" dirty="0">
                <a:solidFill>
                  <a:srgbClr val="F3DDE6"/>
                </a:solidFill>
                <a:latin typeface="Calibri" pitchFamily="34" charset="0"/>
                <a:ea typeface="Calibri" pitchFamily="34" charset="-122"/>
                <a:cs typeface="Calibri" pitchFamily="34" charset="-120"/>
              </a:rPr>
              <a:t>05_clustering.R</a:t>
            </a:r>
            <a:endParaRPr lang="en-US" sz="850" dirty="0"/>
          </a:p>
        </p:txBody>
      </p:sp>
      <p:sp>
        <p:nvSpPr>
          <p:cNvPr id="11" name="Shape 9"/>
          <p:cNvSpPr/>
          <p:nvPr/>
        </p:nvSpPr>
        <p:spPr>
          <a:xfrm>
            <a:off x="3099816" y="2148840"/>
            <a:ext cx="118872" cy="182880"/>
          </a:xfrm>
          <a:prstGeom prst="rtTriangle">
            <a:avLst/>
          </a:prstGeom>
          <a:solidFill>
            <a:srgbClr val="A9B1B8"/>
          </a:solidFill>
          <a:ln w="12700">
            <a:solidFill>
              <a:srgbClr val="A9B1B8"/>
            </a:solidFill>
            <a:prstDash val="solid"/>
          </a:ln>
        </p:spPr>
      </p:sp>
      <p:sp>
        <p:nvSpPr>
          <p:cNvPr id="12" name="Shape 10"/>
          <p:cNvSpPr/>
          <p:nvPr/>
        </p:nvSpPr>
        <p:spPr>
          <a:xfrm>
            <a:off x="3236976" y="1417320"/>
            <a:ext cx="1234440" cy="1645920"/>
          </a:xfrm>
          <a:prstGeom prst="roundRect">
            <a:avLst>
              <a:gd name="adj" fmla="val 7407"/>
            </a:avLst>
          </a:prstGeom>
          <a:solidFill>
            <a:srgbClr val="6A1B3A"/>
          </a:solidFill>
          <a:ln w="12700">
            <a:solidFill>
              <a:srgbClr val="6A1B3A"/>
            </a:solidFill>
            <a:prstDash val="solid"/>
          </a:ln>
        </p:spPr>
      </p:sp>
      <p:sp>
        <p:nvSpPr>
          <p:cNvPr id="13" name="Text 11"/>
          <p:cNvSpPr txBox="1"/>
          <p:nvPr/>
        </p:nvSpPr>
        <p:spPr>
          <a:xfrm>
            <a:off x="3310128" y="1554480"/>
            <a:ext cx="108813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Doublets + Harmony</a:t>
            </a:r>
            <a:endParaRPr lang="en-US" sz="1300" dirty="0"/>
          </a:p>
        </p:txBody>
      </p:sp>
      <p:sp>
        <p:nvSpPr>
          <p:cNvPr id="14" name="Text 12"/>
          <p:cNvSpPr txBox="1"/>
          <p:nvPr/>
        </p:nvSpPr>
        <p:spPr>
          <a:xfrm>
            <a:off x="3282696" y="2468880"/>
            <a:ext cx="1143000" cy="457200"/>
          </a:xfrm>
          <a:prstGeom prst="rect">
            <a:avLst/>
          </a:prstGeom>
          <a:noFill/>
          <a:ln/>
        </p:spPr>
        <p:txBody>
          <a:bodyPr wrap="square" lIns="0" tIns="0" rIns="0" bIns="0" rtlCol="0" anchor="ctr"/>
          <a:lstStyle/>
          <a:p>
            <a:pPr algn="ctr" indent="0" marL="0">
              <a:buNone/>
            </a:pPr>
            <a:r>
              <a:rPr lang="en-US" sz="850" dirty="0">
                <a:solidFill>
                  <a:srgbClr val="F3DDE6"/>
                </a:solidFill>
                <a:latin typeface="Calibri" pitchFamily="34" charset="0"/>
                <a:ea typeface="Calibri" pitchFamily="34" charset="-122"/>
                <a:cs typeface="Calibri" pitchFamily="34" charset="-120"/>
              </a:rPr>
              <a:t>06a_batch_doublets.R</a:t>
            </a:r>
            <a:endParaRPr lang="en-US" sz="850" dirty="0"/>
          </a:p>
        </p:txBody>
      </p:sp>
      <p:sp>
        <p:nvSpPr>
          <p:cNvPr id="15" name="Shape 13"/>
          <p:cNvSpPr/>
          <p:nvPr/>
        </p:nvSpPr>
        <p:spPr>
          <a:xfrm>
            <a:off x="4489704" y="2148840"/>
            <a:ext cx="118872" cy="182880"/>
          </a:xfrm>
          <a:prstGeom prst="rtTriangle">
            <a:avLst/>
          </a:prstGeom>
          <a:solidFill>
            <a:srgbClr val="A9B1B8"/>
          </a:solidFill>
          <a:ln w="12700">
            <a:solidFill>
              <a:srgbClr val="A9B1B8"/>
            </a:solidFill>
            <a:prstDash val="solid"/>
          </a:ln>
        </p:spPr>
      </p:sp>
      <p:sp>
        <p:nvSpPr>
          <p:cNvPr id="16" name="Shape 14"/>
          <p:cNvSpPr/>
          <p:nvPr/>
        </p:nvSpPr>
        <p:spPr>
          <a:xfrm>
            <a:off x="4626864" y="1417320"/>
            <a:ext cx="1234440" cy="1645920"/>
          </a:xfrm>
          <a:prstGeom prst="roundRect">
            <a:avLst>
              <a:gd name="adj" fmla="val 7407"/>
            </a:avLst>
          </a:prstGeom>
          <a:solidFill>
            <a:srgbClr val="6A1B3A"/>
          </a:solidFill>
          <a:ln w="12700">
            <a:solidFill>
              <a:srgbClr val="6A1B3A"/>
            </a:solidFill>
            <a:prstDash val="solid"/>
          </a:ln>
        </p:spPr>
      </p:sp>
      <p:sp>
        <p:nvSpPr>
          <p:cNvPr id="17" name="Text 15"/>
          <p:cNvSpPr txBox="1"/>
          <p:nvPr/>
        </p:nvSpPr>
        <p:spPr>
          <a:xfrm>
            <a:off x="4700016" y="1554480"/>
            <a:ext cx="108813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Annotation + DPSCs</a:t>
            </a:r>
            <a:endParaRPr lang="en-US" sz="1300" dirty="0"/>
          </a:p>
        </p:txBody>
      </p:sp>
      <p:sp>
        <p:nvSpPr>
          <p:cNvPr id="18" name="Text 16"/>
          <p:cNvSpPr txBox="1"/>
          <p:nvPr/>
        </p:nvSpPr>
        <p:spPr>
          <a:xfrm>
            <a:off x="4672584" y="2468880"/>
            <a:ext cx="1143000" cy="457200"/>
          </a:xfrm>
          <a:prstGeom prst="rect">
            <a:avLst/>
          </a:prstGeom>
          <a:noFill/>
          <a:ln/>
        </p:spPr>
        <p:txBody>
          <a:bodyPr wrap="square" lIns="0" tIns="0" rIns="0" bIns="0" rtlCol="0" anchor="ctr"/>
          <a:lstStyle/>
          <a:p>
            <a:pPr algn="ctr" indent="0" marL="0">
              <a:buNone/>
            </a:pPr>
            <a:r>
              <a:rPr lang="en-US" sz="850" dirty="0">
                <a:solidFill>
                  <a:srgbClr val="F3DDE6"/>
                </a:solidFill>
                <a:latin typeface="Calibri" pitchFamily="34" charset="0"/>
                <a:ea typeface="Calibri" pitchFamily="34" charset="-122"/>
                <a:cs typeface="Calibri" pitchFamily="34" charset="-120"/>
              </a:rPr>
              <a:t>06_annotation.R</a:t>
            </a:r>
            <a:endParaRPr lang="en-US" sz="850" dirty="0"/>
          </a:p>
        </p:txBody>
      </p:sp>
      <p:sp>
        <p:nvSpPr>
          <p:cNvPr id="19" name="Shape 17"/>
          <p:cNvSpPr/>
          <p:nvPr/>
        </p:nvSpPr>
        <p:spPr>
          <a:xfrm>
            <a:off x="5879592" y="2148840"/>
            <a:ext cx="118872" cy="182880"/>
          </a:xfrm>
          <a:prstGeom prst="rtTriangle">
            <a:avLst/>
          </a:prstGeom>
          <a:solidFill>
            <a:srgbClr val="A9B1B8"/>
          </a:solidFill>
          <a:ln w="12700">
            <a:solidFill>
              <a:srgbClr val="A9B1B8"/>
            </a:solidFill>
            <a:prstDash val="solid"/>
          </a:ln>
        </p:spPr>
      </p:sp>
      <p:sp>
        <p:nvSpPr>
          <p:cNvPr id="20" name="Shape 18"/>
          <p:cNvSpPr/>
          <p:nvPr/>
        </p:nvSpPr>
        <p:spPr>
          <a:xfrm>
            <a:off x="6016752" y="1417320"/>
            <a:ext cx="1234440" cy="1645920"/>
          </a:xfrm>
          <a:prstGeom prst="roundRect">
            <a:avLst>
              <a:gd name="adj" fmla="val 7407"/>
            </a:avLst>
          </a:prstGeom>
          <a:solidFill>
            <a:srgbClr val="6A1B3A"/>
          </a:solidFill>
          <a:ln w="12700">
            <a:solidFill>
              <a:srgbClr val="6A1B3A"/>
            </a:solidFill>
            <a:prstDash val="solid"/>
          </a:ln>
        </p:spPr>
      </p:sp>
      <p:sp>
        <p:nvSpPr>
          <p:cNvPr id="21" name="Text 19"/>
          <p:cNvSpPr txBox="1"/>
          <p:nvPr/>
        </p:nvSpPr>
        <p:spPr>
          <a:xfrm>
            <a:off x="6089904" y="1554480"/>
            <a:ext cx="108813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WLS by donor</a:t>
            </a:r>
            <a:endParaRPr lang="en-US" sz="1300" dirty="0"/>
          </a:p>
        </p:txBody>
      </p:sp>
      <p:sp>
        <p:nvSpPr>
          <p:cNvPr id="22" name="Text 20"/>
          <p:cNvSpPr txBox="1"/>
          <p:nvPr/>
        </p:nvSpPr>
        <p:spPr>
          <a:xfrm>
            <a:off x="6062472" y="2468880"/>
            <a:ext cx="1143000" cy="457200"/>
          </a:xfrm>
          <a:prstGeom prst="rect">
            <a:avLst/>
          </a:prstGeom>
          <a:noFill/>
          <a:ln/>
        </p:spPr>
        <p:txBody>
          <a:bodyPr wrap="square" lIns="0" tIns="0" rIns="0" bIns="0" rtlCol="0" anchor="ctr"/>
          <a:lstStyle/>
          <a:p>
            <a:pPr algn="ctr" indent="0" marL="0">
              <a:buNone/>
            </a:pPr>
            <a:r>
              <a:rPr lang="en-US" sz="850" dirty="0">
                <a:solidFill>
                  <a:srgbClr val="F3DDE6"/>
                </a:solidFill>
                <a:latin typeface="Calibri" pitchFamily="34" charset="0"/>
                <a:ea typeface="Calibri" pitchFamily="34" charset="-122"/>
                <a:cs typeface="Calibri" pitchFamily="34" charset="-120"/>
              </a:rPr>
              <a:t>07_WLS_expression.R</a:t>
            </a:r>
            <a:endParaRPr lang="en-US" sz="850" dirty="0"/>
          </a:p>
        </p:txBody>
      </p:sp>
      <p:sp>
        <p:nvSpPr>
          <p:cNvPr id="23" name="Shape 21"/>
          <p:cNvSpPr/>
          <p:nvPr/>
        </p:nvSpPr>
        <p:spPr>
          <a:xfrm>
            <a:off x="7269480" y="2148840"/>
            <a:ext cx="118872" cy="182880"/>
          </a:xfrm>
          <a:prstGeom prst="rtTriangle">
            <a:avLst/>
          </a:prstGeom>
          <a:solidFill>
            <a:srgbClr val="A9B1B8"/>
          </a:solidFill>
          <a:ln w="12700">
            <a:solidFill>
              <a:srgbClr val="A9B1B8"/>
            </a:solidFill>
            <a:prstDash val="solid"/>
          </a:ln>
        </p:spPr>
      </p:sp>
      <p:sp>
        <p:nvSpPr>
          <p:cNvPr id="24" name="Shape 22"/>
          <p:cNvSpPr/>
          <p:nvPr/>
        </p:nvSpPr>
        <p:spPr>
          <a:xfrm>
            <a:off x="7406640" y="1417320"/>
            <a:ext cx="1234440" cy="1645920"/>
          </a:xfrm>
          <a:prstGeom prst="roundRect">
            <a:avLst>
              <a:gd name="adj" fmla="val 7407"/>
            </a:avLst>
          </a:prstGeom>
          <a:solidFill>
            <a:srgbClr val="6A1B3A"/>
          </a:solidFill>
          <a:ln w="12700">
            <a:solidFill>
              <a:srgbClr val="6A1B3A"/>
            </a:solidFill>
            <a:prstDash val="solid"/>
          </a:ln>
        </p:spPr>
      </p:sp>
      <p:sp>
        <p:nvSpPr>
          <p:cNvPr id="25" name="Text 23"/>
          <p:cNvSpPr txBox="1"/>
          <p:nvPr/>
        </p:nvSpPr>
        <p:spPr>
          <a:xfrm>
            <a:off x="7479792" y="1554480"/>
            <a:ext cx="108813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Sensitivity</a:t>
            </a:r>
            <a:endParaRPr lang="en-US" sz="1300" dirty="0"/>
          </a:p>
        </p:txBody>
      </p:sp>
      <p:sp>
        <p:nvSpPr>
          <p:cNvPr id="26" name="Text 24"/>
          <p:cNvSpPr txBox="1"/>
          <p:nvPr/>
        </p:nvSpPr>
        <p:spPr>
          <a:xfrm>
            <a:off x="7452360" y="2468880"/>
            <a:ext cx="1143000" cy="457200"/>
          </a:xfrm>
          <a:prstGeom prst="rect">
            <a:avLst/>
          </a:prstGeom>
          <a:noFill/>
          <a:ln/>
        </p:spPr>
        <p:txBody>
          <a:bodyPr wrap="square" lIns="0" tIns="0" rIns="0" bIns="0" rtlCol="0" anchor="ctr"/>
          <a:lstStyle/>
          <a:p>
            <a:pPr algn="ctr" indent="0" marL="0">
              <a:buNone/>
            </a:pPr>
            <a:r>
              <a:rPr lang="en-US" sz="850" dirty="0">
                <a:solidFill>
                  <a:srgbClr val="F3DDE6"/>
                </a:solidFill>
                <a:latin typeface="Calibri" pitchFamily="34" charset="0"/>
                <a:ea typeface="Calibri" pitchFamily="34" charset="-122"/>
                <a:cs typeface="Calibri" pitchFamily="34" charset="-120"/>
              </a:rPr>
              <a:t>07b_WLS_sensitivity.R</a:t>
            </a:r>
            <a:endParaRPr lang="en-US" sz="850" dirty="0"/>
          </a:p>
        </p:txBody>
      </p:sp>
      <p:sp>
        <p:nvSpPr>
          <p:cNvPr id="27" name="Text 25"/>
          <p:cNvSpPr txBox="1"/>
          <p:nvPr/>
        </p:nvSpPr>
        <p:spPr>
          <a:xfrm>
            <a:off x="457200" y="3429000"/>
            <a:ext cx="8229600" cy="1005840"/>
          </a:xfrm>
          <a:prstGeom prst="rect">
            <a:avLst/>
          </a:prstGeom>
          <a:noFill/>
          <a:ln/>
        </p:spPr>
        <p:txBody>
          <a:bodyPr wrap="square" lIns="0" tIns="0" rIns="0" bIns="0" rtlCol="0" anchor="t"/>
          <a:lstStyle/>
          <a:p>
            <a:pPr indent="0" marL="0">
              <a:spcAft>
                <a:spcPts val="600"/>
              </a:spcAft>
              <a:buNone/>
            </a:pPr>
            <a:r>
              <a:rPr lang="en-US" sz="1300" b="1" dirty="0">
                <a:solidFill>
                  <a:srgbClr val="1F2A33"/>
                </a:solidFill>
                <a:latin typeface="Calibri" pitchFamily="34" charset="0"/>
                <a:ea typeface="Calibri" pitchFamily="34" charset="-122"/>
                <a:cs typeface="Calibri" pitchFamily="34" charset="-120"/>
              </a:rPr>
              <a:t>Environment: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R 4.6, Seurat v5, harmony, scDblFinder, edgeR, lme4; versions locked in renv.lock</a:t>
            </a:r>
            <a:endParaRPr lang="en-US" sz="1300" dirty="0"/>
          </a:p>
          <a:p>
            <a:pPr indent="0" marL="0">
              <a:spcAft>
                <a:spcPts val="600"/>
              </a:spcAft>
              <a:buNone/>
            </a:pPr>
            <a:r>
              <a:rPr lang="en-US" sz="1300" b="1" dirty="0">
                <a:solidFill>
                  <a:srgbClr val="1F2A33"/>
                </a:solidFill>
                <a:latin typeface="Calibri" pitchFamily="34" charset="0"/>
                <a:ea typeface="Calibri" pitchFamily="34" charset="-122"/>
                <a:cs typeface="Calibri" pitchFamily="34" charset="-120"/>
              </a:rPr>
              <a:t>Next: </a:t>
            </a:r>
            <a:pPr indent="0" marL="0">
              <a:spcAft>
                <a:spcPts val="600"/>
              </a:spcAft>
              <a:buNone/>
            </a:pPr>
            <a:r>
              <a:rPr lang="en-US" sz="1300" dirty="0">
                <a:solidFill>
                  <a:srgbClr val="1F2A33"/>
                </a:solidFill>
                <a:latin typeface="Calibri" pitchFamily="34" charset="0"/>
                <a:ea typeface="Calibri" pitchFamily="34" charset="-122"/>
                <a:cs typeface="Calibri" pitchFamily="34" charset="-120"/>
              </a:rPr>
              <a:t>08_DEG.R (WLS⁺ vs WLS⁻), 09_GSEA.R, ligand–receptor analysis, validation in a second dataset</a:t>
            </a:r>
            <a:endParaRPr lang="en-US" sz="1300" dirty="0"/>
          </a:p>
        </p:txBody>
      </p:sp>
      <p:sp>
        <p:nvSpPr>
          <p:cNvPr id="28" name="Shape 26"/>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29" name="Text 27"/>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Code: github.com/mtariqi/dpsc-wls-human-scRNAseq/scripts  |  Environment: renv.lock  |  Session info: results/*/sessionInfo.txt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Quality control and doublet removal</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Even doublet rates across donors</a:t>
            </a:r>
            <a:endParaRPr lang="en-US" sz="1300" dirty="0"/>
          </a:p>
        </p:txBody>
      </p:sp>
      <p:sp>
        <p:nvSpPr>
          <p:cNvPr id="4" name="Text 2"/>
          <p:cNvSpPr txBox="1"/>
          <p:nvPr/>
        </p:nvSpPr>
        <p:spPr>
          <a:xfrm>
            <a:off x="457200" y="1325880"/>
            <a:ext cx="2377440" cy="594360"/>
          </a:xfrm>
          <a:prstGeom prst="rect">
            <a:avLst/>
          </a:prstGeom>
          <a:noFill/>
          <a:ln/>
        </p:spPr>
        <p:txBody>
          <a:bodyPr wrap="square" lIns="0" tIns="0" rIns="0" bIns="0" rtlCol="0" anchor="ctr"/>
          <a:lstStyle/>
          <a:p>
            <a:pPr indent="0" marL="0">
              <a:buNone/>
            </a:pPr>
            <a:r>
              <a:rPr lang="en-US" sz="3200" b="1" dirty="0">
                <a:solidFill>
                  <a:srgbClr val="6A1B3A"/>
                </a:solidFill>
                <a:latin typeface="Cambria" pitchFamily="34" charset="0"/>
                <a:ea typeface="Cambria" pitchFamily="34" charset="-122"/>
                <a:cs typeface="Cambria" pitchFamily="34" charset="-120"/>
              </a:rPr>
              <a:t>25,886</a:t>
            </a:r>
            <a:endParaRPr lang="en-US" sz="3200" dirty="0"/>
          </a:p>
        </p:txBody>
      </p:sp>
      <p:sp>
        <p:nvSpPr>
          <p:cNvPr id="5" name="Text 3"/>
          <p:cNvSpPr txBox="1"/>
          <p:nvPr/>
        </p:nvSpPr>
        <p:spPr>
          <a:xfrm>
            <a:off x="457200" y="1892808"/>
            <a:ext cx="2377440" cy="320040"/>
          </a:xfrm>
          <a:prstGeom prst="rect">
            <a:avLst/>
          </a:prstGeom>
          <a:noFill/>
          <a:ln/>
        </p:spPr>
        <p:txBody>
          <a:bodyPr wrap="square" lIns="0" tIns="0" rIns="0" bIns="0" rtlCol="0" anchor="ctr"/>
          <a:lstStyle/>
          <a:p>
            <a:pPr indent="0" marL="0">
              <a:buNone/>
            </a:pPr>
            <a:r>
              <a:rPr lang="en-US" sz="1200" dirty="0">
                <a:solidFill>
                  <a:srgbClr val="55606B"/>
                </a:solidFill>
                <a:latin typeface="Calibri" pitchFamily="34" charset="0"/>
                <a:ea typeface="Calibri" pitchFamily="34" charset="-122"/>
                <a:cs typeface="Calibri" pitchFamily="34" charset="-120"/>
              </a:rPr>
              <a:t>cells loaded</a:t>
            </a:r>
            <a:endParaRPr lang="en-US" sz="1200" dirty="0"/>
          </a:p>
        </p:txBody>
      </p:sp>
      <p:sp>
        <p:nvSpPr>
          <p:cNvPr id="6" name="Text 4"/>
          <p:cNvSpPr txBox="1"/>
          <p:nvPr/>
        </p:nvSpPr>
        <p:spPr>
          <a:xfrm>
            <a:off x="457200" y="2377440"/>
            <a:ext cx="2377440" cy="594360"/>
          </a:xfrm>
          <a:prstGeom prst="rect">
            <a:avLst/>
          </a:prstGeom>
          <a:noFill/>
          <a:ln/>
        </p:spPr>
        <p:txBody>
          <a:bodyPr wrap="square" lIns="0" tIns="0" rIns="0" bIns="0" rtlCol="0" anchor="ctr"/>
          <a:lstStyle/>
          <a:p>
            <a:pPr indent="0" marL="0">
              <a:buNone/>
            </a:pPr>
            <a:r>
              <a:rPr lang="en-US" sz="3200" b="1" dirty="0">
                <a:solidFill>
                  <a:srgbClr val="6A1B3A"/>
                </a:solidFill>
                <a:latin typeface="Cambria" pitchFamily="34" charset="0"/>
                <a:ea typeface="Cambria" pitchFamily="34" charset="-122"/>
                <a:cs typeface="Cambria" pitchFamily="34" charset="-120"/>
              </a:rPr>
              <a:t>25,030</a:t>
            </a:r>
            <a:endParaRPr lang="en-US" sz="3200" dirty="0"/>
          </a:p>
        </p:txBody>
      </p:sp>
      <p:sp>
        <p:nvSpPr>
          <p:cNvPr id="7" name="Text 5"/>
          <p:cNvSpPr txBox="1"/>
          <p:nvPr/>
        </p:nvSpPr>
        <p:spPr>
          <a:xfrm>
            <a:off x="457200" y="2944368"/>
            <a:ext cx="2377440" cy="320040"/>
          </a:xfrm>
          <a:prstGeom prst="rect">
            <a:avLst/>
          </a:prstGeom>
          <a:noFill/>
          <a:ln/>
        </p:spPr>
        <p:txBody>
          <a:bodyPr wrap="square" lIns="0" tIns="0" rIns="0" bIns="0" rtlCol="0" anchor="ctr"/>
          <a:lstStyle/>
          <a:p>
            <a:pPr indent="0" marL="0">
              <a:buNone/>
            </a:pPr>
            <a:r>
              <a:rPr lang="en-US" sz="1200" dirty="0">
                <a:solidFill>
                  <a:srgbClr val="55606B"/>
                </a:solidFill>
                <a:latin typeface="Calibri" pitchFamily="34" charset="0"/>
                <a:ea typeface="Calibri" pitchFamily="34" charset="-122"/>
                <a:cs typeface="Calibri" pitchFamily="34" charset="-120"/>
              </a:rPr>
              <a:t>after QC filters</a:t>
            </a:r>
            <a:endParaRPr lang="en-US" sz="1200" dirty="0"/>
          </a:p>
        </p:txBody>
      </p:sp>
      <p:sp>
        <p:nvSpPr>
          <p:cNvPr id="8" name="Text 6"/>
          <p:cNvSpPr txBox="1"/>
          <p:nvPr/>
        </p:nvSpPr>
        <p:spPr>
          <a:xfrm>
            <a:off x="457200" y="3429000"/>
            <a:ext cx="2377440" cy="594360"/>
          </a:xfrm>
          <a:prstGeom prst="rect">
            <a:avLst/>
          </a:prstGeom>
          <a:noFill/>
          <a:ln/>
        </p:spPr>
        <p:txBody>
          <a:bodyPr wrap="square" lIns="0" tIns="0" rIns="0" bIns="0" rtlCol="0" anchor="ctr"/>
          <a:lstStyle/>
          <a:p>
            <a:pPr indent="0" marL="0">
              <a:buNone/>
            </a:pPr>
            <a:r>
              <a:rPr lang="en-US" sz="3200" b="1" dirty="0">
                <a:solidFill>
                  <a:srgbClr val="0E7C7B"/>
                </a:solidFill>
                <a:latin typeface="Cambria" pitchFamily="34" charset="0"/>
                <a:ea typeface="Cambria" pitchFamily="34" charset="-122"/>
                <a:cs typeface="Cambria" pitchFamily="34" charset="-120"/>
              </a:rPr>
              <a:t>23,327</a:t>
            </a:r>
            <a:endParaRPr lang="en-US" sz="3200" dirty="0"/>
          </a:p>
        </p:txBody>
      </p:sp>
      <p:sp>
        <p:nvSpPr>
          <p:cNvPr id="9" name="Text 7"/>
          <p:cNvSpPr txBox="1"/>
          <p:nvPr/>
        </p:nvSpPr>
        <p:spPr>
          <a:xfrm>
            <a:off x="457200" y="3995928"/>
            <a:ext cx="2377440" cy="320040"/>
          </a:xfrm>
          <a:prstGeom prst="rect">
            <a:avLst/>
          </a:prstGeom>
          <a:noFill/>
          <a:ln/>
        </p:spPr>
        <p:txBody>
          <a:bodyPr wrap="square" lIns="0" tIns="0" rIns="0" bIns="0" rtlCol="0" anchor="ctr"/>
          <a:lstStyle/>
          <a:p>
            <a:pPr indent="0" marL="0">
              <a:buNone/>
            </a:pPr>
            <a:r>
              <a:rPr lang="en-US" sz="1200" dirty="0">
                <a:solidFill>
                  <a:srgbClr val="55606B"/>
                </a:solidFill>
                <a:latin typeface="Calibri" pitchFamily="34" charset="0"/>
                <a:ea typeface="Calibri" pitchFamily="34" charset="-122"/>
                <a:cs typeface="Calibri" pitchFamily="34" charset="-120"/>
              </a:rPr>
              <a:t>singlets analysed</a:t>
            </a:r>
            <a:endParaRPr lang="en-US" sz="1200" dirty="0"/>
          </a:p>
        </p:txBody>
      </p:sp>
      <p:graphicFrame>
        <p:nvGraphicFramePr>
          <p:cNvPr id="10" name="Chart 0" descr=""/>
          <p:cNvGraphicFramePr/>
          <p:nvPr/>
        </p:nvGraphicFramePr>
        <p:xfrm>
          <a:off x="3108960" y="1234440"/>
          <a:ext cx="5577840" cy="324612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12" name="Text 9"/>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Scripts: scripts/04_QC.R (nFeature &gt; 200, nCount &gt; 500, mt &lt; 20%), scripts/06a_batch_doublets.R  |  Table: results/06a_batch/doublets_by_sample.csv</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Harmony integration mixes the donors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Share of each cluster coming from its largest donor (0.2 = perfect mixing)</a:t>
            </a:r>
            <a:endParaRPr lang="en-US" sz="1300" dirty="0"/>
          </a:p>
        </p:txBody>
      </p:sp>
      <p:graphicFrame>
        <p:nvGraphicFramePr>
          <p:cNvPr id="4" name="Chart 0" descr=""/>
          <p:cNvGraphicFramePr/>
          <p:nvPr/>
        </p:nvGraphicFramePr>
        <p:xfrm>
          <a:off x="365760" y="1188720"/>
          <a:ext cx="5669280" cy="3337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217920" y="1280160"/>
            <a:ext cx="2560320" cy="3200400"/>
          </a:xfrm>
          <a:prstGeom prst="rect">
            <a:avLst/>
          </a:prstGeom>
          <a:noFill/>
          <a:ln/>
        </p:spPr>
        <p:txBody>
          <a:bodyPr wrap="square" rtlCol="0" anchor="t"/>
          <a:lstStyle/>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Mesenchymal, endothelial and glial clusters: 27–48% from their largest donor</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T/NK cluster 6 comes only from Pulp4 and Pulp5, likely an immune infiltrate; retained</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Epithelial cluster 14 is 82% Pulp3, likely contamination; excluded</a:t>
            </a:r>
            <a:endParaRPr lang="en-US" sz="1200" dirty="0"/>
          </a:p>
        </p:txBody>
      </p:sp>
      <p:sp>
        <p:nvSpPr>
          <p:cNvPr id="6" name="Shape 3"/>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7" name="Text 4"/>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scripts/06a_batch_doublets.R (Harmony, 20 PCs, res. 0.5)  |  Tables: results/06a_batch/cluster_by_sample_before.csv, cluster_by_sample_after.csv</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Nine cell types in human dental pulp</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All 16 clusters had a clear marker match and were confirmed manually</a:t>
            </a:r>
            <a:endParaRPr lang="en-US" sz="1300" dirty="0"/>
          </a:p>
        </p:txBody>
      </p:sp>
      <p:graphicFrame>
        <p:nvGraphicFramePr>
          <p:cNvPr id="4" name="Chart 0" descr=""/>
          <p:cNvGraphicFramePr/>
          <p:nvPr/>
        </p:nvGraphicFramePr>
        <p:xfrm>
          <a:off x="365760" y="1188720"/>
          <a:ext cx="5120640" cy="3337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280160"/>
            <a:ext cx="2926080" cy="3154680"/>
          </a:xfrm>
          <a:prstGeom prst="roundRect">
            <a:avLst>
              <a:gd name="adj" fmla="val 3125"/>
            </a:avLst>
          </a:prstGeom>
          <a:solidFill>
            <a:srgbClr val="F6EEF1"/>
          </a:solidFill>
          <a:ln w="12700">
            <a:solidFill>
              <a:srgbClr val="F6EEF1"/>
            </a:solidFill>
            <a:prstDash val="solid"/>
          </a:ln>
        </p:spPr>
      </p:sp>
      <p:sp>
        <p:nvSpPr>
          <p:cNvPr id="6" name="Text 3"/>
          <p:cNvSpPr txBox="1"/>
          <p:nvPr/>
        </p:nvSpPr>
        <p:spPr>
          <a:xfrm>
            <a:off x="5943600" y="1417320"/>
            <a:ext cx="2606040" cy="2926080"/>
          </a:xfrm>
          <a:prstGeom prst="rect">
            <a:avLst/>
          </a:prstGeom>
          <a:noFill/>
          <a:ln/>
        </p:spPr>
        <p:txBody>
          <a:bodyPr wrap="square" lIns="0" tIns="0" rIns="0" bIns="0" rtlCol="0" anchor="t"/>
          <a:lstStyle/>
          <a:p>
            <a:pPr indent="0" marL="0">
              <a:buNone/>
            </a:pPr>
            <a:r>
              <a:rPr lang="en-US" sz="3400" b="1" dirty="0">
                <a:solidFill>
                  <a:srgbClr val="C48A2C"/>
                </a:solidFill>
                <a:latin typeface="Cambria" pitchFamily="34" charset="0"/>
                <a:ea typeface="Cambria" pitchFamily="34" charset="-122"/>
                <a:cs typeface="Cambria" pitchFamily="34" charset="-120"/>
              </a:rPr>
              <a:t>41%</a:t>
            </a:r>
            <a:endParaRPr lang="en-US" sz="3400" dirty="0"/>
          </a:p>
          <a:p>
            <a:pPr indent="0" marL="0">
              <a:buNone/>
            </a:pPr>
            <a:r>
              <a:rPr lang="en-US" sz="1300" dirty="0">
                <a:solidFill>
                  <a:srgbClr val="1F2A33"/>
                </a:solidFill>
                <a:latin typeface="Calibri" pitchFamily="34" charset="0"/>
                <a:ea typeface="Calibri" pitchFamily="34" charset="-122"/>
                <a:cs typeface="Calibri" pitchFamily="34" charset="-120"/>
              </a:rPr>
              <a:t>of cells are pulp fibroblasts</a:t>
            </a:r>
            <a:endParaRPr lang="en-US" sz="34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3400" dirty="0"/>
          </a:p>
          <a:p>
            <a:pPr indent="0" marL="0">
              <a:buNone/>
            </a:pPr>
            <a:r>
              <a:rPr lang="en-US" sz="1300" b="1" dirty="0">
                <a:solidFill>
                  <a:srgbClr val="1F2A33"/>
                </a:solidFill>
                <a:latin typeface="Calibri" pitchFamily="34" charset="0"/>
                <a:ea typeface="Calibri" pitchFamily="34" charset="-122"/>
                <a:cs typeface="Calibri" pitchFamily="34" charset="-120"/>
              </a:rPr>
              <a:t>No odontoblast cluster</a:t>
            </a:r>
            <a:endParaRPr lang="en-US" sz="3400" dirty="0"/>
          </a:p>
          <a:p>
            <a:pPr indent="0" marL="0">
              <a:buNone/>
            </a:pPr>
            <a:r>
              <a:rPr lang="en-US" sz="1150" dirty="0">
                <a:solidFill>
                  <a:srgbClr val="55606B"/>
                </a:solidFill>
                <a:latin typeface="Calibri" pitchFamily="34" charset="0"/>
                <a:ea typeface="Calibri" pitchFamily="34" charset="-122"/>
                <a:cs typeface="Calibri" pitchFamily="34" charset="-120"/>
              </a:rPr>
              <a:t>Often lost during pulp extraction; lymphatic and mast cells too rare to cluster</a:t>
            </a:r>
            <a:endParaRPr lang="en-US" sz="3400" dirty="0"/>
          </a:p>
        </p:txBody>
      </p:sp>
      <p:sp>
        <p:nvSpPr>
          <p:cNvPr id="7" name="Shape 4"/>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8" name="Text 5"/>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scripts/06_annotation.R (14 marker panels, module scores)  |  Tables: data/annotation/cluster_labels.csv, results/06_annotation/cell_type_by_sample.csv</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Candidate DPSCs are perivascular cells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Stem/progenitor score of each mesenchymal sub-cluster, scored separately from perivascular genes</a:t>
            </a:r>
            <a:endParaRPr lang="en-US" sz="1300" dirty="0"/>
          </a:p>
        </p:txBody>
      </p:sp>
      <p:graphicFrame>
        <p:nvGraphicFramePr>
          <p:cNvPr id="4" name="Chart 0" descr=""/>
          <p:cNvGraphicFramePr/>
          <p:nvPr/>
        </p:nvGraphicFramePr>
        <p:xfrm>
          <a:off x="365760" y="123444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0" y="1280160"/>
            <a:ext cx="3291840" cy="3200400"/>
          </a:xfrm>
          <a:prstGeom prst="rect">
            <a:avLst/>
          </a:prstGeom>
          <a:noFill/>
          <a:ln/>
        </p:spPr>
        <p:txBody>
          <a:bodyPr wrap="square" rtlCol="0" anchor="t"/>
          <a:lstStyle/>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Stem score: THY1, NT5E, ENG, NGFR, FRZB, LEPR, PRRX1, CXCL12</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Only 3 perivascular sub-clusters score above background: 2,847 cells</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Their perivascular scores (0.62–1.13) far exceed stem scores (0.04–0.20)</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Fits the CD146⁺ perivascular niche (Shi &amp; Gronthos 2003)</a:t>
            </a:r>
            <a:endParaRPr lang="en-US" sz="1200" dirty="0"/>
          </a:p>
        </p:txBody>
      </p:sp>
      <p:sp>
        <p:nvSpPr>
          <p:cNvPr id="6" name="Shape 3"/>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7" name="Text 4"/>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scripts/06_annotation.R (mesenchyme sub-clustering, res. 0.4)  |  Table: results/06_annotation/mesenchymal_subclusters_DPSC_score.csv</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WLS is detected in candidate DPSCs in every donor</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Median % of WLS⁺ cells across donors</a:t>
            </a:r>
            <a:endParaRPr lang="en-US" sz="1300" dirty="0"/>
          </a:p>
        </p:txBody>
      </p:sp>
      <p:graphicFrame>
        <p:nvGraphicFramePr>
          <p:cNvPr id="4" name="Chart 0" descr=""/>
          <p:cNvGraphicFramePr/>
          <p:nvPr/>
        </p:nvGraphicFramePr>
        <p:xfrm>
          <a:off x="365760" y="1188720"/>
          <a:ext cx="5303520" cy="3337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280160"/>
            <a:ext cx="2743200" cy="3154680"/>
          </a:xfrm>
          <a:prstGeom prst="roundRect">
            <a:avLst>
              <a:gd name="adj" fmla="val 3333"/>
            </a:avLst>
          </a:prstGeom>
          <a:solidFill>
            <a:srgbClr val="F4F6F7"/>
          </a:solidFill>
          <a:ln w="12700">
            <a:solidFill>
              <a:srgbClr val="F4F6F7"/>
            </a:solidFill>
            <a:prstDash val="solid"/>
          </a:ln>
        </p:spPr>
      </p:sp>
      <p:sp>
        <p:nvSpPr>
          <p:cNvPr id="6" name="Text 3"/>
          <p:cNvSpPr txBox="1"/>
          <p:nvPr/>
        </p:nvSpPr>
        <p:spPr>
          <a:xfrm>
            <a:off x="6126480" y="1417320"/>
            <a:ext cx="2423160" cy="2926080"/>
          </a:xfrm>
          <a:prstGeom prst="rect">
            <a:avLst/>
          </a:prstGeom>
          <a:noFill/>
          <a:ln/>
        </p:spPr>
        <p:txBody>
          <a:bodyPr wrap="square" lIns="0" tIns="0" rIns="0" bIns="0" rtlCol="0" anchor="t"/>
          <a:lstStyle/>
          <a:p>
            <a:pPr indent="0" marL="0">
              <a:buNone/>
            </a:pPr>
            <a:r>
              <a:rPr lang="en-US" sz="1200" b="1" dirty="0">
                <a:solidFill>
                  <a:srgbClr val="1F2A33"/>
                </a:solidFill>
                <a:latin typeface="Calibri" pitchFamily="34" charset="0"/>
                <a:ea typeface="Calibri" pitchFamily="34" charset="-122"/>
                <a:cs typeface="Calibri" pitchFamily="34" charset="-120"/>
              </a:rPr>
              <a:t>Range across donors</a:t>
            </a:r>
            <a:endParaRPr lang="en-US" sz="1200" dirty="0"/>
          </a:p>
          <a:p>
            <a:pPr indent="0" marL="0">
              <a:buNone/>
            </a:pPr>
            <a:r>
              <a:rPr lang="en-US" sz="1200" dirty="0">
                <a:solidFill>
                  <a:srgbClr val="1F2A33"/>
                </a:solidFill>
                <a:latin typeface="Calibri" pitchFamily="34" charset="0"/>
                <a:ea typeface="Calibri" pitchFamily="34" charset="-122"/>
                <a:cs typeface="Calibri" pitchFamily="34" charset="-120"/>
              </a:rPr>
              <a:t>Candidate DPSC: 1.3–16.8%</a:t>
            </a:r>
            <a:endParaRPr lang="en-US" sz="1200" dirty="0"/>
          </a:p>
          <a:p>
            <a:pPr indent="0" marL="0">
              <a:buNone/>
            </a:pPr>
            <a:r>
              <a:rPr lang="en-US" sz="1200" dirty="0">
                <a:solidFill>
                  <a:srgbClr val="1F2A33"/>
                </a:solidFill>
                <a:latin typeface="Calibri" pitchFamily="34" charset="0"/>
                <a:ea typeface="Calibri" pitchFamily="34" charset="-122"/>
                <a:cs typeface="Calibri" pitchFamily="34" charset="-120"/>
              </a:rPr>
              <a:t>Pulp fibroblast: 6.3–24.0%</a:t>
            </a:r>
            <a:endParaRPr lang="en-US" sz="1200" dirty="0"/>
          </a:p>
          <a:p>
            <a:pPr indent="0" marL="0">
              <a:buNone/>
            </a:pPr>
            <a:r>
              <a:rPr lang="en-US" sz="600" dirty="0">
                <a:solidFill>
                  <a:srgbClr val="1F2A33"/>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F2A33"/>
                </a:solidFill>
                <a:latin typeface="Calibri" pitchFamily="34" charset="0"/>
                <a:ea typeface="Calibri" pitchFamily="34" charset="-122"/>
                <a:cs typeface="Calibri" pitchFamily="34" charset="-120"/>
              </a:rPr>
              <a:t>Detection understates expression</a:t>
            </a:r>
            <a:endParaRPr lang="en-US" sz="1200" dirty="0"/>
          </a:p>
          <a:p>
            <a:pPr indent="0" marL="0">
              <a:buNone/>
            </a:pPr>
            <a:r>
              <a:rPr lang="en-US" sz="1200" dirty="0">
                <a:solidFill>
                  <a:srgbClr val="1F2A33"/>
                </a:solidFill>
                <a:latin typeface="Calibri" pitchFamily="34" charset="0"/>
                <a:ea typeface="Calibri" pitchFamily="34" charset="-122"/>
                <a:cs typeface="Calibri" pitchFamily="34" charset="-120"/>
              </a:rPr>
              <a:t>10x data capture a fraction of transcripts, so compare groups, not absolute %.</a:t>
            </a:r>
            <a:endParaRPr lang="en-US" sz="1200" dirty="0"/>
          </a:p>
        </p:txBody>
      </p:sp>
      <p:sp>
        <p:nvSpPr>
          <p:cNvPr id="7" name="Shape 4"/>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8" name="Text 5"/>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scripts/07_WLS_expression.R  |  Tables: results/07_WLS/WLS_summary_by_group.csv, results/07_WLS/WLS_per_donor_per_group.csv</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Donor-level tests: WLS is not enriched</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WLS log2 fold change, candidate DPSC vs each group (pseudobulk edgeR, 5 donors)</a:t>
            </a:r>
            <a:endParaRPr lang="en-US" sz="1300" dirty="0"/>
          </a:p>
        </p:txBody>
      </p:sp>
      <p:graphicFrame>
        <p:nvGraphicFramePr>
          <p:cNvPr id="4" name="Chart 0" descr=""/>
          <p:cNvGraphicFramePr/>
          <p:nvPr/>
        </p:nvGraphicFramePr>
        <p:xfrm>
          <a:off x="365760" y="1188720"/>
          <a:ext cx="512064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60720" y="1280160"/>
          <a:ext cx="2926080" cy="914400"/>
        </p:xfrm>
        <a:graphic>
          <a:graphicData uri="http://schemas.openxmlformats.org/drawingml/2006/table">
            <a:tbl>
              <a:tblPr/>
              <a:tblGrid>
                <a:gridCol w="1920240"/>
                <a:gridCol w="10058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Comparison</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FDR</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vs Pulp fibroblast</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0.0014</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vs Myeloid</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0.0001</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vs Endothelial</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0.0002</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vs Schwann/glia</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0.32</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vs All other cells</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0.57</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6" name="Text 2"/>
          <p:cNvSpPr txBox="1"/>
          <p:nvPr/>
        </p:nvSpPr>
        <p:spPr>
          <a:xfrm>
            <a:off x="5760720" y="3246120"/>
            <a:ext cx="2926080" cy="731520"/>
          </a:xfrm>
          <a:prstGeom prst="rect">
            <a:avLst/>
          </a:prstGeom>
          <a:noFill/>
          <a:ln/>
        </p:spPr>
        <p:txBody>
          <a:bodyPr wrap="square" lIns="0" tIns="0" rIns="0" bIns="0" rtlCol="0" anchor="t"/>
          <a:lstStyle/>
          <a:p>
            <a:pPr indent="0" marL="0">
              <a:buNone/>
            </a:pPr>
            <a:r>
              <a:rPr lang="en-US" sz="1150" b="1" dirty="0">
                <a:solidFill>
                  <a:srgbClr val="1F2A33"/>
                </a:solidFill>
                <a:latin typeface="Calibri" pitchFamily="34" charset="0"/>
                <a:ea typeface="Calibri" pitchFamily="34" charset="-122"/>
                <a:cs typeface="Calibri" pitchFamily="34" charset="-120"/>
              </a:rPr>
              <a:t>Mixed model (mesenchyme): </a:t>
            </a:r>
            <a:pPr indent="0" marL="0">
              <a:buNone/>
            </a:pPr>
            <a:r>
              <a:rPr lang="en-US" sz="1150" dirty="0">
                <a:solidFill>
                  <a:srgbClr val="1F2A33"/>
                </a:solidFill>
                <a:latin typeface="Calibri" pitchFamily="34" charset="0"/>
                <a:ea typeface="Calibri" pitchFamily="34" charset="-122"/>
                <a:cs typeface="Calibri" pitchFamily="34" charset="-120"/>
              </a:rPr>
              <a:t>OR 0.43 (95% CI 0.37–0.50)</a:t>
            </a:r>
            <a:endParaRPr lang="en-US" sz="1150" dirty="0"/>
          </a:p>
        </p:txBody>
      </p:sp>
      <p:sp>
        <p:nvSpPr>
          <p:cNvPr id="7" name="Shape 3"/>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8" name="Text 4"/>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scripts/07_WLS_expression.R (edgeR QL, ~ donor + group; lme4)  |  Tables: results/07_WLS/WLS_pseudobulk_edgeR_tests.csv, WLS_mixed_model.csv</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WLS–WNT co-expression was a depth artefact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Odds ratio for WLS in WNT⁺ vs WNT⁻ cells, before and after adjusting for genes per cell</a:t>
            </a:r>
            <a:endParaRPr lang="en-US" sz="1300" dirty="0"/>
          </a:p>
        </p:txBody>
      </p:sp>
      <p:graphicFrame>
        <p:nvGraphicFramePr>
          <p:cNvPr id="4" name="Chart 0" descr=""/>
          <p:cNvGraphicFramePr/>
          <p:nvPr/>
        </p:nvGraphicFramePr>
        <p:xfrm>
          <a:off x="365760" y="1188720"/>
          <a:ext cx="484632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394960" y="1188720"/>
          <a:ext cx="3383280" cy="33375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7" name="Text 3"/>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Scripts: 07_WLS_expression.R, 07b_WLS_sensitivity.R  |  Tables: results/07_WLS/WLS_WNT_coexpression.csv, results/07b_sensitivity/WLS_WNT_coexpression_depth_adjusted.csv, WNT_ligand_pct_by_group.csv</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Robust to the DPSC definition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WLS log2FC, candidate DPSCs vs other mesenchymal cells</a:t>
            </a:r>
            <a:endParaRPr lang="en-US" sz="1300" dirty="0"/>
          </a:p>
        </p:txBody>
      </p:sp>
      <p:graphicFrame>
        <p:nvGraphicFramePr>
          <p:cNvPr id="4" name="Chart 0" descr=""/>
          <p:cNvGraphicFramePr/>
          <p:nvPr/>
        </p:nvGraphicFramePr>
        <p:xfrm>
          <a:off x="365760" y="1188720"/>
          <a:ext cx="530352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897880" y="1280160"/>
          <a:ext cx="2788920" cy="914400"/>
        </p:xfrm>
        <a:graphic>
          <a:graphicData uri="http://schemas.openxmlformats.org/drawingml/2006/table">
            <a:tbl>
              <a:tblPr/>
              <a:tblGrid>
                <a:gridCol w="1051560"/>
                <a:gridCol w="822960"/>
                <a:gridCol w="9144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Cells</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6A1B3A"/>
                    </a:solidFill>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2,847</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2.3e-4</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2,495</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7.9e-4</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1,423</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0.38</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92608">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1,538</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100" dirty="0">
                          <a:solidFill>
                            <a:srgbClr val="1F2A33"/>
                          </a:solidFill>
                          <a:latin typeface="Calibri" pitchFamily="34" charset="0"/>
                          <a:ea typeface="Calibri" pitchFamily="34" charset="-122"/>
                          <a:cs typeface="Calibri" pitchFamily="34" charset="-120"/>
                        </a:rPr>
                        <a:t>0.011</a:t>
                      </a:r>
                      <a:endParaRPr lang="en-US" sz="1100" dirty="0">
                        <a:latin typeface="Calibri" charset="0"/>
                        <a:ea typeface="Calibri" charset="0"/>
                        <a:cs typeface="Calibri" charset="0"/>
                      </a:endParaRPr>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6" name="Text 2"/>
          <p:cNvSpPr txBox="1"/>
          <p:nvPr/>
        </p:nvSpPr>
        <p:spPr>
          <a:xfrm>
            <a:off x="5897880" y="2971800"/>
            <a:ext cx="2788920" cy="1097280"/>
          </a:xfrm>
          <a:prstGeom prst="rect">
            <a:avLst/>
          </a:prstGeom>
          <a:noFill/>
          <a:ln/>
        </p:spPr>
        <p:txBody>
          <a:bodyPr wrap="square" lIns="0" tIns="0" rIns="0" bIns="0" rtlCol="0" anchor="t"/>
          <a:lstStyle/>
          <a:p>
            <a:pPr indent="0" marL="0">
              <a:buNone/>
            </a:pPr>
            <a:r>
              <a:rPr lang="en-US" sz="1200" i="1" dirty="0">
                <a:solidFill>
                  <a:srgbClr val="1F2A33"/>
                </a:solidFill>
                <a:latin typeface="Calibri" pitchFamily="34" charset="0"/>
                <a:ea typeface="Calibri" pitchFamily="34" charset="-122"/>
                <a:cs typeface="Calibri" pitchFamily="34" charset="-120"/>
              </a:rPr>
              <a:t>Definitions overlap only 21–79%, yet WLS is never higher in candidate DPSCs.</a:t>
            </a:r>
            <a:endParaRPr lang="en-US" sz="1200" dirty="0"/>
          </a:p>
        </p:txBody>
      </p:sp>
      <p:sp>
        <p:nvSpPr>
          <p:cNvPr id="7" name="Shape 3"/>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8" name="Text 4"/>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scripts/07b_WLS_sensitivity.R  |  Tables: results/07b_sensitivity/WLS_sensitivity_by_definition.csv, definition_overlap.csv</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Donor differences track sequencing depth</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i="1" dirty="0">
                <a:solidFill>
                  <a:srgbClr val="55606B"/>
                </a:solidFill>
                <a:latin typeface="Calibri" pitchFamily="34" charset="0"/>
                <a:ea typeface="Calibri" pitchFamily="34" charset="-122"/>
                <a:cs typeface="Calibri" pitchFamily="34" charset="-120"/>
              </a:rPr>
              <a:t>% WLS⁺ candidate DPSCs, donors ordered by median genes per cell</a:t>
            </a:r>
            <a:endParaRPr lang="en-US" sz="1300" dirty="0"/>
          </a:p>
        </p:txBody>
      </p:sp>
      <p:graphicFrame>
        <p:nvGraphicFramePr>
          <p:cNvPr id="4" name="Chart 0" descr=""/>
          <p:cNvGraphicFramePr/>
          <p:nvPr/>
        </p:nvGraphicFramePr>
        <p:xfrm>
          <a:off x="365760" y="1188720"/>
          <a:ext cx="5486400" cy="3337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035040" y="1280160"/>
            <a:ext cx="2743200" cy="3200400"/>
          </a:xfrm>
          <a:prstGeom prst="rect">
            <a:avLst/>
          </a:prstGeom>
          <a:noFill/>
          <a:ln/>
        </p:spPr>
        <p:txBody>
          <a:bodyPr wrap="square" rtlCol="0" anchor="t"/>
          <a:lstStyle/>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Pulp3 has ~⅓ of the genes per cell of the best donors, hence 1.3% WLS⁺</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Pulp4/5 have high mitochondrial reads but the highest WLS detection</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Pseudobulk tests compare within donors, so fold changes are unaffected</a:t>
            </a:r>
            <a:endParaRPr lang="en-US" sz="1200" dirty="0"/>
          </a:p>
          <a:p>
            <a:pPr marL="342900" indent="-342900">
              <a:spcAft>
                <a:spcPts val="600"/>
              </a:spcAft>
              <a:buSzPct val="100000"/>
              <a:buChar char="•"/>
            </a:pPr>
            <a:r>
              <a:rPr lang="en-US" sz="1200" dirty="0">
                <a:solidFill>
                  <a:srgbClr val="1F2A33"/>
                </a:solidFill>
                <a:latin typeface="Calibri" pitchFamily="34" charset="0"/>
                <a:ea typeface="Calibri" pitchFamily="34" charset="-122"/>
                <a:cs typeface="Calibri" pitchFamily="34" charset="-120"/>
              </a:rPr>
              <a:t>Do not compare % WLS⁺ between donors</a:t>
            </a:r>
            <a:endParaRPr lang="en-US" sz="1200" dirty="0"/>
          </a:p>
        </p:txBody>
      </p:sp>
      <p:sp>
        <p:nvSpPr>
          <p:cNvPr id="6" name="Shape 3"/>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7" name="Text 4"/>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Script: scripts/07b_WLS_sensitivity.R  |  Table: results/07b_sensitivity/candidate_DPSC_by_donor_QC.csv</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6A1B3A"/>
                </a:solidFill>
                <a:latin typeface="Cambria" pitchFamily="34" charset="0"/>
                <a:ea typeface="Cambria" pitchFamily="34" charset="-122"/>
                <a:cs typeface="Cambria" pitchFamily="34" charset="-120"/>
              </a:rPr>
              <a:t>Interpretation and limitations</a:t>
            </a:r>
            <a:endParaRPr lang="en-US" sz="2800" dirty="0"/>
          </a:p>
        </p:txBody>
      </p:sp>
      <p:sp>
        <p:nvSpPr>
          <p:cNvPr id="3" name="Shape 1"/>
          <p:cNvSpPr/>
          <p:nvPr/>
        </p:nvSpPr>
        <p:spPr>
          <a:xfrm>
            <a:off x="457200" y="1097280"/>
            <a:ext cx="3977640" cy="3383280"/>
          </a:xfrm>
          <a:prstGeom prst="roundRect">
            <a:avLst>
              <a:gd name="adj" fmla="val 2703"/>
            </a:avLst>
          </a:prstGeom>
          <a:solidFill>
            <a:srgbClr val="F6EEF1"/>
          </a:solidFill>
          <a:ln w="12700">
            <a:solidFill>
              <a:srgbClr val="F6EEF1"/>
            </a:solidFill>
            <a:prstDash val="solid"/>
          </a:ln>
        </p:spPr>
      </p:sp>
      <p:sp>
        <p:nvSpPr>
          <p:cNvPr id="4" name="Text 2"/>
          <p:cNvSpPr txBox="1"/>
          <p:nvPr/>
        </p:nvSpPr>
        <p:spPr>
          <a:xfrm>
            <a:off x="640080" y="1234440"/>
            <a:ext cx="3657600" cy="365760"/>
          </a:xfrm>
          <a:prstGeom prst="rect">
            <a:avLst/>
          </a:prstGeom>
          <a:noFill/>
          <a:ln/>
        </p:spPr>
        <p:txBody>
          <a:bodyPr wrap="square" lIns="0" tIns="0" rIns="0" bIns="0" rtlCol="0" anchor="ctr"/>
          <a:lstStyle/>
          <a:p>
            <a:pPr indent="0" marL="0">
              <a:buNone/>
            </a:pPr>
            <a:r>
              <a:rPr lang="en-US" sz="1600" b="1" dirty="0">
                <a:solidFill>
                  <a:srgbClr val="6A1B3A"/>
                </a:solidFill>
                <a:latin typeface="Cambria" pitchFamily="34" charset="0"/>
                <a:ea typeface="Cambria" pitchFamily="34" charset="-122"/>
                <a:cs typeface="Cambria" pitchFamily="34" charset="-120"/>
              </a:rPr>
              <a:t>What the data say</a:t>
            </a:r>
            <a:endParaRPr lang="en-US" sz="1600" dirty="0"/>
          </a:p>
        </p:txBody>
      </p:sp>
      <p:sp>
        <p:nvSpPr>
          <p:cNvPr id="5" name="Text 3"/>
          <p:cNvSpPr txBox="1"/>
          <p:nvPr/>
        </p:nvSpPr>
        <p:spPr>
          <a:xfrm>
            <a:off x="640080" y="1691640"/>
            <a:ext cx="3657600" cy="2651760"/>
          </a:xfrm>
          <a:prstGeom prst="rect">
            <a:avLst/>
          </a:prstGeom>
          <a:noFill/>
          <a:ln/>
        </p:spPr>
        <p:txBody>
          <a:bodyPr wrap="square" rtlCol="0" anchor="t"/>
          <a:lstStyle/>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H1 supported: WLS is expressed in candidate DPSCs</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H2 not supported: DPSCs are at the pulp average</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Fibroblasts are the main WLS⁺ mesenchymal cells, with WNT5A/WNT5B</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No evidence of WLS–WNT co-expression in DPSCs</a:t>
            </a:r>
            <a:endParaRPr lang="en-US" sz="1250" dirty="0"/>
          </a:p>
        </p:txBody>
      </p:sp>
      <p:sp>
        <p:nvSpPr>
          <p:cNvPr id="6" name="Shape 4"/>
          <p:cNvSpPr/>
          <p:nvPr/>
        </p:nvSpPr>
        <p:spPr>
          <a:xfrm>
            <a:off x="4709160" y="1097280"/>
            <a:ext cx="3977640" cy="3383280"/>
          </a:xfrm>
          <a:prstGeom prst="roundRect">
            <a:avLst>
              <a:gd name="adj" fmla="val 2703"/>
            </a:avLst>
          </a:prstGeom>
          <a:solidFill>
            <a:srgbClr val="F4F6F7"/>
          </a:solidFill>
          <a:ln w="12700">
            <a:solidFill>
              <a:srgbClr val="F4F6F7"/>
            </a:solidFill>
            <a:prstDash val="solid"/>
          </a:ln>
        </p:spPr>
      </p:sp>
      <p:sp>
        <p:nvSpPr>
          <p:cNvPr id="7" name="Text 5"/>
          <p:cNvSpPr txBox="1"/>
          <p:nvPr/>
        </p:nvSpPr>
        <p:spPr>
          <a:xfrm>
            <a:off x="4892040" y="1234440"/>
            <a:ext cx="3657600" cy="365760"/>
          </a:xfrm>
          <a:prstGeom prst="rect">
            <a:avLst/>
          </a:prstGeom>
          <a:noFill/>
          <a:ln/>
        </p:spPr>
        <p:txBody>
          <a:bodyPr wrap="square" lIns="0" tIns="0" rIns="0" bIns="0" rtlCol="0" anchor="ctr"/>
          <a:lstStyle/>
          <a:p>
            <a:pPr indent="0" marL="0">
              <a:buNone/>
            </a:pPr>
            <a:r>
              <a:rPr lang="en-US" sz="1600" b="1" dirty="0">
                <a:solidFill>
                  <a:srgbClr val="1F2A33"/>
                </a:solidFill>
                <a:latin typeface="Cambria" pitchFamily="34" charset="0"/>
                <a:ea typeface="Cambria" pitchFamily="34" charset="-122"/>
                <a:cs typeface="Cambria" pitchFamily="34" charset="-120"/>
              </a:rPr>
              <a:t>Caveats</a:t>
            </a:r>
            <a:endParaRPr lang="en-US" sz="1600" dirty="0"/>
          </a:p>
        </p:txBody>
      </p:sp>
      <p:sp>
        <p:nvSpPr>
          <p:cNvPr id="8" name="Text 6"/>
          <p:cNvSpPr txBox="1"/>
          <p:nvPr/>
        </p:nvSpPr>
        <p:spPr>
          <a:xfrm>
            <a:off x="4892040" y="1691640"/>
            <a:ext cx="3657600" cy="2651760"/>
          </a:xfrm>
          <a:prstGeom prst="rect">
            <a:avLst/>
          </a:prstGeom>
          <a:noFill/>
          <a:ln/>
        </p:spPr>
        <p:txBody>
          <a:bodyPr wrap="square" rtlCol="0" anchor="t"/>
          <a:lstStyle/>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One dataset (GSE164157); needs validation</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DPSCs defined computationally, not functionally</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Fresh tissue: cultured DPSCs may differ</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RNA only; no WLS protein or secretion data</a:t>
            </a:r>
            <a:endParaRPr lang="en-US" sz="1250" dirty="0"/>
          </a:p>
          <a:p>
            <a:pPr marL="342900" indent="-342900">
              <a:spcAft>
                <a:spcPts val="600"/>
              </a:spcAft>
              <a:buSzPct val="100000"/>
              <a:buChar char="•"/>
            </a:pPr>
            <a:r>
              <a:rPr lang="en-US" sz="1250" dirty="0">
                <a:solidFill>
                  <a:srgbClr val="1F2A33"/>
                </a:solidFill>
                <a:latin typeface="Calibri" pitchFamily="34" charset="0"/>
                <a:ea typeface="Calibri" pitchFamily="34" charset="-122"/>
                <a:cs typeface="Calibri" pitchFamily="34" charset="-120"/>
              </a:rPr>
              <a:t>Donor clinical details unknown</a:t>
            </a:r>
            <a:endParaRPr lang="en-US" sz="1250" dirty="0"/>
          </a:p>
        </p:txBody>
      </p:sp>
      <p:sp>
        <p:nvSpPr>
          <p:cNvPr id="9" name="Shape 7"/>
          <p:cNvSpPr/>
          <p:nvPr/>
        </p:nvSpPr>
        <p:spPr>
          <a:xfrm>
            <a:off x="457200" y="4645152"/>
            <a:ext cx="8229600" cy="310896"/>
          </a:xfrm>
          <a:prstGeom prst="roundRect">
            <a:avLst>
              <a:gd name="adj" fmla="val 23529"/>
            </a:avLst>
          </a:prstGeom>
          <a:solidFill>
            <a:srgbClr val="F6EEF1"/>
          </a:solidFill>
          <a:ln w="12700">
            <a:solidFill>
              <a:srgbClr val="F6EEF1"/>
            </a:solidFill>
            <a:prstDash val="solid"/>
          </a:ln>
        </p:spPr>
      </p:sp>
      <p:sp>
        <p:nvSpPr>
          <p:cNvPr id="10" name="Text 8"/>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5A3A47"/>
                </a:solidFill>
                <a:latin typeface="Calibri" pitchFamily="34" charset="0"/>
                <a:ea typeface="Calibri" pitchFamily="34" charset="-122"/>
                <a:cs typeface="Calibri" pitchFamily="34" charset="-120"/>
              </a:rPr>
              <a:t>Reports: docs/WLS_DPSC_Progress_Report_2.docx, docs/WLS_DPSC_Graduate_Report.docx  |  All tables: results/07_WLS/, results/07b_sensitivity/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6A1B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steps and questions</a:t>
            </a:r>
            <a:endParaRPr lang="en-US" sz="2800" dirty="0"/>
          </a:p>
        </p:txBody>
      </p:sp>
      <p:sp>
        <p:nvSpPr>
          <p:cNvPr id="3" name="Text 1"/>
          <p:cNvSpPr txBox="1"/>
          <p:nvPr/>
        </p:nvSpPr>
        <p:spPr>
          <a:xfrm>
            <a:off x="457200" y="1051560"/>
            <a:ext cx="4023360" cy="329184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08_DEG.R: WLS⁺ vs WLS⁻ cells in DPSCs and fibroblasts (pseudobulk, GSEA)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Ligand–receptor mapping of Wnt senders and receivers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Validation: GSE202476 / Pagella 2021 atlas; cultured DPSCs (Lee 2022)</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Bench: WLS immunostaining with MCAM/THY1 on pulp sections</a:t>
            </a:r>
            <a:endParaRPr lang="en-US" sz="1300" dirty="0"/>
          </a:p>
        </p:txBody>
      </p:sp>
      <p:sp>
        <p:nvSpPr>
          <p:cNvPr id="4" name="Shape 2"/>
          <p:cNvSpPr/>
          <p:nvPr/>
        </p:nvSpPr>
        <p:spPr>
          <a:xfrm>
            <a:off x="4754880" y="1051560"/>
            <a:ext cx="3931920" cy="3291840"/>
          </a:xfrm>
          <a:prstGeom prst="roundRect">
            <a:avLst>
              <a:gd name="adj" fmla="val 3333"/>
            </a:avLst>
          </a:prstGeom>
          <a:solidFill>
            <a:srgbClr val="4A1328"/>
          </a:solidFill>
          <a:ln w="12700">
            <a:solidFill>
              <a:srgbClr val="4A1328"/>
            </a:solidFill>
            <a:prstDash val="solid"/>
          </a:ln>
        </p:spPr>
      </p:sp>
      <p:sp>
        <p:nvSpPr>
          <p:cNvPr id="5" name="Text 3"/>
          <p:cNvSpPr txBox="1"/>
          <p:nvPr/>
        </p:nvSpPr>
        <p:spPr>
          <a:xfrm>
            <a:off x="4937760" y="1188720"/>
            <a:ext cx="3566160" cy="365760"/>
          </a:xfrm>
          <a:prstGeom prst="rect">
            <a:avLst/>
          </a:prstGeom>
          <a:noFill/>
          <a:ln/>
        </p:spPr>
        <p:txBody>
          <a:bodyPr wrap="square" lIns="0" tIns="0" rIns="0" bIns="0" rtlCol="0" anchor="ctr"/>
          <a:lstStyle/>
          <a:p>
            <a:pPr indent="0" marL="0">
              <a:buNone/>
            </a:pPr>
            <a:r>
              <a:rPr lang="en-US" sz="1600" b="1" dirty="0">
                <a:solidFill>
                  <a:srgbClr val="F3DDE6"/>
                </a:solidFill>
                <a:latin typeface="Cambria" pitchFamily="34" charset="0"/>
                <a:ea typeface="Cambria" pitchFamily="34" charset="-122"/>
                <a:cs typeface="Cambria" pitchFamily="34" charset="-120"/>
              </a:rPr>
              <a:t>For Professor Hsu</a:t>
            </a:r>
            <a:endParaRPr lang="en-US" sz="1600" dirty="0"/>
          </a:p>
        </p:txBody>
      </p:sp>
      <p:sp>
        <p:nvSpPr>
          <p:cNvPr id="6" name="Text 4"/>
          <p:cNvSpPr txBox="1"/>
          <p:nvPr/>
        </p:nvSpPr>
        <p:spPr>
          <a:xfrm>
            <a:off x="4937760" y="1645920"/>
            <a:ext cx="3611880" cy="25603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50" dirty="0">
                <a:solidFill>
                  <a:srgbClr val="FFFFFF"/>
                </a:solidFill>
                <a:latin typeface="Calibri" pitchFamily="34" charset="0"/>
                <a:ea typeface="Calibri" pitchFamily="34" charset="-122"/>
                <a:cs typeface="Calibri" pitchFamily="34" charset="-120"/>
              </a:rPr>
              <a:t>Which DPSC definition matters most to the lab?</a:t>
            </a:r>
            <a:endParaRPr lang="en-US" sz="1250" dirty="0"/>
          </a:p>
          <a:p>
            <a:pPr marL="342900" indent="-342900">
              <a:spcAft>
                <a:spcPts val="800"/>
              </a:spcAft>
              <a:buSzPct val="100000"/>
              <a:buFont typeface="+mj-lt"/>
              <a:buAutoNum type="arabicPeriod" startAt="1"/>
            </a:pPr>
            <a:r>
              <a:rPr lang="en-US" sz="1250" dirty="0">
                <a:solidFill>
                  <a:srgbClr val="FFFFFF"/>
                </a:solidFill>
                <a:latin typeface="Calibri" pitchFamily="34" charset="0"/>
                <a:ea typeface="Calibri" pitchFamily="34" charset="-122"/>
                <a:cs typeface="Calibri" pitchFamily="34" charset="-120"/>
              </a:rPr>
              <a:t>Tissue DPSCs, or cultured DPSCs?</a:t>
            </a:r>
            <a:endParaRPr lang="en-US" sz="1250" dirty="0"/>
          </a:p>
          <a:p>
            <a:pPr marL="342900" indent="-342900">
              <a:spcAft>
                <a:spcPts val="800"/>
              </a:spcAft>
              <a:buSzPct val="100000"/>
              <a:buFont typeface="+mj-lt"/>
              <a:buAutoNum type="arabicPeriod" startAt="1"/>
            </a:pPr>
            <a:r>
              <a:rPr lang="en-US" sz="1250" dirty="0">
                <a:solidFill>
                  <a:srgbClr val="FFFFFF"/>
                </a:solidFill>
                <a:latin typeface="Calibri" pitchFamily="34" charset="0"/>
                <a:ea typeface="Calibri" pitchFamily="34" charset="-122"/>
                <a:cs typeface="Calibri" pitchFamily="34" charset="-120"/>
              </a:rPr>
              <a:t>Should we follow up fibroblasts as the main WLS source?</a:t>
            </a:r>
            <a:endParaRPr lang="en-US" sz="1250" dirty="0"/>
          </a:p>
          <a:p>
            <a:pPr marL="342900" indent="-342900">
              <a:spcAft>
                <a:spcPts val="800"/>
              </a:spcAft>
              <a:buSzPct val="100000"/>
              <a:buFont typeface="+mj-lt"/>
              <a:buAutoNum type="arabicPeriod" startAt="1"/>
            </a:pPr>
            <a:r>
              <a:rPr lang="en-US" sz="1250" dirty="0">
                <a:solidFill>
                  <a:srgbClr val="FFFFFF"/>
                </a:solidFill>
                <a:latin typeface="Calibri" pitchFamily="34" charset="0"/>
                <a:ea typeface="Calibri" pitchFamily="34" charset="-122"/>
                <a:cs typeface="Calibri" pitchFamily="34" charset="-120"/>
              </a:rPr>
              <a:t>Approve public release (Zenodo DOI) and authorship?</a:t>
            </a:r>
            <a:endParaRPr lang="en-US" sz="1250" dirty="0"/>
          </a:p>
        </p:txBody>
      </p:sp>
      <p:sp>
        <p:nvSpPr>
          <p:cNvPr id="7" name="Shape 5"/>
          <p:cNvSpPr/>
          <p:nvPr/>
        </p:nvSpPr>
        <p:spPr>
          <a:xfrm>
            <a:off x="457200" y="4645152"/>
            <a:ext cx="8229600" cy="310896"/>
          </a:xfrm>
          <a:prstGeom prst="roundRect">
            <a:avLst>
              <a:gd name="adj" fmla="val 23529"/>
            </a:avLst>
          </a:prstGeom>
          <a:solidFill>
            <a:srgbClr val="4A1328"/>
          </a:solidFill>
          <a:ln w="12700">
            <a:solidFill>
              <a:srgbClr val="4A1328"/>
            </a:solidFill>
            <a:prstDash val="solid"/>
          </a:ln>
        </p:spPr>
      </p:sp>
      <p:sp>
        <p:nvSpPr>
          <p:cNvPr id="8" name="Text 6"/>
          <p:cNvSpPr txBox="1"/>
          <p:nvPr/>
        </p:nvSpPr>
        <p:spPr>
          <a:xfrm>
            <a:off x="566928" y="4645152"/>
            <a:ext cx="8046720" cy="310896"/>
          </a:xfrm>
          <a:prstGeom prst="rect">
            <a:avLst/>
          </a:prstGeom>
          <a:noFill/>
          <a:ln/>
        </p:spPr>
        <p:txBody>
          <a:bodyPr wrap="square" lIns="0" tIns="0" rIns="0" bIns="0" rtlCol="0" anchor="ctr"/>
          <a:lstStyle/>
          <a:p>
            <a:pPr indent="0" marL="0">
              <a:buNone/>
            </a:pPr>
            <a:r>
              <a:rPr lang="en-US" sz="850" dirty="0">
                <a:solidFill>
                  <a:srgbClr val="F3DDE6"/>
                </a:solidFill>
                <a:latin typeface="Calibri" pitchFamily="34" charset="0"/>
                <a:ea typeface="Calibri" pitchFamily="34" charset="-122"/>
                <a:cs typeface="Calibri" pitchFamily="34" charset="-120"/>
              </a:rPr>
              <a:t>Repository: github.com/mtariqi/dpsc-wls-human-scRNAseq  |  Planned scripts: scripts/08_DEG.R, scripts/09_GSEA.R</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57200" y="274320"/>
            <a:ext cx="8229600" cy="548640"/>
          </a:xfrm>
          <a:prstGeom prst="rect">
            <a:avLst/>
          </a:prstGeom>
          <a:noFill/>
        </p:spPr>
        <p:txBody>
          <a:bodyPr wrap="square" lIns="0" rIns="0" tIns="0" bIns="0" anchor="ctr">
            <a:spAutoFit/>
          </a:bodyPr>
          <a:lstStyle/>
          <a:p>
            <a:pPr algn="l"/>
            <a:r>
              <a:rPr sz="2800" b="1" i="0">
                <a:solidFill>
                  <a:srgbClr val="6A1B3A"/>
                </a:solidFill>
                <a:latin typeface="Cambria"/>
              </a:rPr>
              <a:t>Validation: the answer holds</a:t>
            </a:r>
          </a:p>
        </p:txBody>
      </p:sp>
      <p:sp>
        <p:nvSpPr>
          <p:cNvPr id="3" name="Subtitle"/>
          <p:cNvSpPr txBox="1"/>
          <p:nvPr/>
        </p:nvSpPr>
        <p:spPr>
          <a:xfrm>
            <a:off x="457200" y="822960"/>
            <a:ext cx="8229600" cy="320040"/>
          </a:xfrm>
          <a:prstGeom prst="rect">
            <a:avLst/>
          </a:prstGeom>
          <a:noFill/>
        </p:spPr>
        <p:txBody>
          <a:bodyPr wrap="square" lIns="0" rIns="0" tIns="0" bIns="0" anchor="ctr">
            <a:spAutoFit/>
          </a:bodyPr>
          <a:lstStyle/>
          <a:p>
            <a:pPr algn="l"/>
            <a:r>
              <a:rPr sz="1300" b="0" i="1">
                <a:solidFill>
                  <a:srgbClr val="55606B"/>
                </a:solidFill>
                <a:latin typeface="Calibri"/>
              </a:rPr>
              <a:t>Same question, same pipeline, three independent datasets</a:t>
            </a:r>
          </a:p>
        </p:txBody>
      </p:sp>
      <p:sp>
        <p:nvSpPr>
          <p:cNvPr id="4" name="Footer box"/>
          <p:cNvSpPr/>
          <p:nvPr/>
        </p:nvSpPr>
        <p:spPr>
          <a:xfrm>
            <a:off x="457200" y="4645152"/>
            <a:ext cx="8229600" cy="310896"/>
          </a:xfrm>
          <a:prstGeom prst="rect">
            <a:avLst/>
          </a:prstGeom>
          <a:solidFill>
            <a:srgbClr val="F6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p:cNvSpPr txBox="1"/>
          <p:nvPr/>
        </p:nvSpPr>
        <p:spPr>
          <a:xfrm>
            <a:off x="566928" y="4645152"/>
            <a:ext cx="8046720" cy="310896"/>
          </a:xfrm>
          <a:prstGeom prst="rect">
            <a:avLst/>
          </a:prstGeom>
          <a:noFill/>
        </p:spPr>
        <p:txBody>
          <a:bodyPr wrap="square" lIns="0" rIns="0" tIns="0" bIns="0" anchor="ctr">
            <a:spAutoFit/>
          </a:bodyPr>
          <a:lstStyle/>
          <a:p>
            <a:pPr algn="l"/>
            <a:r>
              <a:rPr sz="900" b="0" i="0">
                <a:solidFill>
                  <a:srgbClr val="5A3A47"/>
                </a:solidFill>
                <a:latin typeface="Calibri"/>
              </a:rPr>
              <a:t>Code: github.com/mtariqi/dpsc-wls-validation  |  Table: results/WLS_cross_dataset_summary.csv  |  Scripts: scripts/02–04</a:t>
            </a:r>
          </a:p>
        </p:txBody>
      </p:sp>
      <p:sp>
        <p:nvSpPr>
          <p:cNvPr id="6" name="Headline"/>
          <p:cNvSpPr txBox="1"/>
          <p:nvPr/>
        </p:nvSpPr>
        <p:spPr>
          <a:xfrm>
            <a:off x="457200" y="1280160"/>
            <a:ext cx="8229600" cy="548640"/>
          </a:xfrm>
          <a:prstGeom prst="rect">
            <a:avLst/>
          </a:prstGeom>
          <a:noFill/>
        </p:spPr>
        <p:txBody>
          <a:bodyPr wrap="square" lIns="0" rIns="0" tIns="0" bIns="0" anchor="ctr">
            <a:spAutoFit/>
          </a:bodyPr>
          <a:lstStyle/>
          <a:p>
            <a:pPr algn="l"/>
            <a:r>
              <a:rPr sz="1800" b="1" i="0">
                <a:solidFill>
                  <a:srgbClr val="1F2A33"/>
                </a:solidFill>
                <a:latin typeface="Cambria"/>
              </a:rPr>
              <a:t>WLS is expressed in DPSCs in all four datasets, but enriched in none of them.</a:t>
            </a:r>
          </a:p>
        </p:txBody>
      </p:sp>
      <p:sp>
        <p:nvSpPr>
          <p:cNvPr id="7" name="Card 1"/>
          <p:cNvSpPr/>
          <p:nvPr/>
        </p:nvSpPr>
        <p:spPr>
          <a:xfrm>
            <a:off x="457200" y="2057400"/>
            <a:ext cx="2606040" cy="228600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d 1 number"/>
          <p:cNvSpPr txBox="1"/>
          <p:nvPr/>
        </p:nvSpPr>
        <p:spPr>
          <a:xfrm>
            <a:off x="640080" y="2240280"/>
            <a:ext cx="2240280" cy="914400"/>
          </a:xfrm>
          <a:prstGeom prst="rect">
            <a:avLst/>
          </a:prstGeom>
          <a:noFill/>
        </p:spPr>
        <p:txBody>
          <a:bodyPr wrap="square" lIns="0" rIns="0" tIns="0" bIns="0" anchor="ctr">
            <a:spAutoFit/>
          </a:bodyPr>
          <a:lstStyle/>
          <a:p>
            <a:pPr algn="l"/>
            <a:r>
              <a:rPr sz="4400" b="1" i="0">
                <a:solidFill>
                  <a:srgbClr val="0E7C7B"/>
                </a:solidFill>
                <a:latin typeface="Cambria"/>
              </a:rPr>
              <a:t>4 of 4</a:t>
            </a:r>
          </a:p>
        </p:txBody>
      </p:sp>
      <p:sp>
        <p:nvSpPr>
          <p:cNvPr id="9" name="Card 1 label"/>
          <p:cNvSpPr txBox="1"/>
          <p:nvPr/>
        </p:nvSpPr>
        <p:spPr>
          <a:xfrm>
            <a:off x="640080" y="3200400"/>
            <a:ext cx="2240280" cy="914400"/>
          </a:xfrm>
          <a:prstGeom prst="rect">
            <a:avLst/>
          </a:prstGeom>
          <a:noFill/>
        </p:spPr>
        <p:txBody>
          <a:bodyPr wrap="square" lIns="0" rIns="0" tIns="0" bIns="0" anchor="t">
            <a:spAutoFit/>
          </a:bodyPr>
          <a:lstStyle/>
          <a:p>
            <a:pPr algn="l"/>
            <a:r>
              <a:rPr sz="1300" b="0" i="0">
                <a:solidFill>
                  <a:srgbClr val="1F2A33"/>
                </a:solidFill>
                <a:latin typeface="Calibri"/>
              </a:rPr>
              <a:t>datasets with WLS⁺ candidate DPSCs (11–70% of cells)</a:t>
            </a:r>
          </a:p>
        </p:txBody>
      </p:sp>
      <p:sp>
        <p:nvSpPr>
          <p:cNvPr id="10" name="Card 2"/>
          <p:cNvSpPr/>
          <p:nvPr/>
        </p:nvSpPr>
        <p:spPr>
          <a:xfrm>
            <a:off x="3246120" y="2057400"/>
            <a:ext cx="2606040" cy="228600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2 number"/>
          <p:cNvSpPr txBox="1"/>
          <p:nvPr/>
        </p:nvSpPr>
        <p:spPr>
          <a:xfrm>
            <a:off x="3429000" y="2240280"/>
            <a:ext cx="2240280" cy="914400"/>
          </a:xfrm>
          <a:prstGeom prst="rect">
            <a:avLst/>
          </a:prstGeom>
          <a:noFill/>
        </p:spPr>
        <p:txBody>
          <a:bodyPr wrap="square" lIns="0" rIns="0" tIns="0" bIns="0" anchor="ctr">
            <a:spAutoFit/>
          </a:bodyPr>
          <a:lstStyle/>
          <a:p>
            <a:pPr algn="l"/>
            <a:r>
              <a:rPr sz="4400" b="1" i="0">
                <a:solidFill>
                  <a:srgbClr val="B03A5B"/>
                </a:solidFill>
                <a:latin typeface="Cambria"/>
              </a:rPr>
              <a:t>0 of 4</a:t>
            </a:r>
          </a:p>
        </p:txBody>
      </p:sp>
      <p:sp>
        <p:nvSpPr>
          <p:cNvPr id="12" name="Card 2 label"/>
          <p:cNvSpPr txBox="1"/>
          <p:nvPr/>
        </p:nvSpPr>
        <p:spPr>
          <a:xfrm>
            <a:off x="3429000" y="3200400"/>
            <a:ext cx="2240280" cy="914400"/>
          </a:xfrm>
          <a:prstGeom prst="rect">
            <a:avLst/>
          </a:prstGeom>
          <a:noFill/>
        </p:spPr>
        <p:txBody>
          <a:bodyPr wrap="square" lIns="0" rIns="0" tIns="0" bIns="0" anchor="t">
            <a:spAutoFit/>
          </a:bodyPr>
          <a:lstStyle/>
          <a:p>
            <a:pPr algn="l"/>
            <a:r>
              <a:rPr sz="1300" b="0" i="0">
                <a:solidFill>
                  <a:srgbClr val="1F2A33"/>
                </a:solidFill>
                <a:latin typeface="Calibri"/>
              </a:rPr>
              <a:t>datasets in which WLS is higher in DPSCs than in comparison cells</a:t>
            </a:r>
          </a:p>
        </p:txBody>
      </p:sp>
      <p:sp>
        <p:nvSpPr>
          <p:cNvPr id="13" name="Card 3"/>
          <p:cNvSpPr/>
          <p:nvPr/>
        </p:nvSpPr>
        <p:spPr>
          <a:xfrm>
            <a:off x="6035040" y="2057400"/>
            <a:ext cx="2606040" cy="228600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 3 number"/>
          <p:cNvSpPr txBox="1"/>
          <p:nvPr/>
        </p:nvSpPr>
        <p:spPr>
          <a:xfrm>
            <a:off x="6217920" y="2240280"/>
            <a:ext cx="2240280" cy="914400"/>
          </a:xfrm>
          <a:prstGeom prst="rect">
            <a:avLst/>
          </a:prstGeom>
          <a:noFill/>
        </p:spPr>
        <p:txBody>
          <a:bodyPr wrap="square" lIns="0" rIns="0" tIns="0" bIns="0" anchor="ctr">
            <a:spAutoFit/>
          </a:bodyPr>
          <a:lstStyle/>
          <a:p>
            <a:pPr algn="l"/>
            <a:r>
              <a:rPr sz="4400" b="1" i="0">
                <a:solidFill>
                  <a:srgbClr val="C48A2C"/>
                </a:solidFill>
                <a:latin typeface="Cambria"/>
              </a:rPr>
              <a:t>3 of 3</a:t>
            </a:r>
          </a:p>
        </p:txBody>
      </p:sp>
      <p:sp>
        <p:nvSpPr>
          <p:cNvPr id="15" name="Card 3 label"/>
          <p:cNvSpPr txBox="1"/>
          <p:nvPr/>
        </p:nvSpPr>
        <p:spPr>
          <a:xfrm>
            <a:off x="6217920" y="3200400"/>
            <a:ext cx="2240280" cy="914400"/>
          </a:xfrm>
          <a:prstGeom prst="rect">
            <a:avLst/>
          </a:prstGeom>
          <a:noFill/>
        </p:spPr>
        <p:txBody>
          <a:bodyPr wrap="square" lIns="0" rIns="0" tIns="0" bIns="0" anchor="t">
            <a:spAutoFit/>
          </a:bodyPr>
          <a:lstStyle/>
          <a:p>
            <a:pPr algn="l"/>
            <a:r>
              <a:rPr sz="1300" b="0" i="0">
                <a:solidFill>
                  <a:srgbClr val="1F2A33"/>
                </a:solidFill>
                <a:latin typeface="Calibri"/>
              </a:rPr>
              <a:t>pulp tissues in which fibroblasts are the top WLS⁺ mesenchymal cells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57200" y="274320"/>
            <a:ext cx="8229600" cy="548640"/>
          </a:xfrm>
          <a:prstGeom prst="rect">
            <a:avLst/>
          </a:prstGeom>
          <a:noFill/>
        </p:spPr>
        <p:txBody>
          <a:bodyPr wrap="square" lIns="0" rIns="0" tIns="0" bIns="0" anchor="ctr">
            <a:spAutoFit/>
          </a:bodyPr>
          <a:lstStyle/>
          <a:p>
            <a:pPr algn="l"/>
            <a:r>
              <a:rPr sz="2800" b="1" i="0">
                <a:solidFill>
                  <a:srgbClr val="6A1B3A"/>
                </a:solidFill>
                <a:latin typeface="Cambria"/>
              </a:rPr>
              <a:t>Four datasets, one answer</a:t>
            </a:r>
          </a:p>
        </p:txBody>
      </p:sp>
      <p:sp>
        <p:nvSpPr>
          <p:cNvPr id="3" name="Subtitle"/>
          <p:cNvSpPr txBox="1"/>
          <p:nvPr/>
        </p:nvSpPr>
        <p:spPr>
          <a:xfrm>
            <a:off x="457200" y="822960"/>
            <a:ext cx="8229600" cy="320040"/>
          </a:xfrm>
          <a:prstGeom prst="rect">
            <a:avLst/>
          </a:prstGeom>
          <a:noFill/>
        </p:spPr>
        <p:txBody>
          <a:bodyPr wrap="square" lIns="0" rIns="0" tIns="0" bIns="0" anchor="ctr">
            <a:spAutoFit/>
          </a:bodyPr>
          <a:lstStyle/>
          <a:p>
            <a:pPr algn="l"/>
            <a:r>
              <a:rPr sz="1300" b="0" i="1">
                <a:solidFill>
                  <a:srgbClr val="55606B"/>
                </a:solidFill>
                <a:latin typeface="Calibri"/>
              </a:rPr>
              <a:t>Candidate DPSCs (definition A) vs comparison cells within each dataset</a:t>
            </a:r>
          </a:p>
        </p:txBody>
      </p:sp>
      <p:sp>
        <p:nvSpPr>
          <p:cNvPr id="4" name="Footer box"/>
          <p:cNvSpPr/>
          <p:nvPr/>
        </p:nvSpPr>
        <p:spPr>
          <a:xfrm>
            <a:off x="457200" y="4645152"/>
            <a:ext cx="8229600" cy="310896"/>
          </a:xfrm>
          <a:prstGeom prst="rect">
            <a:avLst/>
          </a:prstGeom>
          <a:solidFill>
            <a:srgbClr val="F6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p:cNvSpPr txBox="1"/>
          <p:nvPr/>
        </p:nvSpPr>
        <p:spPr>
          <a:xfrm>
            <a:off x="566928" y="4645152"/>
            <a:ext cx="8046720" cy="310896"/>
          </a:xfrm>
          <a:prstGeom prst="rect">
            <a:avLst/>
          </a:prstGeom>
          <a:noFill/>
        </p:spPr>
        <p:txBody>
          <a:bodyPr wrap="square" lIns="0" rIns="0" tIns="0" bIns="0" anchor="ctr">
            <a:spAutoFit/>
          </a:bodyPr>
          <a:lstStyle/>
          <a:p>
            <a:pPr algn="l"/>
            <a:r>
              <a:rPr sz="900" b="0" i="0">
                <a:solidFill>
                  <a:srgbClr val="5A3A47"/>
                </a:solidFill>
                <a:latin typeface="Calibri"/>
              </a:rPr>
              <a:t>Table: github.com/mtariqi/dpsc-wls-validation/results/WLS_cross_dataset_summary.csv  |  Per-dataset tests: results/&lt;GEO&gt;/WLS_tests.csv</a:t>
            </a:r>
          </a:p>
        </p:txBody>
      </p:sp>
      <p:graphicFrame>
        <p:nvGraphicFramePr>
          <p:cNvPr id="6" name="Table 5"/>
          <p:cNvGraphicFramePr>
            <a:graphicFrameLocks noGrp="1"/>
          </p:cNvGraphicFramePr>
          <p:nvPr/>
        </p:nvGraphicFramePr>
        <p:xfrm>
          <a:off x="457200" y="1325880"/>
          <a:ext cx="8229600" cy="1600200"/>
        </p:xfrm>
        <a:graphic>
          <a:graphicData uri="http://schemas.openxmlformats.org/drawingml/2006/table">
            <a:tbl>
              <a:tblPr firstRow="1" bandRow="1">
                <a:tableStyleId>{5C22544A-7EE6-4342-B048-85BDC9FD1C3A}</a:tableStyleId>
              </a:tblPr>
              <a:tblGrid>
                <a:gridCol w="960120"/>
                <a:gridCol w="1965960"/>
                <a:gridCol w="640080"/>
                <a:gridCol w="685800"/>
                <a:gridCol w="960120"/>
                <a:gridCol w="640080"/>
                <a:gridCol w="2377440"/>
              </a:tblGrid>
              <a:tr h="320040">
                <a:tc>
                  <a:txBody>
                    <a:bodyPr/>
                    <a:lstStyle/>
                    <a:p>
                      <a:pPr algn="l"/>
                      <a:r>
                        <a:rPr sz="1100" b="1">
                          <a:solidFill>
                            <a:srgbClr val="FFFFFF"/>
                          </a:solidFill>
                          <a:latin typeface="Calibri"/>
                        </a:rPr>
                        <a:t>Dataset</a:t>
                      </a:r>
                    </a:p>
                  </a:txBody>
                  <a:tcPr marL="73152" marR="73152" marT="36576" marB="36576" anchor="ctr">
                    <a:solidFill>
                      <a:srgbClr val="6A1B3A"/>
                    </a:solidFill>
                  </a:tcPr>
                </a:tc>
                <a:tc>
                  <a:txBody>
                    <a:bodyPr/>
                    <a:lstStyle/>
                    <a:p>
                      <a:pPr algn="l"/>
                      <a:r>
                        <a:rPr sz="1100" b="1">
                          <a:solidFill>
                            <a:srgbClr val="FFFFFF"/>
                          </a:solidFill>
                          <a:latin typeface="Calibri"/>
                        </a:rPr>
                        <a:t>Sample</a:t>
                      </a:r>
                    </a:p>
                  </a:txBody>
                  <a:tcPr marL="73152" marR="73152" marT="36576" marB="36576" anchor="ctr">
                    <a:solidFill>
                      <a:srgbClr val="6A1B3A"/>
                    </a:solidFill>
                  </a:tcPr>
                </a:tc>
                <a:tc>
                  <a:txBody>
                    <a:bodyPr/>
                    <a:lstStyle/>
                    <a:p>
                      <a:pPr algn="ctr"/>
                      <a:r>
                        <a:rPr sz="1100" b="1">
                          <a:solidFill>
                            <a:srgbClr val="FFFFFF"/>
                          </a:solidFill>
                          <a:latin typeface="Calibri"/>
                        </a:rPr>
                        <a:t>DPSCs</a:t>
                      </a:r>
                    </a:p>
                  </a:txBody>
                  <a:tcPr marL="73152" marR="73152" marT="36576" marB="36576" anchor="ctr">
                    <a:solidFill>
                      <a:srgbClr val="6A1B3A"/>
                    </a:solidFill>
                  </a:tcPr>
                </a:tc>
                <a:tc>
                  <a:txBody>
                    <a:bodyPr/>
                    <a:lstStyle/>
                    <a:p>
                      <a:pPr algn="ctr"/>
                      <a:r>
                        <a:rPr sz="1100" b="1">
                          <a:solidFill>
                            <a:srgbClr val="FFFFFF"/>
                          </a:solidFill>
                          <a:latin typeface="Calibri"/>
                        </a:rPr>
                        <a:t>% WLS⁺</a:t>
                      </a:r>
                    </a:p>
                    <a:p>
                      <a:pPr algn="ctr"/>
                      <a:r>
                        <a:rPr sz="1100" b="1">
                          <a:solidFill>
                            <a:srgbClr val="FFFFFF"/>
                          </a:solidFill>
                          <a:latin typeface="Calibri"/>
                        </a:rPr>
                        <a:t>DPSC</a:t>
                      </a:r>
                    </a:p>
                  </a:txBody>
                  <a:tcPr marL="73152" marR="73152" marT="36576" marB="36576" anchor="ctr">
                    <a:solidFill>
                      <a:srgbClr val="6A1B3A"/>
                    </a:solidFill>
                  </a:tcPr>
                </a:tc>
                <a:tc>
                  <a:txBody>
                    <a:bodyPr/>
                    <a:lstStyle/>
                    <a:p>
                      <a:pPr algn="ctr"/>
                      <a:r>
                        <a:rPr sz="1100" b="1">
                          <a:solidFill>
                            <a:srgbClr val="FFFFFF"/>
                          </a:solidFill>
                          <a:latin typeface="Calibri"/>
                        </a:rPr>
                        <a:t>% WLS⁺</a:t>
                      </a:r>
                    </a:p>
                    <a:p>
                      <a:pPr algn="ctr"/>
                      <a:r>
                        <a:rPr sz="1100" b="1">
                          <a:solidFill>
                            <a:srgbClr val="FFFFFF"/>
                          </a:solidFill>
                          <a:latin typeface="Calibri"/>
                        </a:rPr>
                        <a:t>comparison</a:t>
                      </a:r>
                    </a:p>
                  </a:txBody>
                  <a:tcPr marL="73152" marR="73152" marT="36576" marB="36576" anchor="ctr">
                    <a:solidFill>
                      <a:srgbClr val="6A1B3A"/>
                    </a:solidFill>
                  </a:tcPr>
                </a:tc>
                <a:tc>
                  <a:txBody>
                    <a:bodyPr/>
                    <a:lstStyle/>
                    <a:p>
                      <a:pPr algn="ctr"/>
                      <a:r>
                        <a:rPr sz="1100" b="1">
                          <a:solidFill>
                            <a:srgbClr val="FFFFFF"/>
                          </a:solidFill>
                          <a:latin typeface="Calibri"/>
                        </a:rPr>
                        <a:t>log2FC</a:t>
                      </a:r>
                    </a:p>
                  </a:txBody>
                  <a:tcPr marL="73152" marR="73152" marT="36576" marB="36576" anchor="ctr">
                    <a:solidFill>
                      <a:srgbClr val="6A1B3A"/>
                    </a:solidFill>
                  </a:tcPr>
                </a:tc>
                <a:tc>
                  <a:txBody>
                    <a:bodyPr/>
                    <a:lstStyle/>
                    <a:p>
                      <a:pPr algn="l"/>
                      <a:r>
                        <a:rPr sz="1100" b="1">
                          <a:solidFill>
                            <a:srgbClr val="FFFFFF"/>
                          </a:solidFill>
                          <a:latin typeface="Calibri"/>
                        </a:rPr>
                        <a:t>Statistics</a:t>
                      </a:r>
                    </a:p>
                  </a:txBody>
                  <a:tcPr marL="73152" marR="73152" marT="36576" marB="36576" anchor="ctr">
                    <a:solidFill>
                      <a:srgbClr val="6A1B3A"/>
                    </a:solidFill>
                  </a:tcPr>
                </a:tc>
              </a:tr>
              <a:tr h="320040">
                <a:tc>
                  <a:txBody>
                    <a:bodyPr/>
                    <a:lstStyle/>
                    <a:p>
                      <a:pPr algn="l"/>
                      <a:r>
                        <a:rPr sz="1200" b="0">
                          <a:solidFill>
                            <a:srgbClr val="1F2A33"/>
                          </a:solidFill>
                          <a:latin typeface="Calibri"/>
                        </a:rPr>
                        <a:t>GSE164157</a:t>
                      </a:r>
                    </a:p>
                  </a:txBody>
                  <a:tcPr marL="73152" marR="73152" marT="36576" marB="36576" anchor="ctr">
                    <a:solidFill>
                      <a:srgbClr val="FFFFFF"/>
                    </a:solidFill>
                  </a:tcPr>
                </a:tc>
                <a:tc>
                  <a:txBody>
                    <a:bodyPr/>
                    <a:lstStyle/>
                    <a:p>
                      <a:pPr algn="l"/>
                      <a:r>
                        <a:rPr sz="1200" b="0">
                          <a:solidFill>
                            <a:srgbClr val="1F2A33"/>
                          </a:solidFill>
                          <a:latin typeface="Calibri"/>
                        </a:rPr>
                        <a:t>Fresh pulp, 5 donors</a:t>
                      </a:r>
                    </a:p>
                  </a:txBody>
                  <a:tcPr marL="73152" marR="73152" marT="36576" marB="36576" anchor="ctr">
                    <a:solidFill>
                      <a:srgbClr val="FFFFFF"/>
                    </a:solidFill>
                  </a:tcPr>
                </a:tc>
                <a:tc>
                  <a:txBody>
                    <a:bodyPr/>
                    <a:lstStyle/>
                    <a:p>
                      <a:pPr algn="ctr"/>
                      <a:r>
                        <a:rPr sz="1200" b="0">
                          <a:solidFill>
                            <a:srgbClr val="1F2A33"/>
                          </a:solidFill>
                          <a:latin typeface="Calibri"/>
                        </a:rPr>
                        <a:t>2,847</a:t>
                      </a:r>
                    </a:p>
                  </a:txBody>
                  <a:tcPr marL="73152" marR="73152" marT="36576" marB="36576" anchor="ctr">
                    <a:solidFill>
                      <a:srgbClr val="FFFFFF"/>
                    </a:solidFill>
                  </a:tcPr>
                </a:tc>
                <a:tc>
                  <a:txBody>
                    <a:bodyPr/>
                    <a:lstStyle/>
                    <a:p>
                      <a:pPr algn="ctr"/>
                      <a:r>
                        <a:rPr sz="1200" b="0">
                          <a:solidFill>
                            <a:srgbClr val="1F2A33"/>
                          </a:solidFill>
                          <a:latin typeface="Calibri"/>
                        </a:rPr>
                        <a:t>11.1</a:t>
                      </a:r>
                    </a:p>
                  </a:txBody>
                  <a:tcPr marL="73152" marR="73152" marT="36576" marB="36576" anchor="ctr">
                    <a:solidFill>
                      <a:srgbClr val="FFFFFF"/>
                    </a:solidFill>
                  </a:tcPr>
                </a:tc>
                <a:tc>
                  <a:txBody>
                    <a:bodyPr/>
                    <a:lstStyle/>
                    <a:p>
                      <a:pPr algn="ctr"/>
                      <a:r>
                        <a:rPr sz="1200" b="0">
                          <a:solidFill>
                            <a:srgbClr val="1F2A33"/>
                          </a:solidFill>
                          <a:latin typeface="Calibri"/>
                        </a:rPr>
                        <a:t>pulp avg.</a:t>
                      </a:r>
                    </a:p>
                  </a:txBody>
                  <a:tcPr marL="73152" marR="73152" marT="36576" marB="36576" anchor="ctr">
                    <a:solidFill>
                      <a:srgbClr val="FFFFFF"/>
                    </a:solidFill>
                  </a:tcPr>
                </a:tc>
                <a:tc>
                  <a:txBody>
                    <a:bodyPr/>
                    <a:lstStyle/>
                    <a:p>
                      <a:pPr algn="ctr"/>
                      <a:r>
                        <a:rPr sz="1200" b="1">
                          <a:solidFill>
                            <a:srgbClr val="B03A5B"/>
                          </a:solidFill>
                          <a:latin typeface="Calibri"/>
                        </a:rPr>
                        <a:t>−0.14</a:t>
                      </a:r>
                    </a:p>
                  </a:txBody>
                  <a:tcPr marL="73152" marR="73152" marT="36576" marB="36576" anchor="ctr">
                    <a:solidFill>
                      <a:srgbClr val="FFFFFF"/>
                    </a:solidFill>
                  </a:tcPr>
                </a:tc>
                <a:tc>
                  <a:txBody>
                    <a:bodyPr/>
                    <a:lstStyle/>
                    <a:p>
                      <a:pPr algn="l"/>
                      <a:r>
                        <a:rPr sz="1200" b="0">
                          <a:solidFill>
                            <a:srgbClr val="1F2A33"/>
                          </a:solidFill>
                          <a:latin typeface="Calibri"/>
                        </a:rPr>
                        <a:t>Pseudobulk, FDR 0.57</a:t>
                      </a:r>
                    </a:p>
                  </a:txBody>
                  <a:tcPr marL="73152" marR="73152" marT="36576" marB="36576" anchor="ctr">
                    <a:solidFill>
                      <a:srgbClr val="FFFFFF"/>
                    </a:solidFill>
                  </a:tcPr>
                </a:tc>
              </a:tr>
              <a:tr h="320040">
                <a:tc>
                  <a:txBody>
                    <a:bodyPr/>
                    <a:lstStyle/>
                    <a:p>
                      <a:pPr algn="l"/>
                      <a:r>
                        <a:rPr sz="1200" b="0">
                          <a:solidFill>
                            <a:srgbClr val="1F2A33"/>
                          </a:solidFill>
                          <a:latin typeface="Calibri"/>
                        </a:rPr>
                        <a:t>GSE202476</a:t>
                      </a:r>
                    </a:p>
                  </a:txBody>
                  <a:tcPr marL="73152" marR="73152" marT="36576" marB="36576" anchor="ctr">
                    <a:solidFill>
                      <a:srgbClr val="F4F6F7"/>
                    </a:solidFill>
                  </a:tcPr>
                </a:tc>
                <a:tc>
                  <a:txBody>
                    <a:bodyPr/>
                    <a:lstStyle/>
                    <a:p>
                      <a:pPr algn="l"/>
                      <a:r>
                        <a:rPr sz="1200" b="0">
                          <a:solidFill>
                            <a:srgbClr val="1F2A33"/>
                          </a:solidFill>
                          <a:latin typeface="Calibri"/>
                        </a:rPr>
                        <a:t>Fresh pulp, 13-year-old</a:t>
                      </a:r>
                    </a:p>
                  </a:txBody>
                  <a:tcPr marL="73152" marR="73152" marT="36576" marB="36576" anchor="ctr">
                    <a:solidFill>
                      <a:srgbClr val="F4F6F7"/>
                    </a:solidFill>
                  </a:tcPr>
                </a:tc>
                <a:tc>
                  <a:txBody>
                    <a:bodyPr/>
                    <a:lstStyle/>
                    <a:p>
                      <a:pPr algn="ctr"/>
                      <a:r>
                        <a:rPr sz="1200" b="0">
                          <a:solidFill>
                            <a:srgbClr val="1F2A33"/>
                          </a:solidFill>
                          <a:latin typeface="Calibri"/>
                        </a:rPr>
                        <a:t>1,011</a:t>
                      </a:r>
                    </a:p>
                  </a:txBody>
                  <a:tcPr marL="73152" marR="73152" marT="36576" marB="36576" anchor="ctr">
                    <a:solidFill>
                      <a:srgbClr val="F4F6F7"/>
                    </a:solidFill>
                  </a:tcPr>
                </a:tc>
                <a:tc>
                  <a:txBody>
                    <a:bodyPr/>
                    <a:lstStyle/>
                    <a:p>
                      <a:pPr algn="ctr"/>
                      <a:r>
                        <a:rPr sz="1200" b="0">
                          <a:solidFill>
                            <a:srgbClr val="1F2A33"/>
                          </a:solidFill>
                          <a:latin typeface="Calibri"/>
                        </a:rPr>
                        <a:t>33.8</a:t>
                      </a:r>
                    </a:p>
                  </a:txBody>
                  <a:tcPr marL="73152" marR="73152" marT="36576" marB="36576" anchor="ctr">
                    <a:solidFill>
                      <a:srgbClr val="F4F6F7"/>
                    </a:solidFill>
                  </a:tcPr>
                </a:tc>
                <a:tc>
                  <a:txBody>
                    <a:bodyPr/>
                    <a:lstStyle/>
                    <a:p>
                      <a:pPr algn="ctr"/>
                      <a:r>
                        <a:rPr sz="1200" b="0">
                          <a:solidFill>
                            <a:srgbClr val="1F2A33"/>
                          </a:solidFill>
                          <a:latin typeface="Calibri"/>
                        </a:rPr>
                        <a:t>36.7</a:t>
                      </a:r>
                    </a:p>
                  </a:txBody>
                  <a:tcPr marL="73152" marR="73152" marT="36576" marB="36576" anchor="ctr">
                    <a:solidFill>
                      <a:srgbClr val="F4F6F7"/>
                    </a:solidFill>
                  </a:tcPr>
                </a:tc>
                <a:tc>
                  <a:txBody>
                    <a:bodyPr/>
                    <a:lstStyle/>
                    <a:p>
                      <a:pPr algn="ctr"/>
                      <a:r>
                        <a:rPr sz="1200" b="1">
                          <a:solidFill>
                            <a:srgbClr val="B03A5B"/>
                          </a:solidFill>
                          <a:latin typeface="Calibri"/>
                        </a:rPr>
                        <a:t>−0.16</a:t>
                      </a:r>
                    </a:p>
                  </a:txBody>
                  <a:tcPr marL="73152" marR="73152" marT="36576" marB="36576" anchor="ctr">
                    <a:solidFill>
                      <a:srgbClr val="F4F6F7"/>
                    </a:solidFill>
                  </a:tcPr>
                </a:tc>
                <a:tc>
                  <a:txBody>
                    <a:bodyPr/>
                    <a:lstStyle/>
                    <a:p>
                      <a:pPr algn="l"/>
                      <a:r>
                        <a:rPr sz="1200" b="0">
                          <a:solidFill>
                            <a:srgbClr val="1F2A33"/>
                          </a:solidFill>
                          <a:latin typeface="Calibri"/>
                        </a:rPr>
                        <a:t>Descriptive, 1 donor</a:t>
                      </a:r>
                    </a:p>
                  </a:txBody>
                  <a:tcPr marL="73152" marR="73152" marT="36576" marB="36576" anchor="ctr">
                    <a:solidFill>
                      <a:srgbClr val="F4F6F7"/>
                    </a:solidFill>
                  </a:tcPr>
                </a:tc>
              </a:tr>
              <a:tr h="320040">
                <a:tc>
                  <a:txBody>
                    <a:bodyPr/>
                    <a:lstStyle/>
                    <a:p>
                      <a:pPr algn="l"/>
                      <a:r>
                        <a:rPr sz="1200" b="0">
                          <a:solidFill>
                            <a:srgbClr val="1F2A33"/>
                          </a:solidFill>
                          <a:latin typeface="Calibri"/>
                        </a:rPr>
                        <a:t>GSE185222</a:t>
                      </a:r>
                    </a:p>
                  </a:txBody>
                  <a:tcPr marL="73152" marR="73152" marT="36576" marB="36576" anchor="ctr">
                    <a:solidFill>
                      <a:srgbClr val="FFFFFF"/>
                    </a:solidFill>
                  </a:tcPr>
                </a:tc>
                <a:tc>
                  <a:txBody>
                    <a:bodyPr/>
                    <a:lstStyle/>
                    <a:p>
                      <a:pPr algn="l"/>
                      <a:r>
                        <a:rPr sz="1200" b="0">
                          <a:solidFill>
                            <a:srgbClr val="1F2A33"/>
                          </a:solidFill>
                          <a:latin typeface="Calibri"/>
                        </a:rPr>
                        <a:t>Fresh pulp, sound tooth</a:t>
                      </a:r>
                    </a:p>
                  </a:txBody>
                  <a:tcPr marL="73152" marR="73152" marT="36576" marB="36576" anchor="ctr">
                    <a:solidFill>
                      <a:srgbClr val="FFFFFF"/>
                    </a:solidFill>
                  </a:tcPr>
                </a:tc>
                <a:tc>
                  <a:txBody>
                    <a:bodyPr/>
                    <a:lstStyle/>
                    <a:p>
                      <a:pPr algn="ctr"/>
                      <a:r>
                        <a:rPr sz="1200" b="0">
                          <a:solidFill>
                            <a:srgbClr val="1F2A33"/>
                          </a:solidFill>
                          <a:latin typeface="Calibri"/>
                        </a:rPr>
                        <a:t>122</a:t>
                      </a:r>
                    </a:p>
                  </a:txBody>
                  <a:tcPr marL="73152" marR="73152" marT="36576" marB="36576" anchor="ctr">
                    <a:solidFill>
                      <a:srgbClr val="FFFFFF"/>
                    </a:solidFill>
                  </a:tcPr>
                </a:tc>
                <a:tc>
                  <a:txBody>
                    <a:bodyPr/>
                    <a:lstStyle/>
                    <a:p>
                      <a:pPr algn="ctr"/>
                      <a:r>
                        <a:rPr sz="1200" b="0">
                          <a:solidFill>
                            <a:srgbClr val="1F2A33"/>
                          </a:solidFill>
                          <a:latin typeface="Calibri"/>
                        </a:rPr>
                        <a:t>14.8</a:t>
                      </a:r>
                    </a:p>
                  </a:txBody>
                  <a:tcPr marL="73152" marR="73152" marT="36576" marB="36576" anchor="ctr">
                    <a:solidFill>
                      <a:srgbClr val="FFFFFF"/>
                    </a:solidFill>
                  </a:tcPr>
                </a:tc>
                <a:tc>
                  <a:txBody>
                    <a:bodyPr/>
                    <a:lstStyle/>
                    <a:p>
                      <a:pPr algn="ctr"/>
                      <a:r>
                        <a:rPr sz="1200" b="0">
                          <a:solidFill>
                            <a:srgbClr val="1F2A33"/>
                          </a:solidFill>
                          <a:latin typeface="Calibri"/>
                        </a:rPr>
                        <a:t>16.9</a:t>
                      </a:r>
                    </a:p>
                  </a:txBody>
                  <a:tcPr marL="73152" marR="73152" marT="36576" marB="36576" anchor="ctr">
                    <a:solidFill>
                      <a:srgbClr val="FFFFFF"/>
                    </a:solidFill>
                  </a:tcPr>
                </a:tc>
                <a:tc>
                  <a:txBody>
                    <a:bodyPr/>
                    <a:lstStyle/>
                    <a:p>
                      <a:pPr algn="ctr"/>
                      <a:r>
                        <a:rPr sz="1200" b="1">
                          <a:solidFill>
                            <a:srgbClr val="B03A5B"/>
                          </a:solidFill>
                          <a:latin typeface="Calibri"/>
                        </a:rPr>
                        <a:t>+0.21</a:t>
                      </a:r>
                    </a:p>
                  </a:txBody>
                  <a:tcPr marL="73152" marR="73152" marT="36576" marB="36576" anchor="ctr">
                    <a:solidFill>
                      <a:srgbClr val="FFFFFF"/>
                    </a:solidFill>
                  </a:tcPr>
                </a:tc>
                <a:tc>
                  <a:txBody>
                    <a:bodyPr/>
                    <a:lstStyle/>
                    <a:p>
                      <a:pPr algn="l"/>
                      <a:r>
                        <a:rPr sz="1200" b="0">
                          <a:solidFill>
                            <a:srgbClr val="1F2A33"/>
                          </a:solidFill>
                          <a:latin typeface="Calibri"/>
                        </a:rPr>
                        <a:t>Descriptive, 1 donor</a:t>
                      </a:r>
                    </a:p>
                  </a:txBody>
                  <a:tcPr marL="73152" marR="73152" marT="36576" marB="36576" anchor="ctr">
                    <a:solidFill>
                      <a:srgbClr val="FFFFFF"/>
                    </a:solidFill>
                  </a:tcPr>
                </a:tc>
              </a:tr>
              <a:tr h="320040">
                <a:tc>
                  <a:txBody>
                    <a:bodyPr/>
                    <a:lstStyle/>
                    <a:p>
                      <a:pPr algn="l"/>
                      <a:r>
                        <a:rPr sz="1200" b="0">
                          <a:solidFill>
                            <a:srgbClr val="1F2A33"/>
                          </a:solidFill>
                          <a:latin typeface="Calibri"/>
                        </a:rPr>
                        <a:t>GSE227731</a:t>
                      </a:r>
                    </a:p>
                  </a:txBody>
                  <a:tcPr marL="73152" marR="73152" marT="36576" marB="36576" anchor="ctr">
                    <a:solidFill>
                      <a:srgbClr val="F4F6F7"/>
                    </a:solidFill>
                  </a:tcPr>
                </a:tc>
                <a:tc>
                  <a:txBody>
                    <a:bodyPr/>
                    <a:lstStyle/>
                    <a:p>
                      <a:pPr algn="l"/>
                      <a:r>
                        <a:rPr sz="1200" b="0">
                          <a:solidFill>
                            <a:srgbClr val="1F2A33"/>
                          </a:solidFill>
                          <a:latin typeface="Calibri"/>
                        </a:rPr>
                        <a:t>Stem cells: DPSC vs PDLSC</a:t>
                      </a:r>
                    </a:p>
                  </a:txBody>
                  <a:tcPr marL="73152" marR="73152" marT="36576" marB="36576" anchor="ctr">
                    <a:solidFill>
                      <a:srgbClr val="F4F6F7"/>
                    </a:solidFill>
                  </a:tcPr>
                </a:tc>
                <a:tc>
                  <a:txBody>
                    <a:bodyPr/>
                    <a:lstStyle/>
                    <a:p>
                      <a:pPr algn="ctr"/>
                      <a:r>
                        <a:rPr sz="1200" b="0">
                          <a:solidFill>
                            <a:srgbClr val="1F2A33"/>
                          </a:solidFill>
                          <a:latin typeface="Calibri"/>
                        </a:rPr>
                        <a:t>2,150</a:t>
                      </a:r>
                    </a:p>
                  </a:txBody>
                  <a:tcPr marL="73152" marR="73152" marT="36576" marB="36576" anchor="ctr">
                    <a:solidFill>
                      <a:srgbClr val="F4F6F7"/>
                    </a:solidFill>
                  </a:tcPr>
                </a:tc>
                <a:tc>
                  <a:txBody>
                    <a:bodyPr/>
                    <a:lstStyle/>
                    <a:p>
                      <a:pPr algn="ctr"/>
                      <a:r>
                        <a:rPr sz="1200" b="0">
                          <a:solidFill>
                            <a:srgbClr val="1F2A33"/>
                          </a:solidFill>
                          <a:latin typeface="Calibri"/>
                        </a:rPr>
                        <a:t>69.5</a:t>
                      </a:r>
                    </a:p>
                  </a:txBody>
                  <a:tcPr marL="73152" marR="73152" marT="36576" marB="36576" anchor="ctr">
                    <a:solidFill>
                      <a:srgbClr val="F4F6F7"/>
                    </a:solidFill>
                  </a:tcPr>
                </a:tc>
                <a:tc>
                  <a:txBody>
                    <a:bodyPr/>
                    <a:lstStyle/>
                    <a:p>
                      <a:pPr algn="ctr"/>
                      <a:r>
                        <a:rPr sz="1200" b="0">
                          <a:solidFill>
                            <a:srgbClr val="1F2A33"/>
                          </a:solidFill>
                          <a:latin typeface="Calibri"/>
                        </a:rPr>
                        <a:t>83.7 (PDLSC)</a:t>
                      </a:r>
                    </a:p>
                  </a:txBody>
                  <a:tcPr marL="73152" marR="73152" marT="36576" marB="36576" anchor="ctr">
                    <a:solidFill>
                      <a:srgbClr val="F4F6F7"/>
                    </a:solidFill>
                  </a:tcPr>
                </a:tc>
                <a:tc>
                  <a:txBody>
                    <a:bodyPr/>
                    <a:lstStyle/>
                    <a:p>
                      <a:pPr algn="ctr"/>
                      <a:r>
                        <a:rPr sz="1200" b="1">
                          <a:solidFill>
                            <a:srgbClr val="B03A5B"/>
                          </a:solidFill>
                          <a:latin typeface="Calibri"/>
                        </a:rPr>
                        <a:t>−0.72</a:t>
                      </a:r>
                    </a:p>
                  </a:txBody>
                  <a:tcPr marL="73152" marR="73152" marT="36576" marB="36576" anchor="ctr">
                    <a:solidFill>
                      <a:srgbClr val="F4F6F7"/>
                    </a:solidFill>
                  </a:tcPr>
                </a:tc>
                <a:tc>
                  <a:txBody>
                    <a:bodyPr/>
                    <a:lstStyle/>
                    <a:p>
                      <a:pPr algn="l"/>
                      <a:r>
                        <a:rPr sz="1200" b="0">
                          <a:solidFill>
                            <a:srgbClr val="1F2A33"/>
                          </a:solidFill>
                          <a:latin typeface="Calibri"/>
                        </a:rPr>
                        <a:t>Descriptive, 1 library each</a:t>
                      </a:r>
                    </a:p>
                  </a:txBody>
                  <a:tcPr marL="73152" marR="73152" marT="36576" marB="36576" anchor="ctr">
                    <a:solidFill>
                      <a:srgbClr val="F4F6F7"/>
                    </a:solidFill>
                  </a:tcPr>
                </a:tc>
              </a:tr>
            </a:tbl>
          </a:graphicData>
        </a:graphic>
      </p:graphicFrame>
      <p:sp>
        <p:nvSpPr>
          <p:cNvPr id="7" name="Note card"/>
          <p:cNvSpPr/>
          <p:nvPr/>
        </p:nvSpPr>
        <p:spPr>
          <a:xfrm>
            <a:off x="457200" y="3291840"/>
            <a:ext cx="8229600" cy="82296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te"/>
          <p:cNvSpPr txBox="1"/>
          <p:nvPr/>
        </p:nvSpPr>
        <p:spPr>
          <a:xfrm>
            <a:off x="640080" y="3383280"/>
            <a:ext cx="7863840" cy="640080"/>
          </a:xfrm>
          <a:prstGeom prst="rect">
            <a:avLst/>
          </a:prstGeom>
          <a:noFill/>
        </p:spPr>
        <p:txBody>
          <a:bodyPr wrap="square" lIns="0" rIns="0" tIns="0" bIns="0" anchor="ctr">
            <a:spAutoFit/>
          </a:bodyPr>
          <a:lstStyle/>
          <a:p>
            <a:pPr algn="l"/>
            <a:r>
              <a:rPr sz="1200" b="1" i="0">
                <a:solidFill>
                  <a:srgbClr val="1F2A33"/>
                </a:solidFill>
                <a:latin typeface="Calibri"/>
              </a:rPr>
              <a:t>No dataset shows enrichment. </a:t>
            </a:r>
            <a:r>
              <a:rPr sz="1200" b="0" i="0">
                <a:solidFill>
                  <a:srgbClr val="1F2A33"/>
                </a:solidFill>
                <a:latin typeface="Calibri"/>
              </a:rPr>
              <a:t>log2FC is DPSC vs all other cells (vs PDLSC for GSE227731); positive = higher in DPSCs. Compare within a row: % WLS⁺ varies between datasets with depth, chemistry and culture.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57200" y="274320"/>
            <a:ext cx="8229600" cy="548640"/>
          </a:xfrm>
          <a:prstGeom prst="rect">
            <a:avLst/>
          </a:prstGeom>
          <a:noFill/>
        </p:spPr>
        <p:txBody>
          <a:bodyPr wrap="square" lIns="0" rIns="0" tIns="0" bIns="0" anchor="ctr">
            <a:spAutoFit/>
          </a:bodyPr>
          <a:lstStyle/>
          <a:p>
            <a:pPr algn="l"/>
            <a:r>
              <a:rPr sz="2800" b="1" i="0">
                <a:solidFill>
                  <a:srgbClr val="6A1B3A"/>
                </a:solidFill>
                <a:latin typeface="Cambria"/>
              </a:rPr>
              <a:t>Fibroblasts, not DPSCs, lead WLS expression</a:t>
            </a:r>
          </a:p>
        </p:txBody>
      </p:sp>
      <p:sp>
        <p:nvSpPr>
          <p:cNvPr id="3" name="Subtitle"/>
          <p:cNvSpPr txBox="1"/>
          <p:nvPr/>
        </p:nvSpPr>
        <p:spPr>
          <a:xfrm>
            <a:off x="457200" y="822960"/>
            <a:ext cx="8229600" cy="320040"/>
          </a:xfrm>
          <a:prstGeom prst="rect">
            <a:avLst/>
          </a:prstGeom>
          <a:noFill/>
        </p:spPr>
        <p:txBody>
          <a:bodyPr wrap="square" lIns="0" rIns="0" tIns="0" bIns="0" anchor="ctr">
            <a:spAutoFit/>
          </a:bodyPr>
          <a:lstStyle/>
          <a:p>
            <a:pPr algn="l"/>
            <a:r>
              <a:rPr sz="1300" b="0" i="1">
                <a:solidFill>
                  <a:srgbClr val="55606B"/>
                </a:solidFill>
                <a:latin typeface="Calibri"/>
              </a:rPr>
              <a:t>% of cells expressing WLS by cell type; candidate DPSCs in burgundy</a:t>
            </a:r>
          </a:p>
        </p:txBody>
      </p:sp>
      <p:sp>
        <p:nvSpPr>
          <p:cNvPr id="4" name="Footer box"/>
          <p:cNvSpPr/>
          <p:nvPr/>
        </p:nvSpPr>
        <p:spPr>
          <a:xfrm>
            <a:off x="457200" y="4645152"/>
            <a:ext cx="8229600" cy="310896"/>
          </a:xfrm>
          <a:prstGeom prst="rect">
            <a:avLst/>
          </a:prstGeom>
          <a:solidFill>
            <a:srgbClr val="F6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p:cNvSpPr txBox="1"/>
          <p:nvPr/>
        </p:nvSpPr>
        <p:spPr>
          <a:xfrm>
            <a:off x="566928" y="4645152"/>
            <a:ext cx="8046720" cy="310896"/>
          </a:xfrm>
          <a:prstGeom prst="rect">
            <a:avLst/>
          </a:prstGeom>
          <a:noFill/>
        </p:spPr>
        <p:txBody>
          <a:bodyPr wrap="square" lIns="0" rIns="0" tIns="0" bIns="0" anchor="ctr">
            <a:spAutoFit/>
          </a:bodyPr>
          <a:lstStyle/>
          <a:p>
            <a:pPr algn="l"/>
            <a:r>
              <a:rPr sz="900" b="0" i="0">
                <a:solidFill>
                  <a:srgbClr val="5A3A47"/>
                </a:solidFill>
                <a:latin typeface="Calibri"/>
              </a:rPr>
              <a:t>Tables: results/GSE202476/WLS_by_cell_type.csv, results/GSE185222/WLS_by_cell_type.csv, results/GSE227731/WLS_by_cell_type.csv, WLS_by_DPSC_subcluster.csv</a:t>
            </a:r>
          </a:p>
        </p:txBody>
      </p:sp>
      <p:graphicFrame>
        <p:nvGraphicFramePr>
          <p:cNvPr id="6" name="Chart GSE202476"/>
          <p:cNvGraphicFramePr>
            <a:graphicFrameLocks noGrp="1"/>
          </p:cNvGraphicFramePr>
          <p:nvPr/>
        </p:nvGraphicFramePr>
        <p:xfrm>
          <a:off x="365760" y="1188720"/>
          <a:ext cx="2834640" cy="3337560"/>
        </p:xfrm>
        <a:graphic>
          <a:graphicData uri="http://schemas.openxmlformats.org/drawingml/2006/chart">
            <c:chart xmlns:c="http://schemas.openxmlformats.org/drawingml/2006/chart" r:id="rId3"/>
          </a:graphicData>
        </a:graphic>
      </p:graphicFrame>
      <p:graphicFrame>
        <p:nvGraphicFramePr>
          <p:cNvPr id="7" name="Chart GSE185222"/>
          <p:cNvGraphicFramePr>
            <a:graphicFrameLocks noGrp="1"/>
          </p:cNvGraphicFramePr>
          <p:nvPr/>
        </p:nvGraphicFramePr>
        <p:xfrm>
          <a:off x="3200400" y="1188720"/>
          <a:ext cx="2834640" cy="3337560"/>
        </p:xfrm>
        <a:graphic>
          <a:graphicData uri="http://schemas.openxmlformats.org/drawingml/2006/chart">
            <c:chart xmlns:c="http://schemas.openxmlformats.org/drawingml/2006/chart" r:id="rId4"/>
          </a:graphicData>
        </a:graphic>
      </p:graphicFrame>
      <p:graphicFrame>
        <p:nvGraphicFramePr>
          <p:cNvPr id="8" name="Chart GSE227731"/>
          <p:cNvGraphicFramePr>
            <a:graphicFrameLocks noGrp="1"/>
          </p:cNvGraphicFramePr>
          <p:nvPr/>
        </p:nvGraphicFramePr>
        <p:xfrm>
          <a:off x="6035040" y="1188720"/>
          <a:ext cx="2651760" cy="1737360"/>
        </p:xfrm>
        <a:graphic>
          <a:graphicData uri="http://schemas.openxmlformats.org/drawingml/2006/chart">
            <c:chart xmlns:c="http://schemas.openxmlformats.org/drawingml/2006/chart" r:id="rId5"/>
          </a:graphicData>
        </a:graphic>
      </p:graphicFrame>
      <p:sp>
        <p:nvSpPr>
          <p:cNvPr id="9" name="Subcluster card"/>
          <p:cNvSpPr/>
          <p:nvPr/>
        </p:nvSpPr>
        <p:spPr>
          <a:xfrm>
            <a:off x="6126480" y="3063240"/>
            <a:ext cx="2560320" cy="141732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ubcluster note"/>
          <p:cNvSpPr txBox="1"/>
          <p:nvPr/>
        </p:nvSpPr>
        <p:spPr>
          <a:xfrm>
            <a:off x="6263640" y="3154680"/>
            <a:ext cx="2286000" cy="1234440"/>
          </a:xfrm>
          <a:prstGeom prst="rect">
            <a:avLst/>
          </a:prstGeom>
          <a:noFill/>
        </p:spPr>
        <p:txBody>
          <a:bodyPr wrap="square" lIns="0" rIns="0" tIns="0" bIns="0" anchor="t">
            <a:spAutoFit/>
          </a:bodyPr>
          <a:lstStyle/>
          <a:p>
            <a:pPr algn="l">
              <a:spcAft>
                <a:spcPts val="400"/>
              </a:spcAft>
            </a:pPr>
            <a:r>
              <a:rPr sz="1100" b="1" i="0">
                <a:solidFill>
                  <a:srgbClr val="1F2A33"/>
                </a:solidFill>
                <a:latin typeface="Calibri"/>
              </a:rPr>
              <a:t>No WLS-high DPSC subset</a:t>
            </a:r>
          </a:p>
          <a:p>
            <a:pPr algn="l"/>
            <a:r>
              <a:rPr sz="1100" b="0" i="0">
                <a:solidFill>
                  <a:srgbClr val="1F2A33"/>
                </a:solidFill>
                <a:latin typeface="Calibri"/>
              </a:rPr>
              <a:t>Main DPSC sub-clusters: 64–80% WLS⁺. One sub-cluster (187 cells) is WLS-low at 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57200" y="274320"/>
            <a:ext cx="8229600" cy="548640"/>
          </a:xfrm>
          <a:prstGeom prst="rect">
            <a:avLst/>
          </a:prstGeom>
          <a:noFill/>
        </p:spPr>
        <p:txBody>
          <a:bodyPr wrap="square" lIns="0" rIns="0" tIns="0" bIns="0" anchor="ctr">
            <a:spAutoFit/>
          </a:bodyPr>
          <a:lstStyle/>
          <a:p>
            <a:pPr algn="l"/>
            <a:r>
              <a:rPr sz="2800" b="1" i="0">
                <a:solidFill>
                  <a:srgbClr val="6A1B3A"/>
                </a:solidFill>
                <a:latin typeface="Cambria"/>
              </a:rPr>
              <a:t>Where WLS is detected</a:t>
            </a:r>
          </a:p>
        </p:txBody>
      </p:sp>
      <p:sp>
        <p:nvSpPr>
          <p:cNvPr id="3" name="Subtitle"/>
          <p:cNvSpPr txBox="1"/>
          <p:nvPr/>
        </p:nvSpPr>
        <p:spPr>
          <a:xfrm>
            <a:off x="457200" y="822960"/>
            <a:ext cx="8229600" cy="320040"/>
          </a:xfrm>
          <a:prstGeom prst="rect">
            <a:avLst/>
          </a:prstGeom>
          <a:noFill/>
        </p:spPr>
        <p:txBody>
          <a:bodyPr wrap="square" lIns="0" rIns="0" tIns="0" bIns="0" anchor="ctr">
            <a:spAutoFit/>
          </a:bodyPr>
          <a:lstStyle/>
          <a:p>
            <a:pPr algn="l"/>
            <a:r>
              <a:rPr sz="1300" b="0" i="1">
                <a:solidFill>
                  <a:srgbClr val="55606B"/>
                </a:solidFill>
                <a:latin typeface="Calibri"/>
              </a:rPr>
              <a:t>WLS expression on each validation dataset's UMAP (grey = not detected)</a:t>
            </a:r>
          </a:p>
        </p:txBody>
      </p:sp>
      <p:sp>
        <p:nvSpPr>
          <p:cNvPr id="4" name="Footer box"/>
          <p:cNvSpPr/>
          <p:nvPr/>
        </p:nvSpPr>
        <p:spPr>
          <a:xfrm>
            <a:off x="457200" y="4645152"/>
            <a:ext cx="8229600" cy="310896"/>
          </a:xfrm>
          <a:prstGeom prst="rect">
            <a:avLst/>
          </a:prstGeom>
          <a:solidFill>
            <a:srgbClr val="F6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p:cNvSpPr txBox="1"/>
          <p:nvPr/>
        </p:nvSpPr>
        <p:spPr>
          <a:xfrm>
            <a:off x="566928" y="4645152"/>
            <a:ext cx="8046720" cy="310896"/>
          </a:xfrm>
          <a:prstGeom prst="rect">
            <a:avLst/>
          </a:prstGeom>
          <a:noFill/>
        </p:spPr>
        <p:txBody>
          <a:bodyPr wrap="square" lIns="0" rIns="0" tIns="0" bIns="0" anchor="ctr">
            <a:spAutoFit/>
          </a:bodyPr>
          <a:lstStyle/>
          <a:p>
            <a:pPr algn="l"/>
            <a:r>
              <a:rPr sz="900" b="0" i="0">
                <a:solidFill>
                  <a:srgbClr val="5A3A47"/>
                </a:solidFill>
                <a:latin typeface="Calibri"/>
              </a:rPr>
              <a:t>Figures: results/GSE202476/WLS_umap.png, results/GSE185222/WLS_umap.png, results/GSE227731/WLS_umap.png  |  Script: scripts/03_WLS_analysis.R</a:t>
            </a:r>
          </a:p>
        </p:txBody>
      </p:sp>
      <p:pic>
        <p:nvPicPr>
          <p:cNvPr id="6" name="Picture 5" descr="WLS_umap.png"/>
          <p:cNvPicPr>
            <a:picLocks noChangeAspect="1"/>
          </p:cNvPicPr>
          <p:nvPr/>
        </p:nvPicPr>
        <p:blipFill>
          <a:blip r:embed="rId3"/>
          <a:stretch>
            <a:fillRect/>
          </a:stretch>
        </p:blipFill>
        <p:spPr>
          <a:xfrm>
            <a:off x="457200" y="1280160"/>
            <a:ext cx="2606040" cy="2171700"/>
          </a:xfrm>
          <a:prstGeom prst="rect">
            <a:avLst/>
          </a:prstGeom>
        </p:spPr>
      </p:pic>
      <p:sp>
        <p:nvSpPr>
          <p:cNvPr id="7" name="Caption GSE202476"/>
          <p:cNvSpPr txBox="1"/>
          <p:nvPr/>
        </p:nvSpPr>
        <p:spPr>
          <a:xfrm>
            <a:off x="457200" y="3566160"/>
            <a:ext cx="2606040" cy="457200"/>
          </a:xfrm>
          <a:prstGeom prst="rect">
            <a:avLst/>
          </a:prstGeom>
          <a:noFill/>
        </p:spPr>
        <p:txBody>
          <a:bodyPr wrap="square" lIns="0" rIns="0" tIns="0" bIns="0" anchor="t">
            <a:spAutoFit/>
          </a:bodyPr>
          <a:lstStyle/>
          <a:p>
            <a:pPr algn="ctr"/>
            <a:r>
              <a:rPr sz="1100" b="1" i="0">
                <a:solidFill>
                  <a:srgbClr val="1F2A33"/>
                </a:solidFill>
                <a:latin typeface="Calibri"/>
              </a:rPr>
              <a:t>GSE202476</a:t>
            </a:r>
          </a:p>
          <a:p>
            <a:pPr algn="ctr"/>
            <a:r>
              <a:rPr sz="1100" b="0" i="0">
                <a:solidFill>
                  <a:srgbClr val="55606B"/>
                </a:solidFill>
                <a:latin typeface="Calibri"/>
              </a:rPr>
              <a:t>Young tooth, 11,298 cells</a:t>
            </a:r>
          </a:p>
        </p:txBody>
      </p:sp>
      <p:pic>
        <p:nvPicPr>
          <p:cNvPr id="8" name="Picture 7" descr="WLS_umap.png"/>
          <p:cNvPicPr>
            <a:picLocks noChangeAspect="1"/>
          </p:cNvPicPr>
          <p:nvPr/>
        </p:nvPicPr>
        <p:blipFill>
          <a:blip r:embed="rId4"/>
          <a:stretch>
            <a:fillRect/>
          </a:stretch>
        </p:blipFill>
        <p:spPr>
          <a:xfrm>
            <a:off x="3246120" y="1280160"/>
            <a:ext cx="2606040" cy="2171700"/>
          </a:xfrm>
          <a:prstGeom prst="rect">
            <a:avLst/>
          </a:prstGeom>
        </p:spPr>
      </p:pic>
      <p:sp>
        <p:nvSpPr>
          <p:cNvPr id="9" name="Caption GSE185222"/>
          <p:cNvSpPr txBox="1"/>
          <p:nvPr/>
        </p:nvSpPr>
        <p:spPr>
          <a:xfrm>
            <a:off x="3246120" y="3566160"/>
            <a:ext cx="2606040" cy="457200"/>
          </a:xfrm>
          <a:prstGeom prst="rect">
            <a:avLst/>
          </a:prstGeom>
          <a:noFill/>
        </p:spPr>
        <p:txBody>
          <a:bodyPr wrap="square" lIns="0" rIns="0" tIns="0" bIns="0" anchor="t">
            <a:spAutoFit/>
          </a:bodyPr>
          <a:lstStyle/>
          <a:p>
            <a:pPr algn="ctr"/>
            <a:r>
              <a:rPr sz="1100" b="1" i="0">
                <a:solidFill>
                  <a:srgbClr val="1F2A33"/>
                </a:solidFill>
                <a:latin typeface="Calibri"/>
              </a:rPr>
              <a:t>GSE185222</a:t>
            </a:r>
          </a:p>
          <a:p>
            <a:pPr algn="ctr"/>
            <a:r>
              <a:rPr sz="1100" b="0" i="0">
                <a:solidFill>
                  <a:srgbClr val="55606B"/>
                </a:solidFill>
                <a:latin typeface="Calibri"/>
              </a:rPr>
              <a:t>Sound tooth (DTP_01), 887 cells</a:t>
            </a:r>
          </a:p>
        </p:txBody>
      </p:sp>
      <p:pic>
        <p:nvPicPr>
          <p:cNvPr id="10" name="Picture 9" descr="WLS_umap.png"/>
          <p:cNvPicPr>
            <a:picLocks noChangeAspect="1"/>
          </p:cNvPicPr>
          <p:nvPr/>
        </p:nvPicPr>
        <p:blipFill>
          <a:blip r:embed="rId5"/>
          <a:stretch>
            <a:fillRect/>
          </a:stretch>
        </p:blipFill>
        <p:spPr>
          <a:xfrm>
            <a:off x="6035040" y="1280160"/>
            <a:ext cx="2606040" cy="2171700"/>
          </a:xfrm>
          <a:prstGeom prst="rect">
            <a:avLst/>
          </a:prstGeom>
        </p:spPr>
      </p:pic>
      <p:sp>
        <p:nvSpPr>
          <p:cNvPr id="11" name="Caption GSE227731"/>
          <p:cNvSpPr txBox="1"/>
          <p:nvPr/>
        </p:nvSpPr>
        <p:spPr>
          <a:xfrm>
            <a:off x="6035040" y="3566160"/>
            <a:ext cx="2606040" cy="457200"/>
          </a:xfrm>
          <a:prstGeom prst="rect">
            <a:avLst/>
          </a:prstGeom>
          <a:noFill/>
        </p:spPr>
        <p:txBody>
          <a:bodyPr wrap="square" lIns="0" rIns="0" tIns="0" bIns="0" anchor="t">
            <a:spAutoFit/>
          </a:bodyPr>
          <a:lstStyle/>
          <a:p>
            <a:pPr algn="ctr"/>
            <a:r>
              <a:rPr sz="1100" b="1" i="0">
                <a:solidFill>
                  <a:srgbClr val="1F2A33"/>
                </a:solidFill>
                <a:latin typeface="Calibri"/>
              </a:rPr>
              <a:t>GSE227731</a:t>
            </a:r>
          </a:p>
          <a:p>
            <a:pPr algn="ctr"/>
            <a:r>
              <a:rPr sz="1100" b="0" i="0">
                <a:solidFill>
                  <a:srgbClr val="55606B"/>
                </a:solidFill>
                <a:latin typeface="Calibri"/>
              </a:rPr>
              <a:t>DPSCs + PDLSCs, 4,015 cells</a:t>
            </a:r>
          </a:p>
        </p:txBody>
      </p:sp>
      <p:sp>
        <p:nvSpPr>
          <p:cNvPr id="12" name="Takeaway"/>
          <p:cNvSpPr txBox="1"/>
          <p:nvPr/>
        </p:nvSpPr>
        <p:spPr>
          <a:xfrm>
            <a:off x="457200" y="4160520"/>
            <a:ext cx="8229600" cy="320040"/>
          </a:xfrm>
          <a:prstGeom prst="rect">
            <a:avLst/>
          </a:prstGeom>
          <a:noFill/>
        </p:spPr>
        <p:txBody>
          <a:bodyPr wrap="square" lIns="0" rIns="0" tIns="0" bIns="0" anchor="ctr">
            <a:spAutoFit/>
          </a:bodyPr>
          <a:lstStyle/>
          <a:p>
            <a:pPr algn="l"/>
            <a:r>
              <a:rPr sz="1200" b="1" i="0">
                <a:solidFill>
                  <a:srgbClr val="1F2A33"/>
                </a:solidFill>
                <a:latin typeface="Calibri"/>
              </a:rPr>
              <a:t>In pulp tissue the densest WLS signal is the fibroblast mass; </a:t>
            </a:r>
            <a:r>
              <a:rPr sz="1200" b="0" i="0">
                <a:solidFill>
                  <a:srgbClr val="1F2A33"/>
                </a:solidFill>
                <a:latin typeface="Calibri"/>
              </a:rPr>
              <a:t>in culture, WLS is broad across DPSCs and PDLSCs.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457200" y="274320"/>
            <a:ext cx="8229600" cy="548640"/>
          </a:xfrm>
          <a:prstGeom prst="rect">
            <a:avLst/>
          </a:prstGeom>
          <a:noFill/>
        </p:spPr>
        <p:txBody>
          <a:bodyPr wrap="square" lIns="0" rIns="0" tIns="0" bIns="0" anchor="ctr">
            <a:spAutoFit/>
          </a:bodyPr>
          <a:lstStyle/>
          <a:p>
            <a:pPr algn="l"/>
            <a:r>
              <a:rPr sz="2800" b="1" i="0">
                <a:solidFill>
                  <a:srgbClr val="6A1B3A"/>
                </a:solidFill>
                <a:latin typeface="Cambria"/>
              </a:rPr>
              <a:t>What validation adds</a:t>
            </a:r>
          </a:p>
        </p:txBody>
      </p:sp>
      <p:sp>
        <p:nvSpPr>
          <p:cNvPr id="3" name="Footer box"/>
          <p:cNvSpPr/>
          <p:nvPr/>
        </p:nvSpPr>
        <p:spPr>
          <a:xfrm>
            <a:off x="457200" y="4645152"/>
            <a:ext cx="8229600" cy="310896"/>
          </a:xfrm>
          <a:prstGeom prst="rect">
            <a:avLst/>
          </a:prstGeom>
          <a:solidFill>
            <a:srgbClr val="F6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ooter"/>
          <p:cNvSpPr txBox="1"/>
          <p:nvPr/>
        </p:nvSpPr>
        <p:spPr>
          <a:xfrm>
            <a:off x="566928" y="4645152"/>
            <a:ext cx="8046720" cy="310896"/>
          </a:xfrm>
          <a:prstGeom prst="rect">
            <a:avLst/>
          </a:prstGeom>
          <a:noFill/>
        </p:spPr>
        <p:txBody>
          <a:bodyPr wrap="square" lIns="0" rIns="0" tIns="0" bIns="0" anchor="ctr">
            <a:spAutoFit/>
          </a:bodyPr>
          <a:lstStyle/>
          <a:p>
            <a:pPr algn="l"/>
            <a:r>
              <a:rPr sz="900" b="0" i="0">
                <a:solidFill>
                  <a:srgbClr val="5A3A47"/>
                </a:solidFill>
                <a:latin typeface="Calibri"/>
              </a:rPr>
              <a:t>Repository: github.com/mtariqi/dpsc-wls-validation  |  Discovery: github.com/mtariqi/dpsc-wls-human-scRNAseq</a:t>
            </a:r>
          </a:p>
        </p:txBody>
      </p:sp>
      <p:sp>
        <p:nvSpPr>
          <p:cNvPr id="5" name="Column 1"/>
          <p:cNvSpPr/>
          <p:nvPr/>
        </p:nvSpPr>
        <p:spPr>
          <a:xfrm>
            <a:off x="457200" y="1097280"/>
            <a:ext cx="3977639" cy="338328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lumn 1 heading"/>
          <p:cNvSpPr txBox="1"/>
          <p:nvPr/>
        </p:nvSpPr>
        <p:spPr>
          <a:xfrm>
            <a:off x="640080" y="1234440"/>
            <a:ext cx="3657600" cy="365760"/>
          </a:xfrm>
          <a:prstGeom prst="rect">
            <a:avLst/>
          </a:prstGeom>
          <a:noFill/>
        </p:spPr>
        <p:txBody>
          <a:bodyPr wrap="square" lIns="0" rIns="0" tIns="0" bIns="0" anchor="ctr">
            <a:spAutoFit/>
          </a:bodyPr>
          <a:lstStyle/>
          <a:p>
            <a:pPr algn="l"/>
            <a:r>
              <a:rPr sz="1600" b="1" i="0">
                <a:solidFill>
                  <a:srgbClr val="6A1B3A"/>
                </a:solidFill>
                <a:latin typeface="Cambria"/>
              </a:rPr>
              <a:t>What the data now say</a:t>
            </a:r>
          </a:p>
        </p:txBody>
      </p:sp>
      <p:sp>
        <p:nvSpPr>
          <p:cNvPr id="7" name="Column 1 body"/>
          <p:cNvSpPr txBox="1"/>
          <p:nvPr/>
        </p:nvSpPr>
        <p:spPr>
          <a:xfrm>
            <a:off x="640080" y="1691640"/>
            <a:ext cx="3657600" cy="2651760"/>
          </a:xfrm>
          <a:prstGeom prst="rect">
            <a:avLst/>
          </a:prstGeom>
          <a:noFill/>
        </p:spPr>
        <p:txBody>
          <a:bodyPr wrap="square" lIns="0" rIns="0" tIns="0" bIns="0" anchor="t">
            <a:spAutoFit/>
          </a:bodyPr>
          <a:lstStyle/>
          <a:p>
            <a:pPr algn="l" marL="201168" indent="-201168">
              <a:spcAft>
                <a:spcPts val="600"/>
              </a:spcAft>
              <a:buChar char="•"/>
            </a:pPr>
            <a:r>
              <a:rPr sz="1300" b="0" i="0">
                <a:solidFill>
                  <a:srgbClr val="1F2A33"/>
                </a:solidFill>
                <a:latin typeface="Calibri"/>
              </a:rPr>
              <a:t>WLS is expressed in DPSCs in all four datasets</a:t>
            </a:r>
          </a:p>
          <a:p>
            <a:pPr algn="l" marL="201168" indent="-201168">
              <a:spcAft>
                <a:spcPts val="600"/>
              </a:spcAft>
              <a:buChar char="•"/>
            </a:pPr>
            <a:r>
              <a:rPr sz="1300" b="0" i="0">
                <a:solidFill>
                  <a:srgbClr val="1F2A33"/>
                </a:solidFill>
                <a:latin typeface="Calibri"/>
              </a:rPr>
              <a:t>Never enriched: DPSCs sit at or below the pulp average</a:t>
            </a:r>
          </a:p>
          <a:p>
            <a:pPr algn="l" marL="201168" indent="-201168">
              <a:spcAft>
                <a:spcPts val="600"/>
              </a:spcAft>
              <a:buChar char="•"/>
            </a:pPr>
            <a:r>
              <a:rPr sz="1300" b="0" i="0">
                <a:solidFill>
                  <a:srgbClr val="1F2A33"/>
                </a:solidFill>
                <a:latin typeface="Calibri"/>
              </a:rPr>
              <a:t>Fibroblasts lead WLS⁺ mesenchyme in all three pulp tissues</a:t>
            </a:r>
          </a:p>
          <a:p>
            <a:pPr algn="l" marL="201168" indent="-201168">
              <a:spcAft>
                <a:spcPts val="600"/>
              </a:spcAft>
              <a:buChar char="•"/>
            </a:pPr>
            <a:r>
              <a:rPr sz="1300" b="0" i="0">
                <a:solidFill>
                  <a:srgbClr val="1F2A33"/>
                </a:solidFill>
                <a:latin typeface="Calibri"/>
              </a:rPr>
              <a:t>Carious teeth show the same pattern</a:t>
            </a:r>
          </a:p>
          <a:p>
            <a:pPr algn="l" marL="201168" indent="-201168">
              <a:spcAft>
                <a:spcPts val="600"/>
              </a:spcAft>
              <a:buChar char="•"/>
            </a:pPr>
            <a:r>
              <a:rPr sz="1300" b="0" i="0">
                <a:solidFill>
                  <a:srgbClr val="1F2A33"/>
                </a:solidFill>
                <a:latin typeface="Calibri"/>
              </a:rPr>
              <a:t>Stem cells: DPSCs below PDLSCs; no WLS-high DPSC subset</a:t>
            </a:r>
          </a:p>
        </p:txBody>
      </p:sp>
      <p:sp>
        <p:nvSpPr>
          <p:cNvPr id="8" name="Column 2"/>
          <p:cNvSpPr/>
          <p:nvPr/>
        </p:nvSpPr>
        <p:spPr>
          <a:xfrm>
            <a:off x="4709160" y="1097280"/>
            <a:ext cx="3977639" cy="3383280"/>
          </a:xfrm>
          <a:prstGeom prst="roundRect">
            <a:avLst>
              <a:gd name="adj" fmla="val 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lumn 2 heading"/>
          <p:cNvSpPr txBox="1"/>
          <p:nvPr/>
        </p:nvSpPr>
        <p:spPr>
          <a:xfrm>
            <a:off x="4892040" y="1234440"/>
            <a:ext cx="3657600" cy="365760"/>
          </a:xfrm>
          <a:prstGeom prst="rect">
            <a:avLst/>
          </a:prstGeom>
          <a:noFill/>
        </p:spPr>
        <p:txBody>
          <a:bodyPr wrap="square" lIns="0" rIns="0" tIns="0" bIns="0" anchor="ctr">
            <a:spAutoFit/>
          </a:bodyPr>
          <a:lstStyle/>
          <a:p>
            <a:pPr algn="l"/>
            <a:r>
              <a:rPr sz="1600" b="1" i="0">
                <a:solidFill>
                  <a:srgbClr val="6A1B3A"/>
                </a:solidFill>
                <a:latin typeface="Cambria"/>
              </a:rPr>
              <a:t>Caveats</a:t>
            </a:r>
          </a:p>
        </p:txBody>
      </p:sp>
      <p:sp>
        <p:nvSpPr>
          <p:cNvPr id="10" name="Column 2 body"/>
          <p:cNvSpPr txBox="1"/>
          <p:nvPr/>
        </p:nvSpPr>
        <p:spPr>
          <a:xfrm>
            <a:off x="4892040" y="1691640"/>
            <a:ext cx="3657600" cy="2651760"/>
          </a:xfrm>
          <a:prstGeom prst="rect">
            <a:avLst/>
          </a:prstGeom>
          <a:noFill/>
        </p:spPr>
        <p:txBody>
          <a:bodyPr wrap="square" lIns="0" rIns="0" tIns="0" bIns="0" anchor="t">
            <a:spAutoFit/>
          </a:bodyPr>
          <a:lstStyle/>
          <a:p>
            <a:pPr algn="l" marL="201168" indent="-201168">
              <a:spcAft>
                <a:spcPts val="600"/>
              </a:spcAft>
              <a:buChar char="•"/>
            </a:pPr>
            <a:r>
              <a:rPr sz="1300" b="0" i="0">
                <a:solidFill>
                  <a:srgbClr val="1F2A33"/>
                </a:solidFill>
                <a:latin typeface="Calibri"/>
              </a:rPr>
              <a:t>Validation sets have one donor or library per group: descriptive only</a:t>
            </a:r>
          </a:p>
          <a:p>
            <a:pPr algn="l" marL="201168" indent="-201168">
              <a:spcAft>
                <a:spcPts val="600"/>
              </a:spcAft>
              <a:buChar char="•"/>
            </a:pPr>
            <a:r>
              <a:rPr sz="1300" b="0" i="0">
                <a:solidFill>
                  <a:srgbClr val="1F2A33"/>
                </a:solidFill>
                <a:latin typeface="Calibri"/>
              </a:rPr>
              <a:t>DPSCs defined computationally, with the same rule in every dataset</a:t>
            </a:r>
          </a:p>
          <a:p>
            <a:pPr algn="l" marL="201168" indent="-201168">
              <a:spcAft>
                <a:spcPts val="600"/>
              </a:spcAft>
              <a:buChar char="•"/>
            </a:pPr>
            <a:r>
              <a:rPr sz="1300" b="0" i="0">
                <a:solidFill>
                  <a:srgbClr val="1F2A33"/>
                </a:solidFill>
                <a:latin typeface="Calibri"/>
              </a:rPr>
              <a:t>% WLS⁺ is not comparable between datasets</a:t>
            </a:r>
          </a:p>
          <a:p>
            <a:pPr algn="l" marL="201168" indent="-201168">
              <a:spcAft>
                <a:spcPts val="600"/>
              </a:spcAft>
              <a:buChar char="•"/>
            </a:pPr>
            <a:r>
              <a:rPr sz="1300" b="0" i="0">
                <a:solidFill>
                  <a:srgbClr val="1F2A33"/>
                </a:solidFill>
                <a:latin typeface="Calibri"/>
              </a:rPr>
              <a:t>GSE227731 culture conditions to confirm with the authors</a:t>
            </a:r>
          </a:p>
          <a:p>
            <a:pPr algn="l" marL="201168" indent="-201168">
              <a:spcAft>
                <a:spcPts val="600"/>
              </a:spcAft>
              <a:buChar char="•"/>
            </a:pPr>
            <a:r>
              <a:rPr sz="1300" b="0" i="0">
                <a:solidFill>
                  <a:srgbClr val="1F2A33"/>
                </a:solidFill>
                <a:latin typeface="Calibri"/>
              </a:rPr>
              <a:t>RNA only; no WLS protein or secretion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WLS in candidate human DPSCs</dc:title>
  <dc:subject>PptxGenJS Presentation</dc:subject>
  <dc:creator>Md Tariqul Islam</dc:creator>
  <cp:lastModifiedBy>Md Tariqul Islam</cp:lastModifiedBy>
  <cp:revision>1</cp:revision>
  <dcterms:created xsi:type="dcterms:W3CDTF">2026-10-02T15:53:12Z</dcterms:created>
  <dcterms:modified xsi:type="dcterms:W3CDTF">2026-10-02T15:53:12Z</dcterms:modified>
</cp:coreProperties>
</file>