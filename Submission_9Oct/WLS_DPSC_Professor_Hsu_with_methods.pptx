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olors9.xml" ContentType="application/vnd.ms-office.chartcolorstyle+xml"/>
  <Override PartName="/ppt/charts/style4.xml" ContentType="application/vnd.ms-office.chartstyle+xml"/>
  <Override PartName="/ppt/charts/colors8.xml" ContentType="application/vnd.ms-office.chartcolorstyle+xml"/>
  <Override PartName="/ppt/charts/style3.xml" ContentType="application/vnd.ms-office.chartstyle+xml"/>
  <Override PartName="/ppt/charts/style2.xml" ContentType="application/vnd.ms-office.chartstyle+xml"/>
  <Override PartName="/ppt/charts/style7.xml" ContentType="application/vnd.ms-office.chartstyle+xml"/>
  <Override PartName="/ppt/charts/colors6.xml" ContentType="application/vnd.ms-office.chartcolorstyle+xml"/>
  <Override PartName="/ppt/charts/chart4.xml" ContentType="application/vnd.openxmlformats-officedocument.drawingml.chart+xml"/>
  <Override PartName="/ppt/charts/style10.xml" ContentType="application/vnd.ms-office.chartstyle+xml"/>
  <Override PartName="/ppt/charts/style13.xml" ContentType="application/vnd.ms-office.chartstyle+xml"/>
  <Override PartName="/ppt/charts/colors2.xml" ContentType="application/vnd.ms-office.chartcolorstyle+xml"/>
  <Override PartName="/ppt/charts/colors7.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0.xml" ContentType="application/vnd.ms-office.chartcolorstyle+xml"/>
  <Override PartName="/ppt/charts/colors12.xml" ContentType="application/vnd.ms-office.chartcolorstyle+xml"/>
  <Override PartName="/ppt/charts/colors3.xml" ContentType="application/vnd.ms-office.chartcolorstyle+xml"/>
  <Override PartName="/ppt/charts/colors11.xml" ContentType="application/vnd.ms-office.chartcolorstyle+xml"/>
  <Override PartName="/ppt/charts/chart13.xml" ContentType="application/vnd.openxmlformats-officedocument.drawingml.chart+xml"/>
  <Override PartName="/ppt/charts/style6.xml" ContentType="application/vnd.ms-office.chartstyle+xml"/>
  <Override PartName="/ppt/charts/chart9.xml" ContentType="application/vnd.openxmlformats-officedocument.drawingml.chart+xml"/>
  <Override PartName="/ppt/charts/colors13.xml" ContentType="application/vnd.ms-office.chartcolorstyle+xml"/>
  <Override PartName="/ppt/charts/colors1.xml" ContentType="application/vnd.ms-office.chartcolorstyle+xml"/>
  <Override PartName="/ppt/charts/chart7.xml" ContentType="application/vnd.openxmlformats-officedocument.drawingml.chart+xml"/>
  <Override PartName="/ppt/charts/style1.xml" ContentType="application/vnd.ms-office.chartstyle+xml"/>
  <Override PartName="/ppt/charts/style9.xml" ContentType="application/vnd.ms-office.chartstyle+xml"/>
  <Override PartName="/ppt/charts/chart3.xml" ContentType="application/vnd.openxmlformats-officedocument.drawingml.chart+xml"/>
  <Override PartName="/ppt/charts/chart6.xml" ContentType="application/vnd.openxmlformats-officedocument.drawingml.chart+xml"/>
  <Override PartName="/ppt/charts/chart5.xml" ContentType="application/vnd.openxmlformats-officedocument.drawingml.chart+xml"/>
  <Override PartName="/ppt/charts/chart2.xml" ContentType="application/vnd.openxmlformats-officedocument.drawingml.chart+xml"/>
  <Override PartName="/ppt/charts/chart12.xml" ContentType="application/vnd.openxmlformats-officedocument.drawingml.chart+xml"/>
  <Override PartName="/ppt/charts/chart8.xml" ContentType="application/vnd.openxmlformats-officedocument.drawingml.chart+xml"/>
  <Override PartName="/ppt/charts/style12.xml" ContentType="application/vnd.ms-office.chartstyle+xml"/>
  <Override PartName="/ppt/charts/colors4.xml" ContentType="application/vnd.ms-office.chartcolorstyle+xml"/>
  <Override PartName="/ppt/charts/chart1.xml" ContentType="application/vnd.openxmlformats-officedocument.drawingml.chart+xml"/>
  <Override PartName="/ppt/charts/chart10.xml" ContentType="application/vnd.openxmlformats-officedocument.drawingml.chart+xml"/>
  <Override PartName="/ppt/charts/style5.xml" ContentType="application/vnd.ms-office.chartstyle+xml"/>
  <Override PartName="/ppt/charts/style8.xml" ContentType="application/vnd.ms-office.chartstyle+xml"/>
  <Override PartName="/ppt/charts/colors5.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5.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_rels/chart3.xml.rels><?xml version="1.0" encoding="UTF-8"?>
<Relationships xmlns="http://schemas.openxmlformats.org/package/2006/relationships"><Relationship Id="rId1" Type="http://schemas.microsoft.com/office/2011/relationships/chartStyle" Target="style3.xml"/><Relationship Id="rId2" Type="http://schemas.microsoft.com/office/2011/relationships/chartColorStyle" Target="colors3.xml"/>
</Relationships>
</file>

<file path=ppt/charts/_rels/chart4.xml.rels><?xml version="1.0" encoding="UTF-8"?>
<Relationships xmlns="http://schemas.openxmlformats.org/package/2006/relationships"><Relationship Id="rId1" Type="http://schemas.microsoft.com/office/2011/relationships/chartStyle" Target="style4.xml"/><Relationship Id="rId2" Type="http://schemas.microsoft.com/office/2011/relationships/chartColorStyle" Target="colors4.xml"/>
</Relationships>
</file>

<file path=ppt/charts/_rels/chart5.xml.rels><?xml version="1.0" encoding="UTF-8"?>
<Relationships xmlns="http://schemas.openxmlformats.org/package/2006/relationships"><Relationship Id="rId1" Type="http://schemas.microsoft.com/office/2011/relationships/chartStyle" Target="style5.xml"/><Relationship Id="rId2" Type="http://schemas.microsoft.com/office/2011/relationships/chartColorStyle" Target="colors5.xml"/>
</Relationships>
</file>

<file path=ppt/charts/_rels/chart6.xml.rels><?xml version="1.0" encoding="UTF-8"?>
<Relationships xmlns="http://schemas.openxmlformats.org/package/2006/relationships"><Relationship Id="rId1" Type="http://schemas.microsoft.com/office/2011/relationships/chartStyle" Target="style6.xml"/><Relationship Id="rId2" Type="http://schemas.microsoft.com/office/2011/relationships/chartColorStyle" Target="colors6.xml"/>
</Relationships>
</file>

<file path=ppt/charts/_rels/chart7.xml.rels><?xml version="1.0" encoding="UTF-8"?>
<Relationships xmlns="http://schemas.openxmlformats.org/package/2006/relationships"><Relationship Id="rId1" Type="http://schemas.microsoft.com/office/2011/relationships/chartStyle" Target="style7.xml"/><Relationship Id="rId2" Type="http://schemas.microsoft.com/office/2011/relationships/chartColorStyle" Target="colors7.xml"/>
</Relationships>
</file>

<file path=ppt/charts/_rels/chart8.xml.rels><?xml version="1.0" encoding="UTF-8"?>
<Relationships xmlns="http://schemas.openxmlformats.org/package/2006/relationships"><Relationship Id="rId1" Type="http://schemas.microsoft.com/office/2011/relationships/chartStyle" Target="style8.xml"/><Relationship Id="rId2" Type="http://schemas.microsoft.com/office/2011/relationships/chartColorStyle" Target="colors8.xml"/>
</Relationships>
</file>

<file path=ppt/charts/_rels/chart9.xml.rels><?xml version="1.0" encoding="UTF-8"?>
<Relationships xmlns="http://schemas.openxmlformats.org/package/2006/relationships"><Relationship Id="rId1" Type="http://schemas.microsoft.com/office/2011/relationships/chartStyle" Target="style9.xml"/><Relationship Id="rId2" Type="http://schemas.microsoft.com/office/2011/relationships/chartColorStyle" Target="colors9.xml"/>
</Relationships>
</file>

<file path=ppt/charts/_rels/chart10.xml.rels><?xml version="1.0" encoding="UTF-8"?>
<Relationships xmlns="http://schemas.openxmlformats.org/package/2006/relationships"><Relationship Id="rId1" Type="http://schemas.microsoft.com/office/2011/relationships/chartStyle" Target="style10.xml"/><Relationship Id="rId2" Type="http://schemas.microsoft.com/office/2011/relationships/chartColorStyle" Target="colors10.xml"/>
</Relationships>
</file>

<file path=ppt/charts/_rels/chart11.xml.rels><?xml version="1.0" encoding="UTF-8"?>
<Relationships xmlns="http://schemas.openxmlformats.org/package/2006/relationships"><Relationship Id="rId1" Type="http://schemas.microsoft.com/office/2011/relationships/chartStyle" Target="style11.xml"/><Relationship Id="rId2" Type="http://schemas.microsoft.com/office/2011/relationships/chartColorStyle" Target="colors11.xml"/>
</Relationships>
</file>

<file path=ppt/charts/_rels/chart12.xml.rels><?xml version="1.0" encoding="UTF-8"?>
<Relationships xmlns="http://schemas.openxmlformats.org/package/2006/relationships"><Relationship Id="rId1" Type="http://schemas.microsoft.com/office/2011/relationships/chartStyle" Target="style12.xml"/><Relationship Id="rId2" Type="http://schemas.microsoft.com/office/2011/relationships/chartColorStyle" Target="colors12.xml"/>
</Relationships>
</file>

<file path=ppt/charts/_rels/chart13.xml.rels><?xml version="1.0" encoding="UTF-8"?>
<Relationships xmlns="http://schemas.openxmlformats.org/package/2006/relationships"><Relationship Id="rId1" Type="http://schemas.microsoft.com/office/2011/relationships/chartStyle" Target="style13.xml"/><Relationship Id="rId2" Type="http://schemas.microsoft.com/office/2011/relationships/chartColorStyle" Target="colors13.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0" u="none" strike="noStrike">
                <a:solidFill>
                  <a:srgbClr val="1F2A33"/>
                </a:solidFill>
                <a:uFillTx/>
                <a:latin typeface="Calibri"/>
              </a:rPr>
              <a:t>Doublets removed by scDblFinder (% of cells)</a:t>
            </a:r>
          </a:p>
        </c:rich>
      </c:tx>
      <c:overlay val="0"/>
      <c:spPr>
        <a:noFill/>
        <a:ln w="0">
          <a:noFill/>
        </a:ln>
      </c:spPr>
    </c:title>
    <c:autoTitleDeleted val="0"/>
    <c:plotArea>
      <c:barChart>
        <c:barDir val="col"/>
        <c:grouping val="clustered"/>
        <c:varyColors val="0"/>
        <c:ser>
          <c:idx val="0"/>
          <c:order val="0"/>
          <c:tx>
            <c:strRef>
              <c:f>label 0</c:f>
              <c:strCache>
                <c:ptCount val="1"/>
                <c:pt idx="0">
                  <c:v>Doublet %</c:v>
                </c:pt>
              </c:strCache>
            </c:strRef>
          </c:tx>
          <c:spPr>
            <a:solidFill>
              <a:srgbClr val="6A1B3A"/>
            </a:solidFill>
            <a:ln w="0">
              <a:noFill/>
            </a:ln>
          </c:spPr>
          <c:invertIfNegative val="0"/>
          <c:dLbls>
            <c:numFmt formatCode="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Pulp1</c:v>
                </c:pt>
                <c:pt idx="1">
                  <c:v>Pulp2</c:v>
                </c:pt>
                <c:pt idx="2">
                  <c:v>Pulp3</c:v>
                </c:pt>
                <c:pt idx="3">
                  <c:v>Pulp4</c:v>
                </c:pt>
                <c:pt idx="4">
                  <c:v>Pulp5</c:v>
                </c:pt>
              </c:strCache>
            </c:strRef>
          </c:cat>
          <c:val>
            <c:numRef>
              <c:f>0</c:f>
              <c:numCache>
                <c:formatCode>General</c:formatCode>
                <c:ptCount val="5"/>
                <c:pt idx="0">
                  <c:v>6.8</c:v>
                </c:pt>
                <c:pt idx="1">
                  <c:v>6.8</c:v>
                </c:pt>
                <c:pt idx="2">
                  <c:v>7.5</c:v>
                </c:pt>
                <c:pt idx="3">
                  <c:v>6.4</c:v>
                </c:pt>
                <c:pt idx="4">
                  <c:v>6.3</c:v>
                </c:pt>
              </c:numCache>
            </c:numRef>
          </c:val>
        </c:ser>
        <c:gapWidth val="150"/>
        <c:overlap val="0"/>
        <c:axId val="62892641"/>
        <c:axId val="1049306"/>
      </c:barChart>
      <c:catAx>
        <c:axId val="62892641"/>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5606B"/>
                </a:solidFill>
                <a:uFillTx/>
                <a:latin typeface="Calibri"/>
              </a:defRPr>
            </a:pPr>
          </a:p>
        </c:txPr>
        <c:crossAx val="1049306"/>
        <c:crosses val="autoZero"/>
        <c:auto val="1"/>
        <c:lblAlgn val="ctr"/>
        <c:lblOffset val="100"/>
        <c:noMultiLvlLbl val="0"/>
      </c:catAx>
      <c:valAx>
        <c:axId val="1049306"/>
        <c:scaling>
          <c:orientation val="minMax"/>
          <c:max val="9"/>
          <c:min val="0"/>
        </c:scaling>
        <c:delete val="0"/>
        <c:axPos val="l"/>
        <c:majorGridlines>
          <c:spPr>
            <a:ln w="6480">
              <a:solidFill>
                <a:srgbClr val="E3E6E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62892641"/>
        <c:crosses val="autoZero"/>
        <c:crossBetween val="between"/>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stacked"/>
        <c:varyColors val="0"/>
        <c:ser>
          <c:idx val="0"/>
          <c:order val="0"/>
          <c:tx>
            <c:strRef>
              <c:f>label 0</c:f>
              <c:strCache>
                <c:ptCount val="1"/>
                <c:pt idx="0">
                  <c:v>Mesenchymal</c:v>
                </c:pt>
              </c:strCache>
            </c:strRef>
          </c:tx>
          <c:spPr>
            <a:solidFill>
              <a:srgbClr val="C48A2C"/>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in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6"/>
                <c:pt idx="0">
                  <c:v>0 Fibro</c:v>
                </c:pt>
                <c:pt idx="1">
                  <c:v>1 Fibro</c:v>
                </c:pt>
                <c:pt idx="2">
                  <c:v>2 Endo</c:v>
                </c:pt>
                <c:pt idx="3">
                  <c:v>3 Endo</c:v>
                </c:pt>
                <c:pt idx="4">
                  <c:v>4 Periv</c:v>
                </c:pt>
                <c:pt idx="5">
                  <c:v>5 Schwann</c:v>
                </c:pt>
                <c:pt idx="6">
                  <c:v>6 T/NK</c:v>
                </c:pt>
                <c:pt idx="7">
                  <c:v>7 Periv</c:v>
                </c:pt>
                <c:pt idx="8">
                  <c:v>8 Schwann</c:v>
                </c:pt>
                <c:pt idx="9">
                  <c:v>9 Myeloid</c:v>
                </c:pt>
                <c:pt idx="10">
                  <c:v>10 Endo</c:v>
                </c:pt>
                <c:pt idx="11">
                  <c:v>11 T/NK</c:v>
                </c:pt>
                <c:pt idx="12">
                  <c:v>12 B/plasma</c:v>
                </c:pt>
                <c:pt idx="13">
                  <c:v>13 Myeloid</c:v>
                </c:pt>
                <c:pt idx="14">
                  <c:v>14 Epith</c:v>
                </c:pt>
                <c:pt idx="15">
                  <c:v>15 Ery</c:v>
                </c:pt>
              </c:strCache>
            </c:strRef>
          </c:cat>
          <c:val>
            <c:numRef>
              <c:f>0</c:f>
              <c:numCache>
                <c:formatCode>General</c:formatCode>
                <c:ptCount val="16"/>
                <c:pt idx="0">
                  <c:v>0.324</c:v>
                </c:pt>
                <c:pt idx="1">
                  <c:v>0.404</c:v>
                </c:pt>
                <c:pt idx="2">
                  <c:v>0</c:v>
                </c:pt>
                <c:pt idx="3">
                  <c:v>0</c:v>
                </c:pt>
                <c:pt idx="4">
                  <c:v>0.28</c:v>
                </c:pt>
                <c:pt idx="5">
                  <c:v>0</c:v>
                </c:pt>
                <c:pt idx="6">
                  <c:v>0</c:v>
                </c:pt>
                <c:pt idx="7">
                  <c:v>0.397</c:v>
                </c:pt>
                <c:pt idx="8">
                  <c:v>0</c:v>
                </c:pt>
                <c:pt idx="9">
                  <c:v>0</c:v>
                </c:pt>
                <c:pt idx="10">
                  <c:v>0</c:v>
                </c:pt>
                <c:pt idx="11">
                  <c:v>0</c:v>
                </c:pt>
                <c:pt idx="12">
                  <c:v>0</c:v>
                </c:pt>
                <c:pt idx="13">
                  <c:v>0</c:v>
                </c:pt>
                <c:pt idx="14">
                  <c:v>0</c:v>
                </c:pt>
                <c:pt idx="15">
                  <c:v>0</c:v>
                </c:pt>
              </c:numCache>
            </c:numRef>
          </c:val>
        </c:ser>
        <c:ser>
          <c:idx val="1"/>
          <c:order val="1"/>
          <c:tx>
            <c:strRef>
              <c:f>label 1</c:f>
              <c:strCache>
                <c:ptCount val="1"/>
                <c:pt idx="0">
                  <c:v>Other</c:v>
                </c:pt>
              </c:strCache>
            </c:strRef>
          </c:tx>
          <c:spPr>
            <a:solidFill>
              <a:srgbClr val="A9B1B8"/>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in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6"/>
                <c:pt idx="0">
                  <c:v>0 Fibro</c:v>
                </c:pt>
                <c:pt idx="1">
                  <c:v>1 Fibro</c:v>
                </c:pt>
                <c:pt idx="2">
                  <c:v>2 Endo</c:v>
                </c:pt>
                <c:pt idx="3">
                  <c:v>3 Endo</c:v>
                </c:pt>
                <c:pt idx="4">
                  <c:v>4 Periv</c:v>
                </c:pt>
                <c:pt idx="5">
                  <c:v>5 Schwann</c:v>
                </c:pt>
                <c:pt idx="6">
                  <c:v>6 T/NK</c:v>
                </c:pt>
                <c:pt idx="7">
                  <c:v>7 Periv</c:v>
                </c:pt>
                <c:pt idx="8">
                  <c:v>8 Schwann</c:v>
                </c:pt>
                <c:pt idx="9">
                  <c:v>9 Myeloid</c:v>
                </c:pt>
                <c:pt idx="10">
                  <c:v>10 Endo</c:v>
                </c:pt>
                <c:pt idx="11">
                  <c:v>11 T/NK</c:v>
                </c:pt>
                <c:pt idx="12">
                  <c:v>12 B/plasma</c:v>
                </c:pt>
                <c:pt idx="13">
                  <c:v>13 Myeloid</c:v>
                </c:pt>
                <c:pt idx="14">
                  <c:v>14 Epith</c:v>
                </c:pt>
                <c:pt idx="15">
                  <c:v>15 Ery</c:v>
                </c:pt>
              </c:strCache>
            </c:strRef>
          </c:cat>
          <c:val>
            <c:numRef>
              <c:f>1</c:f>
              <c:numCache>
                <c:formatCode>General</c:formatCode>
                <c:ptCount val="16"/>
                <c:pt idx="0">
                  <c:v>0</c:v>
                </c:pt>
                <c:pt idx="1">
                  <c:v>0</c:v>
                </c:pt>
                <c:pt idx="2">
                  <c:v>0.353</c:v>
                </c:pt>
                <c:pt idx="3">
                  <c:v>0.311</c:v>
                </c:pt>
                <c:pt idx="4">
                  <c:v>0</c:v>
                </c:pt>
                <c:pt idx="5">
                  <c:v>0.417</c:v>
                </c:pt>
                <c:pt idx="6">
                  <c:v>0.613</c:v>
                </c:pt>
                <c:pt idx="7">
                  <c:v>0</c:v>
                </c:pt>
                <c:pt idx="8">
                  <c:v>0.267</c:v>
                </c:pt>
                <c:pt idx="9">
                  <c:v>0.359</c:v>
                </c:pt>
                <c:pt idx="10">
                  <c:v>0.287</c:v>
                </c:pt>
                <c:pt idx="11">
                  <c:v>0.479</c:v>
                </c:pt>
                <c:pt idx="12">
                  <c:v>0.519</c:v>
                </c:pt>
                <c:pt idx="13">
                  <c:v>0.567</c:v>
                </c:pt>
                <c:pt idx="14">
                  <c:v>0.816</c:v>
                </c:pt>
                <c:pt idx="15">
                  <c:v>0.53</c:v>
                </c:pt>
              </c:numCache>
            </c:numRef>
          </c:val>
        </c:ser>
        <c:gapWidth val="50"/>
        <c:overlap val="100"/>
        <c:axId val="5217310"/>
        <c:axId val="60712613"/>
      </c:barChart>
      <c:catAx>
        <c:axId val="5217310"/>
        <c:scaling>
          <c:orientation val="minMax"/>
        </c:scaling>
        <c:delete val="0"/>
        <c:axPos val="b"/>
        <c:numFmt formatCode="General" sourceLinked="0"/>
        <c:majorTickMark val="out"/>
        <c:minorTickMark val="none"/>
        <c:tickLblPos val="low"/>
        <c:spPr>
          <a:ln w="12600">
            <a:solidFill>
              <a:srgbClr val="888888"/>
            </a:solidFill>
            <a:round/>
          </a:ln>
        </c:spPr>
        <c:txPr>
          <a:bodyPr rot="-2700000"/>
          <a:lstStyle/>
          <a:p>
            <a:pPr>
              <a:defRPr sz="800" b="0" u="none" strike="noStrike">
                <a:solidFill>
                  <a:srgbClr val="55606B"/>
                </a:solidFill>
                <a:uFillTx/>
                <a:latin typeface="Calibri"/>
              </a:defRPr>
            </a:pPr>
          </a:p>
        </c:txPr>
        <c:crossAx val="60712613"/>
        <c:crosses val="autoZero"/>
        <c:auto val="1"/>
        <c:lblAlgn val="ctr"/>
        <c:lblOffset val="100"/>
        <c:noMultiLvlLbl val="0"/>
      </c:catAx>
      <c:valAx>
        <c:axId val="60712613"/>
        <c:scaling>
          <c:orientation val="minMax"/>
          <c:max val="1"/>
          <c:min val="0"/>
        </c:scaling>
        <c:delete val="0"/>
        <c:axPos val="l"/>
        <c:majorGridlines>
          <c:spPr>
            <a:ln w="6480">
              <a:solidFill>
                <a:srgbClr val="E3E6E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5217310"/>
        <c:crosses val="autoZero"/>
        <c:crossBetween val="between"/>
      </c:valAx>
      <c:spPr>
        <a:noFill/>
        <a:ln w="0">
          <a:noFill/>
        </a:ln>
      </c:spPr>
    </c:plotArea>
    <c:legend>
      <c:legendPos val="t"/>
      <c:overlay val="0"/>
      <c:spPr>
        <a:noFill/>
        <a:ln w="0">
          <a:noFill/>
        </a:ln>
      </c:spPr>
      <c:txPr>
        <a:bodyPr/>
        <a:lstStyle/>
        <a:p>
          <a:pPr>
            <a:defRPr sz="1000" b="0" u="none" strike="noStrike">
              <a:solidFill>
                <a:srgbClr val="000000"/>
              </a:solidFill>
              <a:uFillTx/>
              <a:latin typeface="Calibri"/>
            </a:defRPr>
          </a:pPr>
        </a:p>
      </c:txPr>
    </c:legend>
    <c:plotVisOnly val="1"/>
    <c:dispBlanksAs val="span"/>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Cells</c:v>
                </c:pt>
              </c:strCache>
            </c:strRef>
          </c:tx>
          <c:spPr>
            <a:solidFill>
              <a:srgbClr val="C48A2C"/>
            </a:solidFill>
            <a:ln w="0">
              <a:noFill/>
            </a:ln>
          </c:spPr>
          <c:invertIfNegative val="0"/>
          <c:dLbls>
            <c:numFmt formatCode="#,##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9"/>
                <c:pt idx="0">
                  <c:v>Erythrocyte</c:v>
                </c:pt>
                <c:pt idx="1">
                  <c:v>Epithelial</c:v>
                </c:pt>
                <c:pt idx="2">
                  <c:v>B/plasma</c:v>
                </c:pt>
                <c:pt idx="3">
                  <c:v>Myeloid</c:v>
                </c:pt>
                <c:pt idx="4">
                  <c:v>T/NK</c:v>
                </c:pt>
                <c:pt idx="5">
                  <c:v>Schwann/glia</c:v>
                </c:pt>
                <c:pt idx="6">
                  <c:v>Perivascular (mes.)</c:v>
                </c:pt>
                <c:pt idx="7">
                  <c:v>Endothelial</c:v>
                </c:pt>
                <c:pt idx="8">
                  <c:v>Pulp fibroblast (mes.)</c:v>
                </c:pt>
              </c:strCache>
            </c:strRef>
          </c:cat>
          <c:val>
            <c:numRef>
              <c:f>0</c:f>
              <c:numCache>
                <c:formatCode>General</c:formatCode>
                <c:ptCount val="9"/>
                <c:pt idx="0">
                  <c:v>66</c:v>
                </c:pt>
                <c:pt idx="1">
                  <c:v>87</c:v>
                </c:pt>
                <c:pt idx="2">
                  <c:v>158</c:v>
                </c:pt>
                <c:pt idx="3">
                  <c:v>832</c:v>
                </c:pt>
                <c:pt idx="4">
                  <c:v>1692</c:v>
                </c:pt>
                <c:pt idx="5">
                  <c:v>2300</c:v>
                </c:pt>
                <c:pt idx="6">
                  <c:v>2877</c:v>
                </c:pt>
                <c:pt idx="7">
                  <c:v>5718</c:v>
                </c:pt>
                <c:pt idx="8">
                  <c:v>9597</c:v>
                </c:pt>
              </c:numCache>
            </c:numRef>
          </c:val>
        </c:ser>
        <c:gapWidth val="150"/>
        <c:overlap val="0"/>
        <c:axId val="67699577"/>
        <c:axId val="40173206"/>
      </c:barChart>
      <c:catAx>
        <c:axId val="67699577"/>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000" b="0" u="none" strike="noStrike">
                <a:solidFill>
                  <a:srgbClr val="55606B"/>
                </a:solidFill>
                <a:uFillTx/>
                <a:latin typeface="Calibri"/>
              </a:defRPr>
            </a:pPr>
          </a:p>
        </c:txPr>
        <c:crossAx val="40173206"/>
        <c:crosses val="autoZero"/>
        <c:auto val="1"/>
        <c:lblAlgn val="ctr"/>
        <c:lblOffset val="100"/>
        <c:noMultiLvlLbl val="0"/>
      </c:catAx>
      <c:valAx>
        <c:axId val="40173206"/>
        <c:scaling>
          <c:orientation val="minMax"/>
          <c:max val="12000"/>
        </c:scaling>
        <c:delete val="0"/>
        <c:axPos val="l"/>
        <c:majorGridlines>
          <c:spPr>
            <a:ln w="6480">
              <a:solidFill>
                <a:srgbClr val="E3E6E8"/>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67699577"/>
        <c:crosses val="autoZero"/>
        <c:crossBetween val="between"/>
      </c:valAx>
      <c:spPr>
        <a:noFill/>
        <a:ln w="0">
          <a:noFill/>
        </a:ln>
      </c:spPr>
    </c:plotArea>
    <c:plotVisOnly val="1"/>
    <c:dispBlanksAs val="span"/>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stacked"/>
        <c:varyColors val="0"/>
        <c:ser>
          <c:idx val="0"/>
          <c:order val="0"/>
          <c:tx>
            <c:strRef>
              <c:f>label 0</c:f>
              <c:strCache>
                <c:ptCount val="1"/>
                <c:pt idx="0">
                  <c:v>Candidate DPSC</c:v>
                </c:pt>
              </c:strCache>
            </c:strRef>
          </c:tx>
          <c:spPr>
            <a:solidFill>
              <a:srgbClr val="B03A5B"/>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in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Sub 4</c:v>
                </c:pt>
                <c:pt idx="1">
                  <c:v>Sub 2</c:v>
                </c:pt>
                <c:pt idx="2">
                  <c:v>Sub 8</c:v>
                </c:pt>
                <c:pt idx="3">
                  <c:v>Sub 1</c:v>
                </c:pt>
                <c:pt idx="4">
                  <c:v>Sub 5</c:v>
                </c:pt>
                <c:pt idx="5">
                  <c:v>Sub 7</c:v>
                </c:pt>
                <c:pt idx="6">
                  <c:v>Sub 0</c:v>
                </c:pt>
                <c:pt idx="7">
                  <c:v>Sub 6</c:v>
                </c:pt>
                <c:pt idx="8">
                  <c:v>Sub 3</c:v>
                </c:pt>
                <c:pt idx="9">
                  <c:v>Sub 9</c:v>
                </c:pt>
              </c:strCache>
            </c:strRef>
          </c:cat>
          <c:val>
            <c:numRef>
              <c:f>0</c:f>
              <c:numCache>
                <c:formatCode>General</c:formatCode>
                <c:ptCount val="10"/>
                <c:pt idx="0">
                  <c:v>0.197</c:v>
                </c:pt>
                <c:pt idx="1">
                  <c:v>0.099</c:v>
                </c:pt>
                <c:pt idx="2">
                  <c:v>0.035</c:v>
                </c:pt>
                <c:pt idx="3">
                  <c:v>0</c:v>
                </c:pt>
                <c:pt idx="4">
                  <c:v>0</c:v>
                </c:pt>
                <c:pt idx="5">
                  <c:v>0</c:v>
                </c:pt>
                <c:pt idx="6">
                  <c:v>0</c:v>
                </c:pt>
                <c:pt idx="7">
                  <c:v>0</c:v>
                </c:pt>
                <c:pt idx="8">
                  <c:v>0</c:v>
                </c:pt>
                <c:pt idx="9">
                  <c:v>0</c:v>
                </c:pt>
              </c:numCache>
            </c:numRef>
          </c:val>
        </c:ser>
        <c:ser>
          <c:idx val="1"/>
          <c:order val="1"/>
          <c:tx>
            <c:strRef>
              <c:f>label 1</c:f>
              <c:strCache>
                <c:ptCount val="1"/>
                <c:pt idx="0">
                  <c:v>Fibroblast</c:v>
                </c:pt>
              </c:strCache>
            </c:strRef>
          </c:tx>
          <c:spPr>
            <a:solidFill>
              <a:srgbClr val="C48A2C"/>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in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Sub 4</c:v>
                </c:pt>
                <c:pt idx="1">
                  <c:v>Sub 2</c:v>
                </c:pt>
                <c:pt idx="2">
                  <c:v>Sub 8</c:v>
                </c:pt>
                <c:pt idx="3">
                  <c:v>Sub 1</c:v>
                </c:pt>
                <c:pt idx="4">
                  <c:v>Sub 5</c:v>
                </c:pt>
                <c:pt idx="5">
                  <c:v>Sub 7</c:v>
                </c:pt>
                <c:pt idx="6">
                  <c:v>Sub 0</c:v>
                </c:pt>
                <c:pt idx="7">
                  <c:v>Sub 6</c:v>
                </c:pt>
                <c:pt idx="8">
                  <c:v>Sub 3</c:v>
                </c:pt>
                <c:pt idx="9">
                  <c:v>Sub 9</c:v>
                </c:pt>
              </c:strCache>
            </c:strRef>
          </c:cat>
          <c:val>
            <c:numRef>
              <c:f>1</c:f>
              <c:numCache>
                <c:formatCode>General</c:formatCode>
                <c:ptCount val="10"/>
                <c:pt idx="0">
                  <c:v>0</c:v>
                </c:pt>
                <c:pt idx="1">
                  <c:v>0</c:v>
                </c:pt>
                <c:pt idx="2">
                  <c:v>0</c:v>
                </c:pt>
                <c:pt idx="3">
                  <c:v>-0.102</c:v>
                </c:pt>
                <c:pt idx="4">
                  <c:v>-0.109</c:v>
                </c:pt>
                <c:pt idx="5">
                  <c:v>-0.11</c:v>
                </c:pt>
                <c:pt idx="6">
                  <c:v>-0.141</c:v>
                </c:pt>
                <c:pt idx="7">
                  <c:v>-0.174</c:v>
                </c:pt>
                <c:pt idx="8">
                  <c:v>-0.2</c:v>
                </c:pt>
                <c:pt idx="9">
                  <c:v>-0.275</c:v>
                </c:pt>
              </c:numCache>
            </c:numRef>
          </c:val>
        </c:ser>
        <c:gapWidth val="50"/>
        <c:overlap val="100"/>
        <c:axId val="54666429"/>
        <c:axId val="46132010"/>
      </c:barChart>
      <c:catAx>
        <c:axId val="54666429"/>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5606B"/>
                </a:solidFill>
                <a:uFillTx/>
                <a:latin typeface="Calibri"/>
              </a:defRPr>
            </a:pPr>
          </a:p>
        </c:txPr>
        <c:crossAx val="46132010"/>
        <c:crosses val="autoZero"/>
        <c:auto val="1"/>
        <c:lblAlgn val="ctr"/>
        <c:lblOffset val="100"/>
        <c:noMultiLvlLbl val="0"/>
      </c:catAx>
      <c:valAx>
        <c:axId val="46132010"/>
        <c:scaling>
          <c:orientation val="minMax"/>
          <c:max val="0.25"/>
          <c:min val="-0.3"/>
        </c:scaling>
        <c:delete val="0"/>
        <c:axPos val="l"/>
        <c:majorGridlines>
          <c:spPr>
            <a:ln w="6480">
              <a:solidFill>
                <a:srgbClr val="E3E6E8"/>
              </a:solidFill>
              <a:round/>
            </a:ln>
          </c:spPr>
        </c:majorGridlines>
        <c:numFmt formatCode="0.0"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54666429"/>
        <c:crosses val="autoZero"/>
        <c:crossBetween val="between"/>
      </c:valAx>
      <c:spPr>
        <a:noFill/>
        <a:ln w="0">
          <a:noFill/>
        </a:ln>
      </c:spPr>
    </c:plotArea>
    <c:legend>
      <c:legendPos val="t"/>
      <c:overlay val="0"/>
      <c:spPr>
        <a:noFill/>
        <a:ln w="0">
          <a:noFill/>
        </a:ln>
      </c:spPr>
      <c:txPr>
        <a:bodyPr/>
        <a:lstStyle/>
        <a:p>
          <a:pPr>
            <a:defRPr sz="1000" b="0" u="none" strike="noStrike">
              <a:solidFill>
                <a:srgbClr val="000000"/>
              </a:solidFill>
              <a:uFillTx/>
              <a:latin typeface="Calibri"/>
            </a:defRPr>
          </a:pPr>
        </a:p>
      </c:txPr>
    </c:legend>
    <c:plotVisOnly val="1"/>
    <c:dispBlanksAs val="span"/>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 WLS+</c:v>
                </c:pt>
              </c:strCache>
            </c:strRef>
          </c:tx>
          <c:spPr>
            <a:solidFill>
              <a:srgbClr val="0E7C7B"/>
            </a:solidFill>
            <a:ln w="0">
              <a:noFill/>
            </a:ln>
          </c:spPr>
          <c:invertIfNegative val="0"/>
          <c:dLbls>
            <c:numFmt formatCode="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7"/>
                <c:pt idx="0">
                  <c:v>T/NK</c:v>
                </c:pt>
                <c:pt idx="1">
                  <c:v>B/plasma</c:v>
                </c:pt>
                <c:pt idx="2">
                  <c:v>Endothelial</c:v>
                </c:pt>
                <c:pt idx="3">
                  <c:v>► Candidate DPSC</c:v>
                </c:pt>
                <c:pt idx="4">
                  <c:v>Schwann/glia</c:v>
                </c:pt>
                <c:pt idx="5">
                  <c:v>Myeloid</c:v>
                </c:pt>
                <c:pt idx="6">
                  <c:v>Pulp fibroblast</c:v>
                </c:pt>
              </c:strCache>
            </c:strRef>
          </c:cat>
          <c:val>
            <c:numRef>
              <c:f>0</c:f>
              <c:numCache>
                <c:formatCode>General</c:formatCode>
                <c:ptCount val="7"/>
                <c:pt idx="0">
                  <c:v>1.3</c:v>
                </c:pt>
                <c:pt idx="1">
                  <c:v>2.4</c:v>
                </c:pt>
                <c:pt idx="2">
                  <c:v>7.8</c:v>
                </c:pt>
                <c:pt idx="3">
                  <c:v>11.1</c:v>
                </c:pt>
                <c:pt idx="4">
                  <c:v>12.2</c:v>
                </c:pt>
                <c:pt idx="5">
                  <c:v>20</c:v>
                </c:pt>
                <c:pt idx="6">
                  <c:v>20.7</c:v>
                </c:pt>
              </c:numCache>
            </c:numRef>
          </c:val>
        </c:ser>
        <c:gapWidth val="150"/>
        <c:overlap val="0"/>
        <c:axId val="12609949"/>
        <c:axId val="97954585"/>
      </c:barChart>
      <c:catAx>
        <c:axId val="12609949"/>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000" b="0" u="none" strike="noStrike">
                <a:solidFill>
                  <a:srgbClr val="55606B"/>
                </a:solidFill>
                <a:uFillTx/>
                <a:latin typeface="Calibri"/>
              </a:defRPr>
            </a:pPr>
          </a:p>
        </c:txPr>
        <c:crossAx val="97954585"/>
        <c:crosses val="autoZero"/>
        <c:auto val="1"/>
        <c:lblAlgn val="ctr"/>
        <c:lblOffset val="100"/>
        <c:noMultiLvlLbl val="0"/>
      </c:catAx>
      <c:valAx>
        <c:axId val="97954585"/>
        <c:scaling>
          <c:orientation val="minMax"/>
          <c:max val="25"/>
          <c:min val="0"/>
        </c:scaling>
        <c:delete val="0"/>
        <c:axPos val="l"/>
        <c:majorGridlines>
          <c:spPr>
            <a:ln w="6480">
              <a:solidFill>
                <a:srgbClr val="E3E6E8"/>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12609949"/>
        <c:crosses val="autoZero"/>
        <c:crossBetween val="between"/>
      </c:valAx>
      <c:spPr>
        <a:noFill/>
        <a:ln w="0">
          <a:noFill/>
        </a:ln>
      </c:spPr>
    </c:plotArea>
    <c:plotVisOnly val="1"/>
    <c:dispBlanksAs val="span"/>
  </c:chart>
  <c:spPr>
    <a:no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log2FC</c:v>
                </c:pt>
              </c:strCache>
            </c:strRef>
          </c:tx>
          <c:spPr>
            <a:solidFill>
              <a:srgbClr val="6A1B3A"/>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vs Endothelial</c:v>
                </c:pt>
                <c:pt idx="1">
                  <c:v>vs All other cells</c:v>
                </c:pt>
                <c:pt idx="2">
                  <c:v>vs Schwann/glia</c:v>
                </c:pt>
                <c:pt idx="3">
                  <c:v>vs Pulp fibroblast</c:v>
                </c:pt>
                <c:pt idx="4">
                  <c:v>vs Myeloid</c:v>
                </c:pt>
              </c:strCache>
            </c:strRef>
          </c:cat>
          <c:val>
            <c:numRef>
              <c:f>0</c:f>
              <c:numCache>
                <c:formatCode>General</c:formatCode>
                <c:ptCount val="5"/>
                <c:pt idx="0">
                  <c:v>1.282</c:v>
                </c:pt>
                <c:pt idx="1">
                  <c:v>-0.139</c:v>
                </c:pt>
                <c:pt idx="2">
                  <c:v>-0.23</c:v>
                </c:pt>
                <c:pt idx="3">
                  <c:v>-0.949</c:v>
                </c:pt>
                <c:pt idx="4">
                  <c:v>-1.342</c:v>
                </c:pt>
              </c:numCache>
            </c:numRef>
          </c:val>
        </c:ser>
        <c:gapWidth val="150"/>
        <c:overlap val="0"/>
        <c:axId val="99032086"/>
        <c:axId val="54744008"/>
      </c:barChart>
      <c:catAx>
        <c:axId val="9903208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5606B"/>
                </a:solidFill>
                <a:uFillTx/>
                <a:latin typeface="Calibri"/>
              </a:defRPr>
            </a:pPr>
          </a:p>
        </c:txPr>
        <c:crossAx val="54744008"/>
        <c:crosses val="autoZero"/>
        <c:auto val="1"/>
        <c:lblAlgn val="ctr"/>
        <c:lblOffset val="100"/>
        <c:noMultiLvlLbl val="0"/>
      </c:catAx>
      <c:valAx>
        <c:axId val="54744008"/>
        <c:scaling>
          <c:orientation val="minMax"/>
          <c:max val="1.6"/>
          <c:min val="-1.6"/>
        </c:scaling>
        <c:delete val="0"/>
        <c:axPos val="l"/>
        <c:majorGridlines>
          <c:spPr>
            <a:ln w="6480">
              <a:solidFill>
                <a:srgbClr val="E3E6E8"/>
              </a:solidFill>
              <a:round/>
            </a:ln>
          </c:spPr>
        </c:majorGridlines>
        <c:numFmt formatCode="0.0"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99032086"/>
        <c:crosses val="autoZero"/>
        <c:crossBetween val="between"/>
      </c:valAx>
      <c:spPr>
        <a:noFill/>
        <a:ln w="0">
          <a:noFill/>
        </a:ln>
      </c:spPr>
    </c:plotArea>
    <c:plotVisOnly val="1"/>
    <c:dispBlanksAs val="span"/>
  </c:chart>
  <c:spPr>
    <a:noFill/>
    <a:ln w="0">
      <a:noFill/>
    </a:ln>
  </c:spPr>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Unadjusted</c:v>
                </c:pt>
              </c:strCache>
            </c:strRef>
          </c:tx>
          <c:spPr>
            <a:solidFill>
              <a:srgbClr val="A9B1B8"/>
            </a:solidFill>
            <a:ln w="0">
              <a:noFill/>
            </a:ln>
          </c:spPr>
          <c:invertIfNegative val="0"/>
          <c:dLbls>
            <c:numFmt formatCode="0.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Candidate DPSC</c:v>
                </c:pt>
                <c:pt idx="1">
                  <c:v>Pulp fibroblast</c:v>
                </c:pt>
                <c:pt idx="2">
                  <c:v>Endothelial</c:v>
                </c:pt>
                <c:pt idx="3">
                  <c:v>Schwann/glia</c:v>
                </c:pt>
                <c:pt idx="4">
                  <c:v>Myeloid</c:v>
                </c:pt>
              </c:strCache>
            </c:strRef>
          </c:cat>
          <c:val>
            <c:numRef>
              <c:f>0</c:f>
              <c:numCache>
                <c:formatCode>General</c:formatCode>
                <c:ptCount val="5"/>
                <c:pt idx="0">
                  <c:v>1.38</c:v>
                </c:pt>
                <c:pt idx="1">
                  <c:v>1.23</c:v>
                </c:pt>
                <c:pt idx="2">
                  <c:v>1.67</c:v>
                </c:pt>
                <c:pt idx="3">
                  <c:v>1.95</c:v>
                </c:pt>
                <c:pt idx="4">
                  <c:v>1.81</c:v>
                </c:pt>
              </c:numCache>
            </c:numRef>
          </c:val>
        </c:ser>
        <c:ser>
          <c:idx val="1"/>
          <c:order val="1"/>
          <c:tx>
            <c:strRef>
              <c:f>label 1</c:f>
              <c:strCache>
                <c:ptCount val="1"/>
                <c:pt idx="0">
                  <c:v>Depth-adjusted</c:v>
                </c:pt>
              </c:strCache>
            </c:strRef>
          </c:tx>
          <c:spPr>
            <a:solidFill>
              <a:srgbClr val="6A1B3A"/>
            </a:solidFill>
            <a:ln w="0">
              <a:noFill/>
            </a:ln>
          </c:spPr>
          <c:invertIfNegative val="0"/>
          <c:dLbls>
            <c:numFmt formatCode="0.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Candidate DPSC</c:v>
                </c:pt>
                <c:pt idx="1">
                  <c:v>Pulp fibroblast</c:v>
                </c:pt>
                <c:pt idx="2">
                  <c:v>Endothelial</c:v>
                </c:pt>
                <c:pt idx="3">
                  <c:v>Schwann/glia</c:v>
                </c:pt>
                <c:pt idx="4">
                  <c:v>Myeloid</c:v>
                </c:pt>
              </c:strCache>
            </c:strRef>
          </c:cat>
          <c:val>
            <c:numRef>
              <c:f>1</c:f>
              <c:numCache>
                <c:formatCode>General</c:formatCode>
                <c:ptCount val="5"/>
                <c:pt idx="0">
                  <c:v>1</c:v>
                </c:pt>
                <c:pt idx="1">
                  <c:v>1</c:v>
                </c:pt>
                <c:pt idx="2">
                  <c:v>1.02</c:v>
                </c:pt>
                <c:pt idx="3">
                  <c:v>1.8</c:v>
                </c:pt>
                <c:pt idx="4">
                  <c:v>0.71</c:v>
                </c:pt>
              </c:numCache>
            </c:numRef>
          </c:val>
        </c:ser>
        <c:gapWidth val="150"/>
        <c:overlap val="0"/>
        <c:axId val="45232678"/>
        <c:axId val="25434185"/>
      </c:barChart>
      <c:catAx>
        <c:axId val="45232678"/>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25434185"/>
        <c:crosses val="autoZero"/>
        <c:auto val="1"/>
        <c:lblAlgn val="ctr"/>
        <c:lblOffset val="100"/>
        <c:noMultiLvlLbl val="0"/>
      </c:catAx>
      <c:valAx>
        <c:axId val="25434185"/>
        <c:scaling>
          <c:orientation val="minMax"/>
          <c:max val="2.4"/>
          <c:min val="0"/>
        </c:scaling>
        <c:delete val="0"/>
        <c:axPos val="l"/>
        <c:majorGridlines>
          <c:spPr>
            <a:ln w="6480">
              <a:solidFill>
                <a:srgbClr val="E3E6E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45232678"/>
        <c:crosses val="autoZero"/>
        <c:crossBetween val="between"/>
      </c:valAx>
      <c:spPr>
        <a:noFill/>
        <a:ln w="0">
          <a:noFill/>
        </a:ln>
      </c:spPr>
    </c:plotArea>
    <c:legend>
      <c:legendPos val="t"/>
      <c:overlay val="0"/>
      <c:spPr>
        <a:noFill/>
        <a:ln w="0">
          <a:noFill/>
        </a:ln>
      </c:spPr>
      <c:txPr>
        <a:bodyPr/>
        <a:lstStyle/>
        <a:p>
          <a:pPr>
            <a:defRPr sz="1000" b="0" u="none" strike="noStrike">
              <a:solidFill>
                <a:srgbClr val="000000"/>
              </a:solidFill>
              <a:uFillTx/>
              <a:latin typeface="Calibri"/>
            </a:defRPr>
          </a:pPr>
        </a:p>
      </c:txPr>
    </c:legend>
    <c:plotVisOnly val="1"/>
    <c:dispBlanksAs val="span"/>
  </c:chart>
  <c:spPr>
    <a:noFill/>
    <a:ln w="0">
      <a:noFill/>
    </a:ln>
  </c:spPr>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0" u="none" strike="noStrike">
                <a:solidFill>
                  <a:srgbClr val="1F2A33"/>
                </a:solidFill>
                <a:uFillTx/>
                <a:latin typeface="Calibri"/>
              </a:rPr>
              <a:t>% cells expressing each ligand</a:t>
            </a:r>
          </a:p>
        </c:rich>
      </c:tx>
      <c:overlay val="0"/>
      <c:spPr>
        <a:noFill/>
        <a:ln w="0">
          <a:noFill/>
        </a:ln>
      </c:spPr>
    </c:title>
    <c:autoTitleDeleted val="0"/>
    <c:plotArea>
      <c:barChart>
        <c:barDir val="col"/>
        <c:grouping val="clustered"/>
        <c:varyColors val="0"/>
        <c:ser>
          <c:idx val="0"/>
          <c:order val="0"/>
          <c:tx>
            <c:strRef>
              <c:f>label 0</c:f>
              <c:strCache>
                <c:ptCount val="1"/>
                <c:pt idx="0">
                  <c:v>Candidate DPSC</c:v>
                </c:pt>
              </c:strCache>
            </c:strRef>
          </c:tx>
          <c:spPr>
            <a:solidFill>
              <a:srgbClr val="B03A5B"/>
            </a:solidFill>
            <a:ln w="0">
              <a:noFill/>
            </a:ln>
          </c:spPr>
          <c:invertIfNegative val="0"/>
          <c:dLbls>
            <c:numFmt formatCode="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WNT2B</c:v>
                </c:pt>
                <c:pt idx="1">
                  <c:v>WNT5A</c:v>
                </c:pt>
                <c:pt idx="2">
                  <c:v>WNT5B</c:v>
                </c:pt>
                <c:pt idx="3">
                  <c:v>WNT6</c:v>
                </c:pt>
              </c:strCache>
            </c:strRef>
          </c:cat>
          <c:val>
            <c:numRef>
              <c:f>0</c:f>
              <c:numCache>
                <c:formatCode>General</c:formatCode>
                <c:ptCount val="4"/>
                <c:pt idx="0">
                  <c:v>0.91</c:v>
                </c:pt>
                <c:pt idx="1">
                  <c:v>1.16</c:v>
                </c:pt>
                <c:pt idx="2">
                  <c:v>0.6</c:v>
                </c:pt>
                <c:pt idx="3">
                  <c:v>3.83</c:v>
                </c:pt>
              </c:numCache>
            </c:numRef>
          </c:val>
        </c:ser>
        <c:ser>
          <c:idx val="1"/>
          <c:order val="1"/>
          <c:tx>
            <c:strRef>
              <c:f>label 1</c:f>
              <c:strCache>
                <c:ptCount val="1"/>
                <c:pt idx="0">
                  <c:v>Pulp fibroblast</c:v>
                </c:pt>
              </c:strCache>
            </c:strRef>
          </c:tx>
          <c:spPr>
            <a:solidFill>
              <a:srgbClr val="C48A2C"/>
            </a:solidFill>
            <a:ln w="0">
              <a:noFill/>
            </a:ln>
          </c:spPr>
          <c:invertIfNegative val="0"/>
          <c:dLbls>
            <c:numFmt formatCode="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WNT2B</c:v>
                </c:pt>
                <c:pt idx="1">
                  <c:v>WNT5A</c:v>
                </c:pt>
                <c:pt idx="2">
                  <c:v>WNT5B</c:v>
                </c:pt>
                <c:pt idx="3">
                  <c:v>WNT6</c:v>
                </c:pt>
              </c:strCache>
            </c:strRef>
          </c:cat>
          <c:val>
            <c:numRef>
              <c:f>1</c:f>
              <c:numCache>
                <c:formatCode>General</c:formatCode>
                <c:ptCount val="4"/>
                <c:pt idx="0">
                  <c:v>1.11</c:v>
                </c:pt>
                <c:pt idx="1">
                  <c:v>9.97</c:v>
                </c:pt>
                <c:pt idx="2">
                  <c:v>3.56</c:v>
                </c:pt>
                <c:pt idx="3">
                  <c:v>0.29</c:v>
                </c:pt>
              </c:numCache>
            </c:numRef>
          </c:val>
        </c:ser>
        <c:gapWidth val="150"/>
        <c:overlap val="0"/>
        <c:axId val="2999040"/>
        <c:axId val="72227118"/>
      </c:barChart>
      <c:catAx>
        <c:axId val="2999040"/>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5606B"/>
                </a:solidFill>
                <a:uFillTx/>
                <a:latin typeface="Calibri"/>
              </a:defRPr>
            </a:pPr>
          </a:p>
        </c:txPr>
        <c:crossAx val="72227118"/>
        <c:crosses val="autoZero"/>
        <c:auto val="1"/>
        <c:lblAlgn val="ctr"/>
        <c:lblOffset val="100"/>
        <c:noMultiLvlLbl val="0"/>
      </c:catAx>
      <c:valAx>
        <c:axId val="72227118"/>
        <c:scaling>
          <c:orientation val="minMax"/>
          <c:max val="12"/>
          <c:min val="0"/>
        </c:scaling>
        <c:delete val="0"/>
        <c:axPos val="l"/>
        <c:majorGridlines>
          <c:spPr>
            <a:ln w="6480">
              <a:solidFill>
                <a:srgbClr val="E3E6E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2999040"/>
        <c:crosses val="autoZero"/>
        <c:crossBetween val="between"/>
      </c:valAx>
      <c:spPr>
        <a:noFill/>
        <a:ln w="0">
          <a:noFill/>
        </a:ln>
      </c:spPr>
    </c:plotArea>
    <c:legend>
      <c:legendPos val="t"/>
      <c:overlay val="0"/>
      <c:spPr>
        <a:noFill/>
        <a:ln w="0">
          <a:noFill/>
        </a:ln>
      </c:spPr>
      <c:txPr>
        <a:bodyPr/>
        <a:lstStyle/>
        <a:p>
          <a:pPr>
            <a:defRPr sz="900" b="0" u="none" strike="noStrike">
              <a:solidFill>
                <a:srgbClr val="000000"/>
              </a:solidFill>
              <a:uFillTx/>
              <a:latin typeface="Calibri"/>
            </a:defRPr>
          </a:pPr>
        </a:p>
      </c:txPr>
    </c:legend>
    <c:plotVisOnly val="1"/>
    <c:dispBlanksAs val="span"/>
  </c:chart>
  <c:spPr>
    <a:noFill/>
    <a:ln w="0">
      <a:noFill/>
    </a:ln>
  </c:spPr>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log2FC</c:v>
                </c:pt>
              </c:strCache>
            </c:strRef>
          </c:tx>
          <c:spPr>
            <a:solidFill>
              <a:srgbClr val="B03A5B"/>
            </a:solidFill>
            <a:ln w="0">
              <a:noFill/>
            </a:ln>
          </c:spPr>
          <c:invertIfNegative val="0"/>
          <c:dLbls>
            <c:numFmt formatCode="\+0.00;\-0.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D: MCAM⁺ (CD146⁺)</c:v>
                </c:pt>
                <c:pt idx="1">
                  <c:v>C: ≥3 stem markers</c:v>
                </c:pt>
                <c:pt idx="2">
                  <c:v>B: top 20% stem score</c:v>
                </c:pt>
                <c:pt idx="3">
                  <c:v>A: perivascular sub-clusters</c:v>
                </c:pt>
              </c:strCache>
            </c:strRef>
          </c:cat>
          <c:val>
            <c:numRef>
              <c:f>0</c:f>
              <c:numCache>
                <c:formatCode>General</c:formatCode>
                <c:ptCount val="4"/>
                <c:pt idx="0">
                  <c:v>-0.473</c:v>
                </c:pt>
                <c:pt idx="1">
                  <c:v>-0.12</c:v>
                </c:pt>
                <c:pt idx="2">
                  <c:v>-0.438</c:v>
                </c:pt>
                <c:pt idx="3">
                  <c:v>-0.947</c:v>
                </c:pt>
              </c:numCache>
            </c:numRef>
          </c:val>
        </c:ser>
        <c:gapWidth val="150"/>
        <c:overlap val="0"/>
        <c:axId val="85965064"/>
        <c:axId val="48967629"/>
      </c:barChart>
      <c:catAx>
        <c:axId val="85965064"/>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55606B"/>
                </a:solidFill>
                <a:uFillTx/>
                <a:latin typeface="Calibri"/>
              </a:defRPr>
            </a:pPr>
          </a:p>
        </c:txPr>
        <c:crossAx val="48967629"/>
        <c:crosses val="autoZero"/>
        <c:auto val="1"/>
        <c:lblAlgn val="ctr"/>
        <c:lblOffset val="100"/>
        <c:noMultiLvlLbl val="0"/>
      </c:catAx>
      <c:valAx>
        <c:axId val="48967629"/>
        <c:scaling>
          <c:orientation val="minMax"/>
          <c:max val="0.2"/>
          <c:min val="-1.2"/>
        </c:scaling>
        <c:delete val="0"/>
        <c:axPos val="l"/>
        <c:majorGridlines>
          <c:spPr>
            <a:ln w="6480">
              <a:solidFill>
                <a:srgbClr val="E3E6E8"/>
              </a:solidFill>
              <a:round/>
            </a:ln>
          </c:spPr>
        </c:majorGridlines>
        <c:numFmt formatCode="0.0"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85965064"/>
        <c:crosses val="autoZero"/>
        <c:crossBetween val="between"/>
      </c:valAx>
      <c:spPr>
        <a:noFill/>
        <a:ln w="0">
          <a:noFill/>
        </a:ln>
      </c:spPr>
    </c:plotArea>
    <c:plotVisOnly val="1"/>
    <c:dispBlanksAs val="span"/>
  </c:chart>
  <c:spPr>
    <a:noFill/>
    <a:ln w="0">
      <a:noFill/>
    </a:ln>
  </c:spPr>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 WLS+</c:v>
                </c:pt>
              </c:strCache>
            </c:strRef>
          </c:tx>
          <c:spPr>
            <a:solidFill>
              <a:srgbClr val="0E7C7B"/>
            </a:solidFill>
            <a:ln w="0">
              <a:noFill/>
            </a:ln>
          </c:spPr>
          <c:invertIfNegative val="0"/>
          <c:dLbls>
            <c:numFmt formatCode="0.0\%" sourceLinked="0"/>
            <c:txPr>
              <a:bodyPr wrap="square"/>
              <a:lstStyle/>
              <a:p>
                <a:pPr>
                  <a:defRPr sz="900" b="0" u="none" strike="noStrike">
                    <a:solidFill>
                      <a:srgbClr val="1F2A33"/>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Pulp3 (446 genes)</c:v>
                </c:pt>
                <c:pt idx="1">
                  <c:v>Pulp2 (971)</c:v>
                </c:pt>
                <c:pt idx="2">
                  <c:v>Pulp4 (1,196)</c:v>
                </c:pt>
                <c:pt idx="3">
                  <c:v>Pulp5 (1,231)</c:v>
                </c:pt>
                <c:pt idx="4">
                  <c:v>Pulp1 (1,293)</c:v>
                </c:pt>
              </c:strCache>
            </c:strRef>
          </c:cat>
          <c:val>
            <c:numRef>
              <c:f>0</c:f>
              <c:numCache>
                <c:formatCode>General</c:formatCode>
                <c:ptCount val="5"/>
                <c:pt idx="0">
                  <c:v>1.3</c:v>
                </c:pt>
                <c:pt idx="1">
                  <c:v>5.4</c:v>
                </c:pt>
                <c:pt idx="2">
                  <c:v>13.1</c:v>
                </c:pt>
                <c:pt idx="3">
                  <c:v>16.8</c:v>
                </c:pt>
                <c:pt idx="4">
                  <c:v>11.1</c:v>
                </c:pt>
              </c:numCache>
            </c:numRef>
          </c:val>
        </c:ser>
        <c:gapWidth val="150"/>
        <c:overlap val="0"/>
        <c:axId val="44579984"/>
        <c:axId val="82321794"/>
      </c:barChart>
      <c:catAx>
        <c:axId val="44579984"/>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55606B"/>
                </a:solidFill>
                <a:uFillTx/>
                <a:latin typeface="Calibri"/>
              </a:defRPr>
            </a:pPr>
          </a:p>
        </c:txPr>
        <c:crossAx val="82321794"/>
        <c:crosses val="autoZero"/>
        <c:auto val="1"/>
        <c:lblAlgn val="ctr"/>
        <c:lblOffset val="100"/>
        <c:noMultiLvlLbl val="0"/>
      </c:catAx>
      <c:valAx>
        <c:axId val="82321794"/>
        <c:scaling>
          <c:orientation val="minMax"/>
          <c:max val="20"/>
          <c:min val="0"/>
        </c:scaling>
        <c:delete val="0"/>
        <c:axPos val="l"/>
        <c:majorGridlines>
          <c:spPr>
            <a:ln w="6480">
              <a:solidFill>
                <a:srgbClr val="E3E6E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55606B"/>
                </a:solidFill>
                <a:uFillTx/>
                <a:latin typeface="Calibri"/>
              </a:defRPr>
            </a:pPr>
          </a:p>
        </c:txPr>
        <c:crossAx val="44579984"/>
        <c:crosses val="autoZero"/>
        <c:crossBetween val="between"/>
      </c:valAx>
      <c:spPr>
        <a:noFill/>
        <a:ln w="0">
          <a:noFill/>
        </a:ln>
      </c:spPr>
    </c:plotArea>
    <c:plotVisOnly val="1"/>
    <c:dispBlanksAs val="span"/>
  </c:chart>
  <c:spPr>
    <a:noFill/>
    <a:ln w="0">
      <a:noFill/>
    </a:ln>
  </c:spPr>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1" u="none" strike="noStrike">
                <a:solidFill>
                  <a:srgbClr val="1F2A33"/>
                </a:solidFill>
                <a:uFillTx/>
                <a:latin typeface="Calibri"/>
              </a:rPr>
              <a:t>GSE202476 · young tooth</a:t>
            </a:r>
          </a:p>
        </c:rich>
      </c:tx>
      <c:overlay val="0"/>
      <c:spPr>
        <a:noFill/>
        <a:ln w="0">
          <a:noFill/>
        </a:ln>
      </c:spPr>
    </c:title>
    <c:autoTitleDeleted val="0"/>
    <c:plotArea>
      <c:barChart>
        <c:barDir val="bar"/>
        <c:grouping val="clustered"/>
        <c:varyColors val="0"/>
        <c:ser>
          <c:idx val="0"/>
          <c:order val="0"/>
          <c:tx>
            <c:strRef>
              <c:f>label 0</c:f>
              <c:strCache>
                <c:ptCount val="1"/>
                <c:pt idx="0">
                  <c:v>% WLS⁺</c:v>
                </c:pt>
              </c:strCache>
            </c:strRef>
          </c:tx>
          <c:spPr>
            <a:solidFill>
              <a:srgbClr val="4472C4"/>
            </a:solidFill>
            <a:ln w="0">
              <a:noFill/>
            </a:ln>
          </c:spPr>
          <c:invertIfNegative val="0"/>
          <c:dPt>
            <c:idx val="0"/>
            <c:invertIfNegative val="0"/>
            <c:spPr>
              <a:solidFill>
                <a:srgbClr val="0E7C7B"/>
              </a:solidFill>
              <a:ln w="0">
                <a:noFill/>
              </a:ln>
            </c:spPr>
          </c:dPt>
          <c:dPt>
            <c:idx val="1"/>
            <c:invertIfNegative val="0"/>
            <c:spPr>
              <a:solidFill>
                <a:srgbClr val="0E7C7B"/>
              </a:solidFill>
              <a:ln w="0">
                <a:noFill/>
              </a:ln>
            </c:spPr>
          </c:dPt>
          <c:dPt>
            <c:idx val="2"/>
            <c:invertIfNegative val="0"/>
            <c:spPr>
              <a:solidFill>
                <a:srgbClr val="0E7C7B"/>
              </a:solidFill>
              <a:ln w="0">
                <a:noFill/>
              </a:ln>
            </c:spPr>
          </c:dPt>
          <c:dPt>
            <c:idx val="3"/>
            <c:invertIfNegative val="0"/>
            <c:spPr>
              <a:solidFill>
                <a:srgbClr val="6A1B3A"/>
              </a:solidFill>
              <a:ln w="0">
                <a:noFill/>
              </a:ln>
            </c:spPr>
          </c:dPt>
          <c:dPt>
            <c:idx val="4"/>
            <c:invertIfNegative val="0"/>
            <c:spPr>
              <a:solidFill>
                <a:srgbClr val="0E7C7B"/>
              </a:solidFill>
              <a:ln w="0">
                <a:noFill/>
              </a:ln>
            </c:spPr>
          </c:dPt>
          <c:dPt>
            <c:idx val="5"/>
            <c:invertIfNegative val="0"/>
            <c:spPr>
              <a:solidFill>
                <a:srgbClr val="0E7C7B"/>
              </a:solidFill>
              <a:ln w="0">
                <a:noFill/>
              </a:ln>
            </c:spPr>
          </c:dPt>
          <c:dLbls>
            <c:dLbl>
              <c:idx val="0"/>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4"/>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5"/>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6"/>
                <c:pt idx="0">
                  <c:v>T/NK</c:v>
                </c:pt>
                <c:pt idx="1">
                  <c:v>Schwann/glia</c:v>
                </c:pt>
                <c:pt idx="2">
                  <c:v>Endothelial</c:v>
                </c:pt>
                <c:pt idx="3">
                  <c:v>Candidate DPSC</c:v>
                </c:pt>
                <c:pt idx="4">
                  <c:v>Myeloid</c:v>
                </c:pt>
                <c:pt idx="5">
                  <c:v>Pulp fibroblast</c:v>
                </c:pt>
              </c:strCache>
            </c:strRef>
          </c:cat>
          <c:val>
            <c:numRef>
              <c:f>0</c:f>
              <c:numCache>
                <c:formatCode>General</c:formatCode>
                <c:ptCount val="6"/>
                <c:pt idx="0">
                  <c:v>1.4</c:v>
                </c:pt>
                <c:pt idx="1">
                  <c:v>14.8</c:v>
                </c:pt>
                <c:pt idx="2">
                  <c:v>24.1</c:v>
                </c:pt>
                <c:pt idx="3">
                  <c:v>33.8</c:v>
                </c:pt>
                <c:pt idx="4">
                  <c:v>36.8</c:v>
                </c:pt>
                <c:pt idx="5">
                  <c:v>50.5</c:v>
                </c:pt>
              </c:numCache>
            </c:numRef>
          </c:val>
        </c:ser>
        <c:gapWidth val="45"/>
        <c:overlap val="0"/>
        <c:axId val="87145366"/>
        <c:axId val="36813881"/>
      </c:barChart>
      <c:catAx>
        <c:axId val="87145366"/>
        <c:scaling>
          <c:orientation val="minMax"/>
        </c:scaling>
        <c:delete val="0"/>
        <c:axPos val="b"/>
        <c:numFmt formatCode="[$-409]mm/dd/yyyy" sourceLinked="1"/>
        <c:majorTickMark val="out"/>
        <c:minorTickMark val="none"/>
        <c:tickLblPos val="nextTo"/>
        <c:spPr>
          <a:ln w="6480">
            <a:solidFill>
              <a:srgbClr val="D5DBDF"/>
            </a:solidFill>
            <a:round/>
          </a:ln>
        </c:spPr>
        <c:txPr>
          <a:bodyPr/>
          <a:lstStyle/>
          <a:p>
            <a:pPr>
              <a:defRPr sz="1000" b="0" u="none" strike="noStrike">
                <a:solidFill>
                  <a:srgbClr val="1F2A33"/>
                </a:solidFill>
                <a:uFillTx/>
                <a:latin typeface="Calibri"/>
              </a:defRPr>
            </a:pPr>
          </a:p>
        </c:txPr>
        <c:crossAx val="36813881"/>
        <c:crosses val="autoZero"/>
        <c:auto val="1"/>
        <c:lblAlgn val="ctr"/>
        <c:lblOffset val="100"/>
        <c:noMultiLvlLbl val="0"/>
      </c:catAx>
      <c:valAx>
        <c:axId val="36813881"/>
        <c:scaling>
          <c:orientation val="minMax"/>
          <c:max val="65.65"/>
          <c:min val="0"/>
        </c:scaling>
        <c:delete val="1"/>
        <c:axPos val="l"/>
        <c:numFmt formatCode="General" sourceLinked="1"/>
        <c:majorTickMark val="out"/>
        <c:minorTickMark val="none"/>
        <c:tickLblPos val="nextTo"/>
        <c:spPr>
          <a:ln w="6480">
            <a:solidFill>
              <a:srgbClr val="8B8B8B"/>
            </a:solidFill>
            <a:round/>
          </a:ln>
        </c:spPr>
        <c:txPr>
          <a:bodyPr/>
          <a:lstStyle/>
          <a:p>
            <a:pPr>
              <a:defRPr sz="1800" b="0" u="none" strike="noStrike">
                <a:solidFill>
                  <a:srgbClr val="000000"/>
                </a:solidFill>
                <a:uFillTx/>
                <a:latin typeface="Calibri"/>
              </a:defRPr>
            </a:pPr>
          </a:p>
        </c:txPr>
        <c:crossAx val="87145366"/>
        <c:crossBetween val="between"/>
      </c:valAx>
      <c:spPr>
        <a:noFill/>
        <a:ln w="0">
          <a:noFill/>
        </a:ln>
      </c:spPr>
    </c:plotArea>
    <c:plotVisOnly val="1"/>
    <c:dispBlanksAs val="gap"/>
  </c:chart>
  <c:spPr>
    <a:noFill/>
    <a:ln w="0">
      <a:noFill/>
    </a:ln>
  </c:spPr>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1" u="none" strike="noStrike">
                <a:solidFill>
                  <a:srgbClr val="1F2A33"/>
                </a:solidFill>
                <a:uFillTx/>
                <a:latin typeface="Calibri"/>
              </a:rPr>
              <a:t>GSE185222 · sound tooth</a:t>
            </a:r>
          </a:p>
        </c:rich>
      </c:tx>
      <c:overlay val="0"/>
      <c:spPr>
        <a:noFill/>
        <a:ln w="0">
          <a:noFill/>
        </a:ln>
      </c:spPr>
    </c:title>
    <c:autoTitleDeleted val="0"/>
    <c:plotArea>
      <c:barChart>
        <c:barDir val="bar"/>
        <c:grouping val="clustered"/>
        <c:varyColors val="0"/>
        <c:ser>
          <c:idx val="0"/>
          <c:order val="0"/>
          <c:tx>
            <c:strRef>
              <c:f>label 0</c:f>
              <c:strCache>
                <c:ptCount val="1"/>
                <c:pt idx="0">
                  <c:v>% WLS⁺</c:v>
                </c:pt>
              </c:strCache>
            </c:strRef>
          </c:tx>
          <c:spPr>
            <a:solidFill>
              <a:srgbClr val="4472C4"/>
            </a:solidFill>
            <a:ln w="0">
              <a:noFill/>
            </a:ln>
          </c:spPr>
          <c:invertIfNegative val="0"/>
          <c:dPt>
            <c:idx val="0"/>
            <c:invertIfNegative val="0"/>
            <c:spPr>
              <a:solidFill>
                <a:srgbClr val="0E7C7B"/>
              </a:solidFill>
              <a:ln w="0">
                <a:noFill/>
              </a:ln>
            </c:spPr>
          </c:dPt>
          <c:dPt>
            <c:idx val="1"/>
            <c:invertIfNegative val="0"/>
            <c:spPr>
              <a:solidFill>
                <a:srgbClr val="0E7C7B"/>
              </a:solidFill>
              <a:ln w="0">
                <a:noFill/>
              </a:ln>
            </c:spPr>
          </c:dPt>
          <c:dPt>
            <c:idx val="2"/>
            <c:invertIfNegative val="0"/>
            <c:spPr>
              <a:solidFill>
                <a:srgbClr val="0E7C7B"/>
              </a:solidFill>
              <a:ln w="0">
                <a:noFill/>
              </a:ln>
            </c:spPr>
          </c:dPt>
          <c:dPt>
            <c:idx val="3"/>
            <c:invertIfNegative val="0"/>
            <c:spPr>
              <a:solidFill>
                <a:srgbClr val="0E7C7B"/>
              </a:solidFill>
              <a:ln w="0">
                <a:noFill/>
              </a:ln>
            </c:spPr>
          </c:dPt>
          <c:dPt>
            <c:idx val="4"/>
            <c:invertIfNegative val="0"/>
            <c:spPr>
              <a:solidFill>
                <a:srgbClr val="0E7C7B"/>
              </a:solidFill>
              <a:ln w="0">
                <a:noFill/>
              </a:ln>
            </c:spPr>
          </c:dPt>
          <c:dPt>
            <c:idx val="5"/>
            <c:invertIfNegative val="0"/>
            <c:spPr>
              <a:solidFill>
                <a:srgbClr val="6A1B3A"/>
              </a:solidFill>
              <a:ln w="0">
                <a:noFill/>
              </a:ln>
            </c:spPr>
          </c:dPt>
          <c:dPt>
            <c:idx val="6"/>
            <c:invertIfNegative val="0"/>
            <c:spPr>
              <a:solidFill>
                <a:srgbClr val="0E7C7B"/>
              </a:solidFill>
              <a:ln w="0">
                <a:noFill/>
              </a:ln>
            </c:spPr>
          </c:dPt>
          <c:dLbls>
            <c:dLbl>
              <c:idx val="0"/>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2"/>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3"/>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4"/>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5"/>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6"/>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7"/>
                <c:pt idx="0">
                  <c:v>T/NK</c:v>
                </c:pt>
                <c:pt idx="1">
                  <c:v>Odontoblast</c:v>
                </c:pt>
                <c:pt idx="2">
                  <c:v>Endothelial</c:v>
                </c:pt>
                <c:pt idx="3">
                  <c:v>Schwann/glia</c:v>
                </c:pt>
                <c:pt idx="4">
                  <c:v>Myeloid</c:v>
                </c:pt>
                <c:pt idx="5">
                  <c:v>Candidate DPSC</c:v>
                </c:pt>
                <c:pt idx="6">
                  <c:v>Pulp fibroblast</c:v>
                </c:pt>
              </c:strCache>
            </c:strRef>
          </c:cat>
          <c:val>
            <c:numRef>
              <c:f>0</c:f>
              <c:numCache>
                <c:formatCode>General</c:formatCode>
                <c:ptCount val="7"/>
                <c:pt idx="0">
                  <c:v>0</c:v>
                </c:pt>
                <c:pt idx="1">
                  <c:v>5.6</c:v>
                </c:pt>
                <c:pt idx="2">
                  <c:v>7.5</c:v>
                </c:pt>
                <c:pt idx="3">
                  <c:v>12.8</c:v>
                </c:pt>
                <c:pt idx="4">
                  <c:v>14.7</c:v>
                </c:pt>
                <c:pt idx="5">
                  <c:v>14.8</c:v>
                </c:pt>
                <c:pt idx="6">
                  <c:v>24.6</c:v>
                </c:pt>
              </c:numCache>
            </c:numRef>
          </c:val>
        </c:ser>
        <c:gapWidth val="45"/>
        <c:overlap val="0"/>
        <c:axId val="56729981"/>
        <c:axId val="50978574"/>
      </c:barChart>
      <c:catAx>
        <c:axId val="56729981"/>
        <c:scaling>
          <c:orientation val="minMax"/>
        </c:scaling>
        <c:delete val="0"/>
        <c:axPos val="b"/>
        <c:numFmt formatCode="[$-409]mm/dd/yyyy" sourceLinked="1"/>
        <c:majorTickMark val="out"/>
        <c:minorTickMark val="none"/>
        <c:tickLblPos val="nextTo"/>
        <c:spPr>
          <a:ln w="6480">
            <a:solidFill>
              <a:srgbClr val="D5DBDF"/>
            </a:solidFill>
            <a:round/>
          </a:ln>
        </c:spPr>
        <c:txPr>
          <a:bodyPr/>
          <a:lstStyle/>
          <a:p>
            <a:pPr>
              <a:defRPr sz="1000" b="0" u="none" strike="noStrike">
                <a:solidFill>
                  <a:srgbClr val="1F2A33"/>
                </a:solidFill>
                <a:uFillTx/>
                <a:latin typeface="Calibri"/>
              </a:defRPr>
            </a:pPr>
          </a:p>
        </c:txPr>
        <c:crossAx val="50978574"/>
        <c:crosses val="autoZero"/>
        <c:auto val="1"/>
        <c:lblAlgn val="ctr"/>
        <c:lblOffset val="100"/>
        <c:noMultiLvlLbl val="0"/>
      </c:catAx>
      <c:valAx>
        <c:axId val="50978574"/>
        <c:scaling>
          <c:orientation val="minMax"/>
          <c:max val="31.98"/>
          <c:min val="0"/>
        </c:scaling>
        <c:delete val="1"/>
        <c:axPos val="l"/>
        <c:numFmt formatCode="General" sourceLinked="1"/>
        <c:majorTickMark val="out"/>
        <c:minorTickMark val="none"/>
        <c:tickLblPos val="nextTo"/>
        <c:spPr>
          <a:ln w="6480">
            <a:solidFill>
              <a:srgbClr val="8B8B8B"/>
            </a:solidFill>
            <a:round/>
          </a:ln>
        </c:spPr>
        <c:txPr>
          <a:bodyPr/>
          <a:lstStyle/>
          <a:p>
            <a:pPr>
              <a:defRPr sz="1800" b="0" u="none" strike="noStrike">
                <a:solidFill>
                  <a:srgbClr val="000000"/>
                </a:solidFill>
                <a:uFillTx/>
                <a:latin typeface="Calibri"/>
              </a:defRPr>
            </a:pPr>
          </a:p>
        </c:txPr>
        <c:crossAx val="56729981"/>
        <c:crossBetween val="between"/>
      </c:valAx>
      <c:spPr>
        <a:noFill/>
        <a:ln w="0">
          <a:noFill/>
        </a:ln>
      </c:spPr>
    </c:plotArea>
    <c:plotVisOnly val="1"/>
    <c:dispBlanksAs val="gap"/>
  </c:chart>
  <c:spPr>
    <a:noFill/>
    <a:ln w="0">
      <a:noFill/>
    </a:ln>
  </c:spPr>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1" u="none" strike="noStrike">
                <a:solidFill>
                  <a:srgbClr val="1F2A33"/>
                </a:solidFill>
                <a:uFillTx/>
                <a:latin typeface="Calibri"/>
              </a:rPr>
              <a:t>GSE227731 · stem cells</a:t>
            </a:r>
          </a:p>
        </c:rich>
      </c:tx>
      <c:overlay val="0"/>
      <c:spPr>
        <a:noFill/>
        <a:ln w="0">
          <a:noFill/>
        </a:ln>
      </c:spPr>
    </c:title>
    <c:autoTitleDeleted val="0"/>
    <c:plotArea>
      <c:barChart>
        <c:barDir val="bar"/>
        <c:grouping val="clustered"/>
        <c:varyColors val="0"/>
        <c:ser>
          <c:idx val="0"/>
          <c:order val="0"/>
          <c:tx>
            <c:strRef>
              <c:f>label 0</c:f>
              <c:strCache>
                <c:ptCount val="1"/>
                <c:pt idx="0">
                  <c:v>% WLS⁺</c:v>
                </c:pt>
              </c:strCache>
            </c:strRef>
          </c:tx>
          <c:spPr>
            <a:solidFill>
              <a:srgbClr val="4472C4"/>
            </a:solidFill>
            <a:ln w="0">
              <a:noFill/>
            </a:ln>
          </c:spPr>
          <c:invertIfNegative val="0"/>
          <c:dPt>
            <c:idx val="0"/>
            <c:invertIfNegative val="0"/>
            <c:spPr>
              <a:solidFill>
                <a:srgbClr val="6A1B3A"/>
              </a:solidFill>
              <a:ln w="0">
                <a:noFill/>
              </a:ln>
            </c:spPr>
          </c:dPt>
          <c:dPt>
            <c:idx val="1"/>
            <c:invertIfNegative val="0"/>
            <c:spPr>
              <a:solidFill>
                <a:srgbClr val="0E7C7B"/>
              </a:solidFill>
              <a:ln w="0">
                <a:noFill/>
              </a:ln>
            </c:spPr>
          </c:dPt>
          <c:dLbls>
            <c:dLbl>
              <c:idx val="0"/>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dLbl>
              <c:idx val="1"/>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dLbl>
            <c:numFmt formatCode="0.0\%" sourceLinked="0"/>
            <c:txPr>
              <a:bodyPr wrap="square"/>
              <a:lstStyle/>
              <a:p>
                <a:pPr>
                  <a:defRPr sz="1000" b="0" u="none" strike="noStrike">
                    <a:solidFill>
                      <a:srgbClr val="1F2A33"/>
                    </a:solidFill>
                    <a:uFillTx/>
                    <a:latin typeface="Calibri"/>
                  </a:defRPr>
                </a:pPr>
              </a:p>
            </c:txPr>
            <c:dLblPos val="outEnd"/>
            <c:showLegendKey val="0"/>
            <c:showVal val="1"/>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2"/>
                <c:pt idx="0">
                  <c:v>DPSC</c:v>
                </c:pt>
                <c:pt idx="1">
                  <c:v>PDLSC</c:v>
                </c:pt>
              </c:strCache>
            </c:strRef>
          </c:cat>
          <c:val>
            <c:numRef>
              <c:f>0</c:f>
              <c:numCache>
                <c:formatCode>General</c:formatCode>
                <c:ptCount val="2"/>
                <c:pt idx="0">
                  <c:v>69.5</c:v>
                </c:pt>
                <c:pt idx="1">
                  <c:v>83.7</c:v>
                </c:pt>
              </c:numCache>
            </c:numRef>
          </c:val>
        </c:ser>
        <c:gapWidth val="45"/>
        <c:overlap val="0"/>
        <c:axId val="88871852"/>
        <c:axId val="26862222"/>
      </c:barChart>
      <c:catAx>
        <c:axId val="88871852"/>
        <c:scaling>
          <c:orientation val="minMax"/>
        </c:scaling>
        <c:delete val="0"/>
        <c:axPos val="b"/>
        <c:numFmt formatCode="[$-409]mm/dd/yyyy" sourceLinked="1"/>
        <c:majorTickMark val="out"/>
        <c:minorTickMark val="none"/>
        <c:tickLblPos val="nextTo"/>
        <c:spPr>
          <a:ln w="6480">
            <a:solidFill>
              <a:srgbClr val="D5DBDF"/>
            </a:solidFill>
            <a:round/>
          </a:ln>
        </c:spPr>
        <c:txPr>
          <a:bodyPr/>
          <a:lstStyle/>
          <a:p>
            <a:pPr>
              <a:defRPr sz="1000" b="0" u="none" strike="noStrike">
                <a:solidFill>
                  <a:srgbClr val="1F2A33"/>
                </a:solidFill>
                <a:uFillTx/>
                <a:latin typeface="Calibri"/>
              </a:defRPr>
            </a:pPr>
          </a:p>
        </c:txPr>
        <c:crossAx val="26862222"/>
        <c:crosses val="autoZero"/>
        <c:auto val="1"/>
        <c:lblAlgn val="ctr"/>
        <c:lblOffset val="100"/>
        <c:noMultiLvlLbl val="0"/>
      </c:catAx>
      <c:valAx>
        <c:axId val="26862222"/>
        <c:scaling>
          <c:orientation val="minMax"/>
          <c:max val="108.81"/>
          <c:min val="0"/>
        </c:scaling>
        <c:delete val="1"/>
        <c:axPos val="l"/>
        <c:numFmt formatCode="General" sourceLinked="1"/>
        <c:majorTickMark val="out"/>
        <c:minorTickMark val="none"/>
        <c:tickLblPos val="nextTo"/>
        <c:spPr>
          <a:ln w="6480">
            <a:solidFill>
              <a:srgbClr val="8B8B8B"/>
            </a:solidFill>
            <a:round/>
          </a:ln>
        </c:spPr>
        <c:txPr>
          <a:bodyPr/>
          <a:lstStyle/>
          <a:p>
            <a:pPr>
              <a:defRPr sz="1800" b="0" u="none" strike="noStrike">
                <a:solidFill>
                  <a:srgbClr val="000000"/>
                </a:solidFill>
                <a:uFillTx/>
                <a:latin typeface="Calibri"/>
              </a:defRPr>
            </a:pPr>
          </a:p>
        </c:txPr>
        <c:crossAx val="88871852"/>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colors3.xml><?xml version="1.0" encoding="utf-8"?>
<cs:colorStyle xmlns:cs="http://schemas.microsoft.com/office/drawing/2012/chartStyle" xmlns:a="http://schemas.openxmlformats.org/drawingml/2006/main" meth="cycle" id="10">
  <a:schemeClr val="accent1"/>
</cs:colorStyle>
</file>

<file path=ppt/charts/colors4.xml><?xml version="1.0" encoding="utf-8"?>
<cs:colorStyle xmlns:cs="http://schemas.microsoft.com/office/drawing/2012/chartStyle" xmlns:a="http://schemas.openxmlformats.org/drawingml/2006/main" meth="cycle" id="10">
  <a:schemeClr val="accent1"/>
</cs:colorStyle>
</file>

<file path=ppt/charts/colors5.xml><?xml version="1.0" encoding="utf-8"?>
<cs:colorStyle xmlns:cs="http://schemas.microsoft.com/office/drawing/2012/chartStyle" xmlns:a="http://schemas.openxmlformats.org/drawingml/2006/main" meth="cycle" id="10">
  <a:schemeClr val="accent1"/>
</cs:colorStyle>
</file>

<file path=ppt/charts/colors6.xml><?xml version="1.0" encoding="utf-8"?>
<cs:colorStyle xmlns:cs="http://schemas.microsoft.com/office/drawing/2012/chartStyle" xmlns:a="http://schemas.openxmlformats.org/drawingml/2006/main" meth="cycle" id="10">
  <a:schemeClr val="accent1"/>
</cs:colorStyle>
</file>

<file path=ppt/charts/colors7.xml><?xml version="1.0" encoding="utf-8"?>
<cs:colorStyle xmlns:cs="http://schemas.microsoft.com/office/drawing/2012/chartStyle" xmlns:a="http://schemas.openxmlformats.org/drawingml/2006/main" meth="cycle" id="10">
  <a:schemeClr val="accent1"/>
</cs:colorStyle>
</file>

<file path=ppt/charts/colors8.xml><?xml version="1.0" encoding="utf-8"?>
<cs:colorStyle xmlns:cs="http://schemas.microsoft.com/office/drawing/2012/chartStyle" xmlns:a="http://schemas.openxmlformats.org/drawingml/2006/main" meth="cycle" id="10">
  <a:schemeClr val="accent1"/>
</cs:colorStyle>
</file>

<file path=ppt/charts/colors9.xml><?xml version="1.0" encoding="utf-8"?>
<cs:colorStyle xmlns:cs="http://schemas.microsoft.com/office/drawing/2012/chartStyle" xmlns:a="http://schemas.openxmlformats.org/drawingml/2006/main" meth="cycle" id="10">
  <a:schemeClr val="accent1"/>
</cs:colorStyle>
</file>

<file path=ppt/charts/colors10.xml><?xml version="1.0" encoding="utf-8"?>
<cs:colorStyle xmlns:cs="http://schemas.microsoft.com/office/drawing/2012/chartStyle" xmlns:a="http://schemas.openxmlformats.org/drawingml/2006/main" meth="cycle" id="10">
  <a:schemeClr val="accent1"/>
</cs:colorStyle>
</file>

<file path=ppt/charts/colors11.xml><?xml version="1.0" encoding="utf-8"?>
<cs:colorStyle xmlns:cs="http://schemas.microsoft.com/office/drawing/2012/chartStyle" xmlns:a="http://schemas.openxmlformats.org/drawingml/2006/main" meth="cycle" id="10">
  <a:schemeClr val="accent1"/>
</cs:colorStyle>
</file>

<file path=ppt/charts/colors12.xml><?xml version="1.0" encoding="utf-8"?>
<cs:colorStyle xmlns:cs="http://schemas.microsoft.com/office/drawing/2012/chartStyle" xmlns:a="http://schemas.openxmlformats.org/drawingml/2006/main" meth="cycle" id="10">
  <a:schemeClr val="accent1"/>
</cs:colorStyle>
</file>

<file path=ppt/charts/colors13.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4.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5.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6.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7.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8.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9.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10.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1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1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1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848734E-28B4-40E7-A6EB-445D7425793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685800" y="1143000"/>
            <a:ext cx="5486040" cy="3085920"/>
          </a:xfrm>
          <a:prstGeom prst="rect">
            <a:avLst/>
          </a:prstGeom>
          <a:ln w="0">
            <a:noFill/>
          </a:ln>
        </p:spPr>
      </p:sp>
      <p:sp>
        <p:nvSpPr>
          <p:cNvPr id="2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Title slide. Every slide ends with a source line naming the dataset, the script that produced the result and the results file it came from, so any number can be traced in the repository.</a:t>
            </a:r>
            <a:endParaRPr lang="en-US" sz="2000" b="0" u="none" strike="noStrike">
              <a:solidFill>
                <a:srgbClr val="000000"/>
              </a:solidFill>
              <a:effectLst/>
              <a:uFillTx/>
              <a:latin typeface="Arial"/>
            </a:endParaRPr>
          </a:p>
        </p:txBody>
      </p:sp>
      <p:sp>
        <p:nvSpPr>
          <p:cNvPr id="21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57FC79-55E3-4864-A065-F8855AE9749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85800" y="1143000"/>
            <a:ext cx="5486040" cy="3085920"/>
          </a:xfrm>
          <a:prstGeom prst="rect">
            <a:avLst/>
          </a:prstGeom>
          <a:ln w="0">
            <a:noFill/>
          </a:ln>
        </p:spPr>
      </p:sp>
      <p:sp>
        <p:nvSpPr>
          <p:cNvPr id="2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Headline result. H1 (WLS expressed) is supported; H2 (WLS enriched in DPSCs) is not. The comparison with fibroblasts is a donor-paired pseudobulk test, so the five donors are the replicates.</a:t>
            </a:r>
            <a:endParaRPr lang="en-US" sz="2000" b="0" u="none" strike="noStrike">
              <a:solidFill>
                <a:srgbClr val="000000"/>
              </a:solidFill>
              <a:effectLst/>
              <a:uFillTx/>
              <a:latin typeface="Arial"/>
            </a:endParaRPr>
          </a:p>
        </p:txBody>
      </p:sp>
      <p:sp>
        <p:nvSpPr>
          <p:cNvPr id="21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8D3813-1868-4831-AEEA-BD233C425A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85800" y="1143000"/>
            <a:ext cx="5486040" cy="3085920"/>
          </a:xfrm>
          <a:prstGeom prst="rect">
            <a:avLst/>
          </a:prstGeom>
          <a:ln w="0">
            <a:noFill/>
          </a:ln>
        </p:spPr>
      </p:sp>
      <p:sp>
        <p:nvSpPr>
          <p:cNvPr id="2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pulp samples from GSE164157 in 10x Cell Ranger format. Singlet counts are after QC and doublet removal. Clinical details of the teeth are not in the processed files; the original GSE164157 publication should be cited.</a:t>
            </a:r>
            <a:endParaRPr lang="en-US" sz="2000" b="0" u="none" strike="noStrike">
              <a:solidFill>
                <a:srgbClr val="000000"/>
              </a:solidFill>
              <a:effectLst/>
              <a:uFillTx/>
              <a:latin typeface="Arial"/>
            </a:endParaRPr>
          </a:p>
        </p:txBody>
      </p:sp>
      <p:sp>
        <p:nvSpPr>
          <p:cNvPr id="21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EF9522-BDF0-4ED1-9251-A259D7E4C4B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sldImg"/>
          </p:nvPr>
        </p:nvSpPr>
        <p:spPr>
          <a:xfrm>
            <a:off x="685800" y="1143000"/>
            <a:ext cx="5486040" cy="3085920"/>
          </a:xfrm>
          <a:prstGeom prst="rect">
            <a:avLst/>
          </a:prstGeom>
          <a:ln w="0">
            <a:noFill/>
          </a:ln>
        </p:spPr>
      </p:sp>
      <p:sp>
        <p:nvSpPr>
          <p:cNvPr id="2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order is shown left to right. Each script reads the previous stage output from data/processed and writes figures, CSV tables and sessionInfo.txt to its results folder.</a:t>
            </a:r>
            <a:endParaRPr lang="en-US" sz="2000" b="0" u="none" strike="noStrike">
              <a:solidFill>
                <a:srgbClr val="000000"/>
              </a:solidFill>
              <a:effectLst/>
              <a:uFillTx/>
              <a:latin typeface="Arial"/>
            </a:endParaRPr>
          </a:p>
        </p:txBody>
      </p:sp>
      <p:sp>
        <p:nvSpPr>
          <p:cNvPr id="22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A43502-A8C2-4212-ABAB-71AC7F4359A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sldImg"/>
          </p:nvPr>
        </p:nvSpPr>
        <p:spPr>
          <a:xfrm>
            <a:off x="685800" y="1143000"/>
            <a:ext cx="5486040" cy="3085920"/>
          </a:xfrm>
          <a:prstGeom prst="rect">
            <a:avLst/>
          </a:prstGeom>
          <a:ln w="0">
            <a:noFill/>
          </a:ln>
        </p:spPr>
      </p:sp>
      <p:sp>
        <p:nvSpPr>
          <p:cNvPr id="2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Overview of the methods behind every slide. Discovery analysis: scripts 02–07b in dpsc-wls-human-scRNAseq. Validation: scripts 00–04 in dpsc-wls-validation, using the same settings.</a:t>
            </a:r>
            <a:endParaRPr lang="en-US" sz="2000" b="0" u="none" strike="noStrike">
              <a:solidFill>
                <a:srgbClr val="000000"/>
              </a:solidFill>
              <a:effectLst/>
              <a:uFillTx/>
              <a:latin typeface="Arial"/>
            </a:endParaRPr>
          </a:p>
        </p:txBody>
      </p:sp>
      <p:sp>
        <p:nvSpPr>
          <p:cNvPr id="22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A94553-4381-4CE5-B292-651513B8AB9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685800" y="1143000"/>
            <a:ext cx="5486040" cy="3085920"/>
          </a:xfrm>
          <a:prstGeom prst="rect">
            <a:avLst/>
          </a:prstGeom>
          <a:ln w="0">
            <a:noFill/>
          </a:ln>
        </p:spPr>
      </p:sp>
      <p:sp>
        <p:nvSpPr>
          <p:cNvPr id="2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856 cells (3.3%) failed QC; 1,703 doublets (6.8%) were removed, run per donor because doublets form only within one 10x capture.</a:t>
            </a:r>
            <a:endParaRPr lang="en-US" sz="2000" b="0" u="none" strike="noStrike">
              <a:solidFill>
                <a:srgbClr val="000000"/>
              </a:solidFill>
              <a:effectLst/>
              <a:uFillTx/>
              <a:latin typeface="Arial"/>
            </a:endParaRPr>
          </a:p>
        </p:txBody>
      </p:sp>
      <p:sp>
        <p:nvSpPr>
          <p:cNvPr id="22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9AE759F-C178-4648-BF84-09C136C4512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sldImg"/>
          </p:nvPr>
        </p:nvSpPr>
        <p:spPr>
          <a:xfrm>
            <a:off x="685800" y="1143000"/>
            <a:ext cx="5486040" cy="3085920"/>
          </a:xfrm>
          <a:prstGeom prst="rect">
            <a:avLst/>
          </a:prstGeom>
          <a:ln w="0">
            <a:noFill/>
          </a:ln>
        </p:spPr>
      </p:sp>
      <p:sp>
        <p:nvSpPr>
          <p:cNvPr id="2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After Harmony the mesenchymal clusters draw cells evenly from all donors, so the DPSC comparison is not driven by one donor. Figure: results/06a_batch/07_UMAP_after_harmony.png.</a:t>
            </a:r>
            <a:endParaRPr lang="en-US" sz="2000" b="0" u="none" strike="noStrike">
              <a:solidFill>
                <a:srgbClr val="000000"/>
              </a:solidFill>
              <a:effectLst/>
              <a:uFillTx/>
              <a:latin typeface="Arial"/>
            </a:endParaRPr>
          </a:p>
        </p:txBody>
      </p:sp>
      <p:sp>
        <p:nvSpPr>
          <p:cNvPr id="23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E87818-5254-4E00-82BE-0FCAD34A426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685800" y="1143000"/>
            <a:ext cx="5486040" cy="3085920"/>
          </a:xfrm>
          <a:prstGeom prst="rect">
            <a:avLst/>
          </a:prstGeom>
          <a:ln w="0">
            <a:noFill/>
          </a:ln>
        </p:spPr>
      </p:sp>
      <p:sp>
        <p:nvSpPr>
          <p:cNvPr id="2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Orange bars are mesenchymal lineages. UMAP figure: results/06_annotation/03_UMAP_cell_types.png. Marker dot plot: results/06_annotation/01_DotPlot_lineage_markers.png.</a:t>
            </a:r>
            <a:endParaRPr lang="en-US" sz="2000" b="0" u="none" strike="noStrike">
              <a:solidFill>
                <a:srgbClr val="000000"/>
              </a:solidFill>
              <a:effectLst/>
              <a:uFillTx/>
              <a:latin typeface="Arial"/>
            </a:endParaRPr>
          </a:p>
        </p:txBody>
      </p:sp>
      <p:sp>
        <p:nvSpPr>
          <p:cNvPr id="23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F50D99-3A72-4ABC-86DF-2AE614C75F7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sldImg"/>
          </p:nvPr>
        </p:nvSpPr>
        <p:spPr>
          <a:xfrm>
            <a:off x="685800" y="1143000"/>
            <a:ext cx="5486040" cy="3085920"/>
          </a:xfrm>
          <a:prstGeom prst="rect">
            <a:avLst/>
          </a:prstGeom>
          <a:ln w="0">
            <a:noFill/>
          </a:ln>
        </p:spPr>
      </p:sp>
      <p:sp>
        <p:nvSpPr>
          <p:cNvPr id="2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Candidate DPSCs = mesenchymal sub-clusters with a positive mean stem score. Figure: results/06_annotation/04_mesenchyme_DPSC_score.png.</a:t>
            </a:r>
            <a:endParaRPr lang="en-US" sz="2000" b="0" u="none" strike="noStrike">
              <a:solidFill>
                <a:srgbClr val="000000"/>
              </a:solidFill>
              <a:effectLst/>
              <a:uFillTx/>
              <a:latin typeface="Arial"/>
            </a:endParaRPr>
          </a:p>
        </p:txBody>
      </p:sp>
      <p:sp>
        <p:nvSpPr>
          <p:cNvPr id="23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5D138B-C09F-4014-8773-BA0809F707E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685800" y="1143000"/>
            <a:ext cx="5486040" cy="3085920"/>
          </a:xfrm>
          <a:prstGeom prst="rect">
            <a:avLst/>
          </a:prstGeom>
          <a:ln w="0">
            <a:noFill/>
          </a:ln>
        </p:spPr>
      </p:sp>
      <p:sp>
        <p:nvSpPr>
          <p:cNvPr id="2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Groups with at least 20 cells per donor. Figures: results/07_WLS/01_UMAP_WLS_and_groups.png and 05_WLS_pct_per_donor.png.</a:t>
            </a:r>
            <a:endParaRPr lang="en-US" sz="2000" b="0" u="none" strike="noStrike">
              <a:solidFill>
                <a:srgbClr val="000000"/>
              </a:solidFill>
              <a:effectLst/>
              <a:uFillTx/>
              <a:latin typeface="Arial"/>
            </a:endParaRPr>
          </a:p>
        </p:txBody>
      </p:sp>
      <p:sp>
        <p:nvSpPr>
          <p:cNvPr id="23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9350CD8-56E9-4EDD-8C6F-125B74FFDD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685800" y="1143000"/>
            <a:ext cx="5486040" cy="3085920"/>
          </a:xfrm>
          <a:prstGeom prst="rect">
            <a:avLst/>
          </a:prstGeom>
          <a:ln w="0">
            <a:noFill/>
          </a:ln>
        </p:spPr>
      </p:sp>
      <p:sp>
        <p:nvSpPr>
          <p:cNvPr id="2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Positive = higher in candidate DPSCs. Lower than fibroblasts and myeloid cells, higher than endothelial, equal to the pulp average. The mixed-model p-value is overly small because it treats cells as observations; use the pseudobulk FDRs for inference.</a:t>
            </a:r>
            <a:endParaRPr lang="en-US" sz="2000" b="0" u="none" strike="noStrike">
              <a:solidFill>
                <a:srgbClr val="000000"/>
              </a:solidFill>
              <a:effectLst/>
              <a:uFillTx/>
              <a:latin typeface="Arial"/>
            </a:endParaRPr>
          </a:p>
        </p:txBody>
      </p:sp>
      <p:sp>
        <p:nvSpPr>
          <p:cNvPr id="24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7F2A81F-1D51-4EFB-B563-14FE8CC82D9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685800" y="1143000"/>
            <a:ext cx="5486040" cy="3085920"/>
          </a:xfrm>
          <a:prstGeom prst="rect">
            <a:avLst/>
          </a:prstGeom>
          <a:ln w="0">
            <a:noFill/>
          </a:ln>
        </p:spPr>
      </p:sp>
      <p:sp>
        <p:nvSpPr>
          <p:cNvPr id="2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After adjusting for genes detected per cell, the association is gone everywhere except Schwann/glia (OR 1.80, 95% CI 1.18–2.73, p = 0.006). Fibroblasts express WNT5A/WNT5B; candidate DPSCs mainly WNT6.</a:t>
            </a:r>
            <a:endParaRPr lang="en-US" sz="2000" b="0" u="none" strike="noStrike">
              <a:solidFill>
                <a:srgbClr val="000000"/>
              </a:solidFill>
              <a:effectLst/>
              <a:uFillTx/>
              <a:latin typeface="Arial"/>
            </a:endParaRPr>
          </a:p>
        </p:txBody>
      </p:sp>
      <p:sp>
        <p:nvSpPr>
          <p:cNvPr id="24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D58B01-781F-43FB-BAEF-4B6E7EFD863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685800" y="1143000"/>
            <a:ext cx="5486040" cy="3085920"/>
          </a:xfrm>
          <a:prstGeom prst="rect">
            <a:avLst/>
          </a:prstGeom>
          <a:ln w="0">
            <a:noFill/>
          </a:ln>
        </p:spPr>
      </p:sp>
      <p:sp>
        <p:nvSpPr>
          <p:cNvPr id="2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Definition C selects the best-sequenced cells, which favours WLS detection, so it is least likely to show a deficit. Figure: results/07b_sensitivity/01_sensitivity_log2FC.png.</a:t>
            </a:r>
            <a:endParaRPr lang="en-US" sz="2000" b="0" u="none" strike="noStrike">
              <a:solidFill>
                <a:srgbClr val="000000"/>
              </a:solidFill>
              <a:effectLst/>
              <a:uFillTx/>
              <a:latin typeface="Arial"/>
            </a:endParaRPr>
          </a:p>
        </p:txBody>
      </p:sp>
      <p:sp>
        <p:nvSpPr>
          <p:cNvPr id="24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06DFA3-B111-4D93-9B83-0A6AD423D56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685800" y="1143000"/>
            <a:ext cx="5486040" cy="3085920"/>
          </a:xfrm>
          <a:prstGeom prst="rect">
            <a:avLst/>
          </a:prstGeom>
          <a:ln w="0">
            <a:noFill/>
          </a:ln>
        </p:spPr>
      </p:sp>
      <p:sp>
        <p:nvSpPr>
          <p:cNvPr id="2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Median UMIs per candidate DPSC: Pulp3 656, Pulp2 1,723, Pulp4 2,338, Pulp5 2,485, Pulp1 3,228.</a:t>
            </a:r>
            <a:endParaRPr lang="en-US" sz="2000" b="0" u="none" strike="noStrike">
              <a:solidFill>
                <a:srgbClr val="000000"/>
              </a:solidFill>
              <a:effectLst/>
              <a:uFillTx/>
              <a:latin typeface="Arial"/>
            </a:endParaRPr>
          </a:p>
        </p:txBody>
      </p:sp>
      <p:sp>
        <p:nvSpPr>
          <p:cNvPr id="25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800E8D-1BD7-4A31-863E-2D91442997F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685800" y="1143000"/>
            <a:ext cx="5486040" cy="3085920"/>
          </a:xfrm>
          <a:prstGeom prst="rect">
            <a:avLst/>
          </a:prstGeom>
          <a:ln w="0">
            <a:noFill/>
          </a:ln>
        </p:spPr>
      </p:sp>
      <p:sp>
        <p:nvSpPr>
          <p:cNvPr id="2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Key message: WLS is present in DPSCs but they are not a specialised WLS-high population in uninjured adult pulp.</a:t>
            </a:r>
            <a:endParaRPr lang="en-US" sz="2000" b="0" u="none" strike="noStrike">
              <a:solidFill>
                <a:srgbClr val="000000"/>
              </a:solidFill>
              <a:effectLst/>
              <a:uFillTx/>
              <a:latin typeface="Arial"/>
            </a:endParaRPr>
          </a:p>
        </p:txBody>
      </p:sp>
      <p:sp>
        <p:nvSpPr>
          <p:cNvPr id="25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F5A0EAE-E9C4-4854-8CF6-204EF1315CC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6040" cy="3085920"/>
          </a:xfrm>
          <a:prstGeom prst="rect">
            <a:avLst/>
          </a:prstGeom>
          <a:ln w="0">
            <a:noFill/>
          </a:ln>
        </p:spPr>
      </p:sp>
      <p:sp>
        <p:nvSpPr>
          <p:cNvPr id="2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by asking the four questions; the answers decide the next stage.</a:t>
            </a:r>
            <a:endParaRPr lang="en-US" sz="2000" b="0" u="none" strike="noStrike">
              <a:solidFill>
                <a:srgbClr val="000000"/>
              </a:solidFill>
              <a:effectLst/>
              <a:uFillTx/>
              <a:latin typeface="Arial"/>
            </a:endParaRPr>
          </a:p>
        </p:txBody>
      </p:sp>
      <p:sp>
        <p:nvSpPr>
          <p:cNvPr id="25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AFC17A3-61FE-4806-9527-8F4983E8012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685800" y="1143000"/>
            <a:ext cx="5486040" cy="3085920"/>
          </a:xfrm>
          <a:prstGeom prst="rect">
            <a:avLst/>
          </a:prstGeom>
          <a:ln w="0">
            <a:noFill/>
          </a:ln>
        </p:spPr>
      </p:sp>
      <p:sp>
        <p:nvSpPr>
          <p:cNvPr id="2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Validation of the GSE164157 result in GSE202476, GSE185222 (sound tooth) and GSE227731 (DPSC vs PDLSC), with the same QC, marker panels and DPSC definition A as 06_annotation.R. The answer is unchanged: WLS is present in DPSCs but they are not a WLS-high population.</a:t>
            </a:r>
            <a:endParaRPr lang="en-US" sz="2000" b="0" u="none" strike="noStrike">
              <a:solidFill>
                <a:srgbClr val="000000"/>
              </a:solidFill>
              <a:effectLst/>
              <a:uFillTx/>
              <a:latin typeface="Arial"/>
            </a:endParaRPr>
          </a:p>
        </p:txBody>
      </p:sp>
      <p:sp>
        <p:nvSpPr>
          <p:cNvPr id="26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C8588C-83BA-4C25-A4C2-17891CC62B8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60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Read each row within its dataset. Percentages of WLS-positive cells differ between datasets because of sequencing depth, chemistry and culture, so only the DPSC-vs-comparison direction is comparable. Only GSE164157 has donor-level replication; the other three are descriptive.</a:t>
            </a:r>
            <a:endParaRPr lang="en-US" sz="2000" b="0" u="none" strike="noStrike">
              <a:solidFill>
                <a:srgbClr val="000000"/>
              </a:solidFill>
              <a:effectLst/>
              <a:uFillTx/>
              <a:latin typeface="Arial"/>
            </a:endParaRPr>
          </a:p>
        </p:txBody>
      </p:sp>
      <p:sp>
        <p:nvSpPr>
          <p:cNvPr id="26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131B66E-9D64-4880-94E5-D7E6EFD1ADF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60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GSE185222 is the sound tooth only (887 cells; odontoblasts n = 18). In GSE227731 the main DPSC sub-clusters are 64–80% WLS-positive; one sub-cluster (187 cells) is WLS-low at 14%. T/NK cells are essentially WLS-negative in every dataset.</a:t>
            </a:r>
            <a:endParaRPr lang="en-US" sz="2000" b="0" u="none" strike="noStrike">
              <a:solidFill>
                <a:srgbClr val="000000"/>
              </a:solidFill>
              <a:effectLst/>
              <a:uFillTx/>
              <a:latin typeface="Arial"/>
            </a:endParaRPr>
          </a:p>
        </p:txBody>
      </p:sp>
      <p:sp>
        <p:nvSpPr>
          <p:cNvPr id="26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FE9B25E-1DFD-4772-A03D-1B63C2405C8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685800" y="1143000"/>
            <a:ext cx="54860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Left: the large WLS-positive mass on the right is the fibroblasts; the perivascular island (candidate DPSCs) shows sparser signal. Middle: sound tooth only. Right: cultured DPSCs and PDLSCs together; WLS is broad.</a:t>
            </a:r>
            <a:endParaRPr lang="en-US" sz="2000" b="0" u="none" strike="noStrike">
              <a:solidFill>
                <a:srgbClr val="000000"/>
              </a:solidFill>
              <a:effectLst/>
              <a:uFillTx/>
              <a:latin typeface="Arial"/>
            </a:endParaRPr>
          </a:p>
        </p:txBody>
      </p:sp>
      <p:sp>
        <p:nvSpPr>
          <p:cNvPr id="26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22CB85-84AB-40D1-92F2-592A98B3470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685800" y="1143000"/>
            <a:ext cx="5486040" cy="3085920"/>
          </a:xfrm>
          <a:prstGeom prst="rect">
            <a:avLst/>
          </a:prstGeom>
          <a:ln w="0">
            <a:noFill/>
          </a:ln>
        </p:spPr>
      </p:sp>
      <p:sp>
        <p:nvSpPr>
          <p:cNvPr id="2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Key message: across four datasets, WLS is present in DPSCs at or below the level of surrounding cells. GSE227731 comes from the Kantarci lab at ADA Forsyth, so culture conditions and donor numbers can be confirmed directly.</a:t>
            </a:r>
            <a:endParaRPr lang="en-US" sz="2000" b="0" u="none" strike="noStrike">
              <a:solidFill>
                <a:srgbClr val="000000"/>
              </a:solidFill>
              <a:effectLst/>
              <a:uFillTx/>
              <a:latin typeface="Arial"/>
            </a:endParaRPr>
          </a:p>
        </p:txBody>
      </p:sp>
      <p:sp>
        <p:nvSpPr>
          <p:cNvPr id="27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BE7BB6-F73D-4E15-838A-315D57AD01A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chart" Target="../charts/chart11.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slideLayout" Target="../slideLayouts/slideLayout1.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6A1B3A"/>
        </a:solidFill>
      </p:bgPr>
    </p:bg>
    <p:spTree>
      <p:nvGrpSpPr>
        <p:cNvPr id="1" name=""/>
        <p:cNvGrpSpPr/>
        <p:nvPr/>
      </p:nvGrpSpPr>
      <p:grpSpPr>
        <a:xfrm>
          <a:off x="0" y="0"/>
          <a:ext cx="0" cy="0"/>
          <a:chOff x="0" y="0"/>
          <a:chExt cx="0" cy="0"/>
        </a:xfrm>
      </p:grpSpPr>
      <p:sp>
        <p:nvSpPr>
          <p:cNvPr id="10" name="Shape 0"/>
          <p:cNvSpPr/>
          <p:nvPr/>
        </p:nvSpPr>
        <p:spPr>
          <a:xfrm>
            <a:off x="6309360" y="822960"/>
            <a:ext cx="3291480" cy="3291480"/>
          </a:xfrm>
          <a:prstGeom prst="ellipse">
            <a:avLst/>
          </a:prstGeom>
          <a:solidFill>
            <a:srgbClr val="B03A5B">
              <a:alpha val="45000"/>
            </a:srgbClr>
          </a:solidFill>
          <a:ln w="12700">
            <a:solidFill>
              <a:srgbClr val="B03A5B">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7223760" y="2011680"/>
            <a:ext cx="1737000" cy="1737000"/>
          </a:xfrm>
          <a:prstGeom prst="ellipse">
            <a:avLst/>
          </a:prstGeom>
          <a:solidFill>
            <a:srgbClr val="F3DDE6">
              <a:alpha val="30000"/>
            </a:srgbClr>
          </a:solidFill>
          <a:ln w="12700">
            <a:solidFill>
              <a:srgbClr val="F3DDE6">
                <a:alpha val="3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Text 2"/>
          <p:cNvSpPr/>
          <p:nvPr/>
        </p:nvSpPr>
        <p:spPr>
          <a:xfrm>
            <a:off x="457200" y="914400"/>
            <a:ext cx="60346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FFFFFF"/>
                </a:solidFill>
                <a:effectLst/>
                <a:uFillTx/>
                <a:latin typeface="Cambria"/>
                <a:ea typeface="Cambria"/>
              </a:rPr>
              <a:t>WLS (GPR177/Wntless) in Human Dental Pulp Stem Cells</a:t>
            </a:r>
            <a:endParaRPr lang="en-US" sz="3400" b="0" u="none" strike="noStrike">
              <a:solidFill>
                <a:srgbClr val="FFFFFF"/>
              </a:solidFill>
              <a:effectLst/>
              <a:uFillTx/>
              <a:latin typeface="Arial"/>
            </a:endParaRPr>
          </a:p>
        </p:txBody>
      </p:sp>
      <p:sp>
        <p:nvSpPr>
          <p:cNvPr id="13" name="Text 3"/>
          <p:cNvSpPr/>
          <p:nvPr/>
        </p:nvSpPr>
        <p:spPr>
          <a:xfrm>
            <a:off x="457200" y="2468880"/>
            <a:ext cx="5943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i="1" u="none" strike="noStrike">
                <a:solidFill>
                  <a:srgbClr val="F3DDE6"/>
                </a:solidFill>
                <a:effectLst/>
                <a:uFillTx/>
                <a:latin typeface="Calibri"/>
                <a:ea typeface="Calibri"/>
              </a:rPr>
              <a:t>A donor-aware single-cell analysis of GSE164157</a:t>
            </a:r>
            <a:endParaRPr lang="en-US" sz="1700" b="0" u="none" strike="noStrike">
              <a:solidFill>
                <a:srgbClr val="FFFFFF"/>
              </a:solidFill>
              <a:effectLst/>
              <a:uFillTx/>
              <a:latin typeface="Arial"/>
            </a:endParaRPr>
          </a:p>
        </p:txBody>
      </p:sp>
      <p:sp>
        <p:nvSpPr>
          <p:cNvPr id="14" name="Text 4"/>
          <p:cNvSpPr/>
          <p:nvPr/>
        </p:nvSpPr>
        <p:spPr>
          <a:xfrm>
            <a:off x="457200" y="3154680"/>
            <a:ext cx="5943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Md Tariqul Islam</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FFFFF"/>
                </a:solidFill>
                <a:effectLst/>
                <a:uFillTx/>
                <a:latin typeface="Calibri"/>
                <a:ea typeface="Calibri"/>
              </a:rPr>
              <a:t>Laboratory of Professor Wei Hsu, The ADA Forsyth Institute</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FFFFFF"/>
                </a:solidFill>
                <a:effectLst/>
                <a:uFillTx/>
                <a:latin typeface="Calibri"/>
                <a:ea typeface="Calibri"/>
              </a:rPr>
              <a:t>October 2026</a:t>
            </a:r>
            <a:endParaRPr lang="en-US" sz="1300" b="0" u="none" strike="noStrike">
              <a:solidFill>
                <a:srgbClr val="FFFFFF"/>
              </a:solidFill>
              <a:effectLst/>
              <a:uFillTx/>
              <a:latin typeface="Arial"/>
            </a:endParaRPr>
          </a:p>
        </p:txBody>
      </p:sp>
      <p:sp>
        <p:nvSpPr>
          <p:cNvPr id="15" name="Shape 5"/>
          <p:cNvSpPr/>
          <p:nvPr/>
        </p:nvSpPr>
        <p:spPr>
          <a:xfrm>
            <a:off x="457200" y="4553640"/>
            <a:ext cx="8229240" cy="493560"/>
          </a:xfrm>
          <a:prstGeom prst="roundRect">
            <a:avLst>
              <a:gd name="adj" fmla="val 23529"/>
            </a:avLst>
          </a:prstGeom>
          <a:solidFill>
            <a:srgbClr val="4A1328"/>
          </a:solidFill>
          <a:ln w="12700">
            <a:solidFill>
              <a:srgbClr val="4A132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6" name="Text 6"/>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F3DDE6"/>
                </a:solidFill>
                <a:effectLst/>
                <a:uFillTx/>
                <a:latin typeface="Calibri"/>
                <a:ea typeface="Calibri"/>
              </a:rPr>
              <a:t>Method: </a:t>
            </a:r>
            <a:r>
              <a:rPr lang="en-US" sz="800" b="0" u="none" strike="noStrike">
                <a:solidFill>
                  <a:srgbClr val="F3DDE6"/>
                </a:solidFill>
                <a:effectLst/>
                <a:uFillTx/>
                <a:latin typeface="Calibri"/>
                <a:ea typeface="Calibri"/>
              </a:rPr>
              <a:t>Secondary analysis of public 10x Genomics scRNA-seq in R 4.6 with Seurat v5; one numbered R script per stage, run with Rscript; packages locked with renv; code on GitHub.</a:t>
            </a:r>
            <a:endParaRPr lang="en-US" sz="800" b="0" u="none" strike="noStrike">
              <a:solidFill>
                <a:srgbClr val="FFFFFF"/>
              </a:solidFill>
              <a:effectLst/>
              <a:uFillTx/>
              <a:latin typeface="Arial"/>
            </a:endParaRPr>
          </a:p>
          <a:p>
            <a:pPr defTabSz="914400">
              <a:lnSpc>
                <a:spcPct val="100000"/>
              </a:lnSpc>
              <a:tabLst>
                <a:tab pos="0" algn="l"/>
              </a:tabLst>
            </a:pPr>
            <a:r>
              <a:rPr lang="en-US" sz="800" b="1" u="none" strike="noStrike">
                <a:solidFill>
                  <a:srgbClr val="F3DDE6"/>
                </a:solidFill>
                <a:effectLst/>
                <a:uFillTx/>
                <a:latin typeface="Calibri"/>
                <a:ea typeface="Calibri"/>
              </a:rPr>
              <a:t>Code and outputs: </a:t>
            </a:r>
            <a:r>
              <a:rPr lang="en-US" sz="800" b="0" u="none" strike="noStrike">
                <a:solidFill>
                  <a:srgbClr val="F3DDE6"/>
                </a:solidFill>
                <a:effectLst/>
                <a:uFillTx/>
                <a:latin typeface="Calibri"/>
                <a:ea typeface="Calibri"/>
              </a:rPr>
              <a:t>Data: GEO GSE164157 (5 donors, 10x Genomics)  |  Code: github.com/mtariqi/dpsc-wls-human-scRNAseq</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The answer up front</a:t>
            </a:r>
            <a:endParaRPr lang="en-US" sz="2800" b="0" u="none" strike="noStrike">
              <a:solidFill>
                <a:srgbClr val="000000"/>
              </a:solidFill>
              <a:effectLst/>
              <a:uFillTx/>
              <a:latin typeface="Arial"/>
            </a:endParaRPr>
          </a:p>
        </p:txBody>
      </p:sp>
      <p:sp>
        <p:nvSpPr>
          <p:cNvPr id="18"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Is WLS expressed, and enriched, in human DPSCs?</a:t>
            </a:r>
            <a:endParaRPr lang="en-US" sz="1300" b="0" u="none" strike="noStrike">
              <a:solidFill>
                <a:srgbClr val="000000"/>
              </a:solidFill>
              <a:effectLst/>
              <a:uFillTx/>
              <a:latin typeface="Arial"/>
            </a:endParaRPr>
          </a:p>
        </p:txBody>
      </p:sp>
      <p:sp>
        <p:nvSpPr>
          <p:cNvPr id="19" name="Text 2"/>
          <p:cNvSpPr/>
          <p:nvPr/>
        </p:nvSpPr>
        <p:spPr>
          <a:xfrm>
            <a:off x="457200" y="128016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F2A33"/>
                </a:solidFill>
                <a:effectLst/>
                <a:uFillTx/>
                <a:latin typeface="Cambria"/>
                <a:ea typeface="Cambria"/>
              </a:rPr>
              <a:t>WLS is expressed in candidate DPSCs in every donor, but it is not enriched in them.</a:t>
            </a:r>
            <a:endParaRPr lang="en-US" sz="1800" b="0" u="none" strike="noStrike">
              <a:solidFill>
                <a:srgbClr val="000000"/>
              </a:solidFill>
              <a:effectLst/>
              <a:uFillTx/>
              <a:latin typeface="Arial"/>
            </a:endParaRPr>
          </a:p>
        </p:txBody>
      </p:sp>
      <p:sp>
        <p:nvSpPr>
          <p:cNvPr id="20" name="Shape 3"/>
          <p:cNvSpPr/>
          <p:nvPr/>
        </p:nvSpPr>
        <p:spPr>
          <a:xfrm>
            <a:off x="457200" y="2057400"/>
            <a:ext cx="2605680" cy="2285640"/>
          </a:xfrm>
          <a:prstGeom prst="roundRect">
            <a:avLst>
              <a:gd name="adj" fmla="val 4800"/>
            </a:avLst>
          </a:prstGeom>
          <a:solidFill>
            <a:srgbClr val="F4F6F7"/>
          </a:solidFill>
          <a:ln w="12700">
            <a:solidFill>
              <a:srgbClr val="F4F6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 name="Text 4"/>
          <p:cNvSpPr/>
          <p:nvPr/>
        </p:nvSpPr>
        <p:spPr>
          <a:xfrm>
            <a:off x="640080" y="2240280"/>
            <a:ext cx="22399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0E7C7B"/>
                </a:solidFill>
                <a:effectLst/>
                <a:uFillTx/>
                <a:latin typeface="Cambria"/>
                <a:ea typeface="Cambria"/>
              </a:rPr>
              <a:t>11.1%</a:t>
            </a:r>
            <a:endParaRPr lang="en-US" sz="4400" b="0" u="none" strike="noStrike">
              <a:solidFill>
                <a:srgbClr val="000000"/>
              </a:solidFill>
              <a:effectLst/>
              <a:uFillTx/>
              <a:latin typeface="Arial"/>
            </a:endParaRPr>
          </a:p>
        </p:txBody>
      </p:sp>
      <p:sp>
        <p:nvSpPr>
          <p:cNvPr id="22" name="Text 5"/>
          <p:cNvSpPr/>
          <p:nvPr/>
        </p:nvSpPr>
        <p:spPr>
          <a:xfrm>
            <a:off x="640080" y="3200400"/>
            <a:ext cx="223992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1F2A33"/>
                </a:solidFill>
                <a:effectLst/>
                <a:uFillTx/>
                <a:latin typeface="Calibri"/>
                <a:ea typeface="Calibri"/>
              </a:rPr>
              <a:t>median WLS⁺ candidate DPSCs per donor (all 5 donors)</a:t>
            </a:r>
            <a:endParaRPr lang="en-US" sz="1300" b="0" u="none" strike="noStrike">
              <a:solidFill>
                <a:srgbClr val="000000"/>
              </a:solidFill>
              <a:effectLst/>
              <a:uFillTx/>
              <a:latin typeface="Arial"/>
            </a:endParaRPr>
          </a:p>
        </p:txBody>
      </p:sp>
      <p:sp>
        <p:nvSpPr>
          <p:cNvPr id="23" name="Shape 6"/>
          <p:cNvSpPr/>
          <p:nvPr/>
        </p:nvSpPr>
        <p:spPr>
          <a:xfrm>
            <a:off x="3246120" y="2057400"/>
            <a:ext cx="2605680" cy="2285640"/>
          </a:xfrm>
          <a:prstGeom prst="roundRect">
            <a:avLst>
              <a:gd name="adj" fmla="val 4800"/>
            </a:avLst>
          </a:prstGeom>
          <a:solidFill>
            <a:srgbClr val="F4F6F7"/>
          </a:solidFill>
          <a:ln w="12700">
            <a:solidFill>
              <a:srgbClr val="F4F6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 name="Text 7"/>
          <p:cNvSpPr/>
          <p:nvPr/>
        </p:nvSpPr>
        <p:spPr>
          <a:xfrm>
            <a:off x="3429000" y="2240280"/>
            <a:ext cx="22399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B03A5B"/>
                </a:solidFill>
                <a:effectLst/>
                <a:uFillTx/>
                <a:latin typeface="Cambria"/>
                <a:ea typeface="Cambria"/>
              </a:rPr>
              <a:t>1.9×</a:t>
            </a:r>
            <a:endParaRPr lang="en-US" sz="4400" b="0" u="none" strike="noStrike">
              <a:solidFill>
                <a:srgbClr val="000000"/>
              </a:solidFill>
              <a:effectLst/>
              <a:uFillTx/>
              <a:latin typeface="Arial"/>
            </a:endParaRPr>
          </a:p>
        </p:txBody>
      </p:sp>
      <p:sp>
        <p:nvSpPr>
          <p:cNvPr id="25" name="Text 8"/>
          <p:cNvSpPr/>
          <p:nvPr/>
        </p:nvSpPr>
        <p:spPr>
          <a:xfrm>
            <a:off x="3429000" y="3200400"/>
            <a:ext cx="223992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1F2A33"/>
                </a:solidFill>
                <a:effectLst/>
                <a:uFillTx/>
                <a:latin typeface="Calibri"/>
                <a:ea typeface="Calibri"/>
              </a:rPr>
              <a:t>lower than pulp fibroblasts (pseudobulk FDR 0.0014)</a:t>
            </a:r>
            <a:endParaRPr lang="en-US" sz="1300" b="0" u="none" strike="noStrike">
              <a:solidFill>
                <a:srgbClr val="000000"/>
              </a:solidFill>
              <a:effectLst/>
              <a:uFillTx/>
              <a:latin typeface="Arial"/>
            </a:endParaRPr>
          </a:p>
        </p:txBody>
      </p:sp>
      <p:sp>
        <p:nvSpPr>
          <p:cNvPr id="26" name="Shape 9"/>
          <p:cNvSpPr/>
          <p:nvPr/>
        </p:nvSpPr>
        <p:spPr>
          <a:xfrm>
            <a:off x="6035040" y="2057400"/>
            <a:ext cx="2605680" cy="2285640"/>
          </a:xfrm>
          <a:prstGeom prst="roundRect">
            <a:avLst>
              <a:gd name="adj" fmla="val 4800"/>
            </a:avLst>
          </a:prstGeom>
          <a:solidFill>
            <a:srgbClr val="F4F6F7"/>
          </a:solidFill>
          <a:ln w="12700">
            <a:solidFill>
              <a:srgbClr val="F4F6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Text 10"/>
          <p:cNvSpPr/>
          <p:nvPr/>
        </p:nvSpPr>
        <p:spPr>
          <a:xfrm>
            <a:off x="6217920" y="2240280"/>
            <a:ext cx="22399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C48A2C"/>
                </a:solidFill>
                <a:effectLst/>
                <a:uFillTx/>
                <a:latin typeface="Cambria"/>
                <a:ea typeface="Cambria"/>
              </a:rPr>
              <a:t>0 of 4</a:t>
            </a:r>
            <a:endParaRPr lang="en-US" sz="4400" b="0" u="none" strike="noStrike">
              <a:solidFill>
                <a:srgbClr val="000000"/>
              </a:solidFill>
              <a:effectLst/>
              <a:uFillTx/>
              <a:latin typeface="Arial"/>
            </a:endParaRPr>
          </a:p>
        </p:txBody>
      </p:sp>
      <p:sp>
        <p:nvSpPr>
          <p:cNvPr id="28" name="Text 11"/>
          <p:cNvSpPr/>
          <p:nvPr/>
        </p:nvSpPr>
        <p:spPr>
          <a:xfrm>
            <a:off x="6217920" y="3200400"/>
            <a:ext cx="223992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1F2A33"/>
                </a:solidFill>
                <a:effectLst/>
                <a:uFillTx/>
                <a:latin typeface="Calibri"/>
                <a:ea typeface="Calibri"/>
              </a:rPr>
              <a:t>DPSC definitions in which WLS was higher</a:t>
            </a:r>
            <a:endParaRPr lang="en-US" sz="1300" b="0" u="none" strike="noStrike">
              <a:solidFill>
                <a:srgbClr val="000000"/>
              </a:solidFill>
              <a:effectLst/>
              <a:uFillTx/>
              <a:latin typeface="Arial"/>
            </a:endParaRPr>
          </a:p>
        </p:txBody>
      </p:sp>
      <p:sp>
        <p:nvSpPr>
          <p:cNvPr id="29" name="Shape 12"/>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 name="Text 13"/>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 WLS⁺ cells (≥ 1 WLS count) per donor and cell group; donor-paired pseudobulk edgeR quasi-likelihood test (~ donor + group, BH FDR); repeated under 4 DPSC definitions.</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Tables: results/07_WLS/WLS_summary_by_group.csv  |  results/07_WLS/WLS_pseudobulk_edgeR_tests.csv  |  results/07b_sensitivity/WLS_sensitivity_by_definition.csv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Data and study design</a:t>
            </a:r>
            <a:endParaRPr lang="en-US" sz="2800" b="0" u="none" strike="noStrike">
              <a:solidFill>
                <a:srgbClr val="000000"/>
              </a:solidFill>
              <a:effectLst/>
              <a:uFillTx/>
              <a:latin typeface="Arial"/>
            </a:endParaRPr>
          </a:p>
        </p:txBody>
      </p:sp>
      <p:sp>
        <p:nvSpPr>
          <p:cNvPr id="32"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Secondary analysis of a public human dental pulp atlas</a:t>
            </a:r>
            <a:endParaRPr lang="en-US" sz="1300" b="0" u="none" strike="noStrike">
              <a:solidFill>
                <a:srgbClr val="000000"/>
              </a:solidFill>
              <a:effectLst/>
              <a:uFillTx/>
              <a:latin typeface="Arial"/>
            </a:endParaRPr>
          </a:p>
        </p:txBody>
      </p:sp>
      <p:graphicFrame>
        <p:nvGraphicFramePr>
          <p:cNvPr id="33" name="Table 0"/>
          <p:cNvGraphicFramePr/>
          <p:nvPr/>
        </p:nvGraphicFramePr>
        <p:xfrm>
          <a:off x="457200" y="1325880"/>
          <a:ext cx="3931560" cy="2304000"/>
        </p:xfrm>
        <a:graphic>
          <a:graphicData uri="http://schemas.openxmlformats.org/drawingml/2006/table">
            <a:tbl>
              <a:tblPr/>
              <a:tblGrid>
                <a:gridCol w="1554480"/>
                <a:gridCol w="1097280"/>
                <a:gridCol w="1280160"/>
              </a:tblGrid>
              <a:tr h="329040">
                <a:tc>
                  <a:txBody>
                    <a:bodyPr anchor="t">
                      <a:noAutofit/>
                    </a:bodyPr>
                    <a:p>
                      <a:pPr defTabSz="914400">
                        <a:lnSpc>
                          <a:spcPct val="100000"/>
                        </a:lnSpc>
                        <a:tabLst>
                          <a:tab pos="0" algn="l"/>
                        </a:tabLst>
                      </a:pPr>
                      <a:r>
                        <a:rPr lang="en-US" sz="1200" b="1" u="none" strike="noStrike">
                          <a:solidFill>
                            <a:srgbClr val="FFFFFF"/>
                          </a:solidFill>
                          <a:effectLst/>
                          <a:uFillTx/>
                          <a:latin typeface="Calibri"/>
                          <a:ea typeface="Calibri"/>
                        </a:rPr>
                        <a:t>GEO sample</a:t>
                      </a:r>
                      <a:endParaRPr lang="en-US" sz="12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c>
                  <a:txBody>
                    <a:bodyPr anchor="t">
                      <a:noAutofit/>
                    </a:bodyPr>
                    <a:p>
                      <a:pPr defTabSz="914400">
                        <a:lnSpc>
                          <a:spcPct val="100000"/>
                        </a:lnSpc>
                        <a:tabLst>
                          <a:tab pos="0" algn="l"/>
                        </a:tabLst>
                      </a:pPr>
                      <a:r>
                        <a:rPr lang="en-US" sz="1200" b="1" u="none" strike="noStrike">
                          <a:solidFill>
                            <a:srgbClr val="FFFFFF"/>
                          </a:solidFill>
                          <a:effectLst/>
                          <a:uFillTx/>
                          <a:latin typeface="Calibri"/>
                          <a:ea typeface="Calibri"/>
                        </a:rPr>
                        <a:t>Donor</a:t>
                      </a:r>
                      <a:endParaRPr lang="en-US" sz="12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c>
                  <a:txBody>
                    <a:bodyPr anchor="t">
                      <a:noAutofit/>
                    </a:bodyPr>
                    <a:p>
                      <a:pPr defTabSz="914400">
                        <a:lnSpc>
                          <a:spcPct val="100000"/>
                        </a:lnSpc>
                        <a:tabLst>
                          <a:tab pos="0" algn="l"/>
                        </a:tabLst>
                      </a:pPr>
                      <a:r>
                        <a:rPr lang="en-US" sz="1200" b="1" u="none" strike="noStrike">
                          <a:solidFill>
                            <a:srgbClr val="FFFFFF"/>
                          </a:solidFill>
                          <a:effectLst/>
                          <a:uFillTx/>
                          <a:latin typeface="Calibri"/>
                          <a:ea typeface="Calibri"/>
                        </a:rPr>
                        <a:t>Singlets</a:t>
                      </a:r>
                      <a:endParaRPr lang="en-US" sz="12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r>
              <a:tr h="329040">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GSM4998457</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Pulp1</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4,775</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329040">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GSM4998458</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Pulp2</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5,406</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329040">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GSM4998459</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Pulp3</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5,395</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329040">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GSM4998460</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Pulp4</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3,717</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329040">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GSM4998461</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Pulp5</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0" u="none" strike="noStrike">
                          <a:solidFill>
                            <a:srgbClr val="1F2A33"/>
                          </a:solidFill>
                          <a:effectLst/>
                          <a:uFillTx/>
                          <a:latin typeface="Calibri"/>
                          <a:ea typeface="Calibri"/>
                        </a:rPr>
                        <a:t>4,034</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329040">
                <a:tc>
                  <a:txBody>
                    <a:bodyPr anchor="t">
                      <a:noAutofit/>
                    </a:bodyPr>
                    <a:p>
                      <a:pPr defTabSz="914400">
                        <a:lnSpc>
                          <a:spcPct val="100000"/>
                        </a:lnSpc>
                        <a:tabLst>
                          <a:tab pos="0" algn="l"/>
                        </a:tabLst>
                      </a:pPr>
                      <a:r>
                        <a:rPr lang="en-US" sz="1200" b="1" u="none" strike="noStrike">
                          <a:solidFill>
                            <a:srgbClr val="1F2A33"/>
                          </a:solidFill>
                          <a:effectLst/>
                          <a:uFillTx/>
                          <a:latin typeface="Calibri"/>
                          <a:ea typeface="Calibri"/>
                        </a:rPr>
                        <a:t>Total</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endParaRPr lang="en-US" sz="1200" b="0" u="none" strike="noStrike">
                        <a:solidFill>
                          <a:schemeClr val="dk1"/>
                        </a:solidFill>
                        <a:effectLst/>
                        <a:uFillTx/>
                        <a:latin typeface="Calibri"/>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200" b="1" u="none" strike="noStrike">
                          <a:solidFill>
                            <a:srgbClr val="1F2A33"/>
                          </a:solidFill>
                          <a:effectLst/>
                          <a:uFillTx/>
                          <a:latin typeface="Calibri"/>
                          <a:ea typeface="Calibri"/>
                        </a:rPr>
                        <a:t>23,327</a:t>
                      </a:r>
                      <a:endParaRPr lang="en-US" sz="12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bl>
          </a:graphicData>
        </a:graphic>
      </p:graphicFrame>
      <p:sp>
        <p:nvSpPr>
          <p:cNvPr id="34" name="Shape 2"/>
          <p:cNvSpPr/>
          <p:nvPr/>
        </p:nvSpPr>
        <p:spPr>
          <a:xfrm>
            <a:off x="4754880" y="1371600"/>
            <a:ext cx="456840" cy="456840"/>
          </a:xfrm>
          <a:prstGeom prst="ellipse">
            <a:avLst/>
          </a:prstGeom>
          <a:solidFill>
            <a:srgbClr val="0E7C7B"/>
          </a:solidFill>
          <a:ln w="12700">
            <a:solidFill>
              <a:srgbClr val="0E7C7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Text 3"/>
          <p:cNvSpPr/>
          <p:nvPr/>
        </p:nvSpPr>
        <p:spPr>
          <a:xfrm>
            <a:off x="4754880" y="13716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1</a:t>
            </a:r>
            <a:endParaRPr lang="en-US" sz="1600" b="0" u="none" strike="noStrike">
              <a:solidFill>
                <a:srgbClr val="000000"/>
              </a:solidFill>
              <a:effectLst/>
              <a:uFillTx/>
              <a:latin typeface="Arial"/>
            </a:endParaRPr>
          </a:p>
        </p:txBody>
      </p:sp>
      <p:sp>
        <p:nvSpPr>
          <p:cNvPr id="36" name="Text 4"/>
          <p:cNvSpPr/>
          <p:nvPr/>
        </p:nvSpPr>
        <p:spPr>
          <a:xfrm>
            <a:off x="5394960" y="1325880"/>
            <a:ext cx="3291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F2A33"/>
                </a:solidFill>
                <a:effectLst/>
                <a:uFillTx/>
                <a:latin typeface="Calibri"/>
                <a:ea typeface="Calibri"/>
              </a:rPr>
              <a:t>Tissue, not culture</a:t>
            </a:r>
            <a:endParaRPr lang="en-US" sz="1400" b="0" u="none" strike="noStrike">
              <a:solidFill>
                <a:srgbClr val="000000"/>
              </a:solidFill>
              <a:effectLst/>
              <a:uFillTx/>
              <a:latin typeface="Arial"/>
            </a:endParaRPr>
          </a:p>
        </p:txBody>
      </p:sp>
      <p:sp>
        <p:nvSpPr>
          <p:cNvPr id="37" name="Text 5"/>
          <p:cNvSpPr/>
          <p:nvPr/>
        </p:nvSpPr>
        <p:spPr>
          <a:xfrm>
            <a:off x="5394960" y="1645920"/>
            <a:ext cx="329148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55606B"/>
                </a:solidFill>
                <a:effectLst/>
                <a:uFillTx/>
                <a:latin typeface="Calibri"/>
                <a:ea typeface="Calibri"/>
              </a:rPr>
              <a:t>Freshly dissociated pulp cells; DPSCs defined by marker combinations</a:t>
            </a:r>
            <a:endParaRPr lang="en-US" sz="1200" b="0" u="none" strike="noStrike">
              <a:solidFill>
                <a:srgbClr val="000000"/>
              </a:solidFill>
              <a:effectLst/>
              <a:uFillTx/>
              <a:latin typeface="Arial"/>
            </a:endParaRPr>
          </a:p>
        </p:txBody>
      </p:sp>
      <p:sp>
        <p:nvSpPr>
          <p:cNvPr id="38" name="Shape 6"/>
          <p:cNvSpPr/>
          <p:nvPr/>
        </p:nvSpPr>
        <p:spPr>
          <a:xfrm>
            <a:off x="4754880" y="2395800"/>
            <a:ext cx="456840" cy="456840"/>
          </a:xfrm>
          <a:prstGeom prst="ellipse">
            <a:avLst/>
          </a:prstGeom>
          <a:solidFill>
            <a:srgbClr val="0E7C7B"/>
          </a:solidFill>
          <a:ln w="12700">
            <a:solidFill>
              <a:srgbClr val="0E7C7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 name="Text 7"/>
          <p:cNvSpPr/>
          <p:nvPr/>
        </p:nvSpPr>
        <p:spPr>
          <a:xfrm>
            <a:off x="4754880" y="23958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2</a:t>
            </a:r>
            <a:endParaRPr lang="en-US" sz="1600" b="0" u="none" strike="noStrike">
              <a:solidFill>
                <a:srgbClr val="000000"/>
              </a:solidFill>
              <a:effectLst/>
              <a:uFillTx/>
              <a:latin typeface="Arial"/>
            </a:endParaRPr>
          </a:p>
        </p:txBody>
      </p:sp>
      <p:sp>
        <p:nvSpPr>
          <p:cNvPr id="40" name="Text 8"/>
          <p:cNvSpPr/>
          <p:nvPr/>
        </p:nvSpPr>
        <p:spPr>
          <a:xfrm>
            <a:off x="5394960" y="2350080"/>
            <a:ext cx="3291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F2A33"/>
                </a:solidFill>
                <a:effectLst/>
                <a:uFillTx/>
                <a:latin typeface="Calibri"/>
                <a:ea typeface="Calibri"/>
              </a:rPr>
              <a:t>Donors as replicates</a:t>
            </a:r>
            <a:endParaRPr lang="en-US" sz="1400" b="0" u="none" strike="noStrike">
              <a:solidFill>
                <a:srgbClr val="000000"/>
              </a:solidFill>
              <a:effectLst/>
              <a:uFillTx/>
              <a:latin typeface="Arial"/>
            </a:endParaRPr>
          </a:p>
        </p:txBody>
      </p:sp>
      <p:sp>
        <p:nvSpPr>
          <p:cNvPr id="41" name="Text 9"/>
          <p:cNvSpPr/>
          <p:nvPr/>
        </p:nvSpPr>
        <p:spPr>
          <a:xfrm>
            <a:off x="5394960" y="2670120"/>
            <a:ext cx="329148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55606B"/>
                </a:solidFill>
                <a:effectLst/>
                <a:uFillTx/>
                <a:latin typeface="Calibri"/>
                <a:ea typeface="Calibri"/>
              </a:rPr>
              <a:t>All inference by donor-paired pseudobulk; cell-level tests exploratory only</a:t>
            </a:r>
            <a:endParaRPr lang="en-US" sz="1200" b="0" u="none" strike="noStrike">
              <a:solidFill>
                <a:srgbClr val="000000"/>
              </a:solidFill>
              <a:effectLst/>
              <a:uFillTx/>
              <a:latin typeface="Arial"/>
            </a:endParaRPr>
          </a:p>
        </p:txBody>
      </p:sp>
      <p:sp>
        <p:nvSpPr>
          <p:cNvPr id="42" name="Shape 10"/>
          <p:cNvSpPr/>
          <p:nvPr/>
        </p:nvSpPr>
        <p:spPr>
          <a:xfrm>
            <a:off x="4754880" y="3420000"/>
            <a:ext cx="456840" cy="456840"/>
          </a:xfrm>
          <a:prstGeom prst="ellipse">
            <a:avLst/>
          </a:prstGeom>
          <a:solidFill>
            <a:srgbClr val="0E7C7B"/>
          </a:solidFill>
          <a:ln w="12700">
            <a:solidFill>
              <a:srgbClr val="0E7C7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Text 11"/>
          <p:cNvSpPr/>
          <p:nvPr/>
        </p:nvSpPr>
        <p:spPr>
          <a:xfrm>
            <a:off x="4754880" y="3420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3</a:t>
            </a:r>
            <a:endParaRPr lang="en-US" sz="1600" b="0" u="none" strike="noStrike">
              <a:solidFill>
                <a:srgbClr val="000000"/>
              </a:solidFill>
              <a:effectLst/>
              <a:uFillTx/>
              <a:latin typeface="Arial"/>
            </a:endParaRPr>
          </a:p>
        </p:txBody>
      </p:sp>
      <p:sp>
        <p:nvSpPr>
          <p:cNvPr id="44" name="Text 12"/>
          <p:cNvSpPr/>
          <p:nvPr/>
        </p:nvSpPr>
        <p:spPr>
          <a:xfrm>
            <a:off x="5394960" y="3374280"/>
            <a:ext cx="32914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F2A33"/>
                </a:solidFill>
                <a:effectLst/>
                <a:uFillTx/>
                <a:latin typeface="Calibri"/>
                <a:ea typeface="Calibri"/>
              </a:rPr>
              <a:t>Robustness built in</a:t>
            </a:r>
            <a:endParaRPr lang="en-US" sz="1400" b="0" u="none" strike="noStrike">
              <a:solidFill>
                <a:srgbClr val="000000"/>
              </a:solidFill>
              <a:effectLst/>
              <a:uFillTx/>
              <a:latin typeface="Arial"/>
            </a:endParaRPr>
          </a:p>
        </p:txBody>
      </p:sp>
      <p:sp>
        <p:nvSpPr>
          <p:cNvPr id="45" name="Text 13"/>
          <p:cNvSpPr/>
          <p:nvPr/>
        </p:nvSpPr>
        <p:spPr>
          <a:xfrm>
            <a:off x="5394960" y="3694320"/>
            <a:ext cx="329148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55606B"/>
                </a:solidFill>
                <a:effectLst/>
                <a:uFillTx/>
                <a:latin typeface="Calibri"/>
                <a:ea typeface="Calibri"/>
              </a:rPr>
              <a:t>Four DPSC definitions and depth-adjusted models</a:t>
            </a:r>
            <a:endParaRPr lang="en-US" sz="1200" b="0" u="none" strike="noStrike">
              <a:solidFill>
                <a:srgbClr val="000000"/>
              </a:solidFill>
              <a:effectLst/>
              <a:uFillTx/>
              <a:latin typeface="Arial"/>
            </a:endParaRPr>
          </a:p>
        </p:txBody>
      </p:sp>
      <p:sp>
        <p:nvSpPr>
          <p:cNvPr id="46" name="Shape 14"/>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 name="Text 15"/>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Data downloaded from GEO with GEOquery; the 5 donors are the biological replicates, so inference is at donor level (pseudobulk); cell-level tests are exploratory only.</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Data: GEO GSE164157  |  Scripts: scripts/02_download_GEO.R (GEOquery), scripts/04_QC.R  |  Table: results/06a_batch/doublets_by_sample.csv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Reproducible pipeline</a:t>
            </a:r>
            <a:endParaRPr lang="en-US" sz="2800" b="0" u="none" strike="noStrike">
              <a:solidFill>
                <a:srgbClr val="000000"/>
              </a:solidFill>
              <a:effectLst/>
              <a:uFillTx/>
              <a:latin typeface="Arial"/>
            </a:endParaRPr>
          </a:p>
        </p:txBody>
      </p:sp>
      <p:sp>
        <p:nvSpPr>
          <p:cNvPr id="49"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Each stage is one script; outputs go to a numbered results folder</a:t>
            </a:r>
            <a:endParaRPr lang="en-US" sz="1300" b="0" u="none" strike="noStrike">
              <a:solidFill>
                <a:srgbClr val="000000"/>
              </a:solidFill>
              <a:effectLst/>
              <a:uFillTx/>
              <a:latin typeface="Arial"/>
            </a:endParaRPr>
          </a:p>
        </p:txBody>
      </p:sp>
      <p:sp>
        <p:nvSpPr>
          <p:cNvPr id="50" name="Shape 2"/>
          <p:cNvSpPr/>
          <p:nvPr/>
        </p:nvSpPr>
        <p:spPr>
          <a:xfrm>
            <a:off x="45720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 name="Text 3"/>
          <p:cNvSpPr/>
          <p:nvPr/>
        </p:nvSpPr>
        <p:spPr>
          <a:xfrm>
            <a:off x="53028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QC</a:t>
            </a:r>
            <a:endParaRPr lang="en-US" sz="1300" b="0" u="none" strike="noStrike">
              <a:solidFill>
                <a:srgbClr val="000000"/>
              </a:solidFill>
              <a:effectLst/>
              <a:uFillTx/>
              <a:latin typeface="Arial"/>
            </a:endParaRPr>
          </a:p>
        </p:txBody>
      </p:sp>
      <p:sp>
        <p:nvSpPr>
          <p:cNvPr id="52" name="Text 4"/>
          <p:cNvSpPr/>
          <p:nvPr/>
        </p:nvSpPr>
        <p:spPr>
          <a:xfrm>
            <a:off x="50292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04_QC.R</a:t>
            </a:r>
            <a:endParaRPr lang="en-US" sz="850" b="0" u="none" strike="noStrike">
              <a:solidFill>
                <a:srgbClr val="000000"/>
              </a:solidFill>
              <a:effectLst/>
              <a:uFillTx/>
              <a:latin typeface="Arial"/>
            </a:endParaRPr>
          </a:p>
        </p:txBody>
      </p:sp>
      <p:sp>
        <p:nvSpPr>
          <p:cNvPr id="53" name="Shape 5"/>
          <p:cNvSpPr/>
          <p:nvPr/>
        </p:nvSpPr>
        <p:spPr>
          <a:xfrm>
            <a:off x="1710000" y="2148840"/>
            <a:ext cx="118440" cy="182520"/>
          </a:xfrm>
          <a:prstGeom prst="rtTriangle">
            <a:avLst/>
          </a:prstGeom>
          <a:solidFill>
            <a:srgbClr val="A9B1B8"/>
          </a:solidFill>
          <a:ln w="12700">
            <a:solidFill>
              <a:srgbClr val="A9B1B8"/>
            </a:solidFill>
            <a:round/>
          </a:ln>
        </p:spPr>
        <p:style>
          <a:lnRef idx="0"/>
          <a:fillRef idx="0"/>
          <a:effectRef idx="0"/>
          <a:fontRef idx="minor"/>
        </p:style>
        <p:txBody>
          <a:bodyPr lIns="90000" tIns="15840" rIns="90000" bIns="15840" anchor="t">
            <a:noAutofit/>
          </a:bodyPr>
          <a:p>
            <a:endParaRPr lang="en-US" sz="1800" b="0" u="none" strike="noStrike">
              <a:solidFill>
                <a:srgbClr val="000000"/>
              </a:solidFill>
              <a:effectLst/>
              <a:uFillTx/>
              <a:latin typeface="Arial"/>
            </a:endParaRPr>
          </a:p>
        </p:txBody>
      </p:sp>
      <p:sp>
        <p:nvSpPr>
          <p:cNvPr id="54" name="Shape 6"/>
          <p:cNvSpPr/>
          <p:nvPr/>
        </p:nvSpPr>
        <p:spPr>
          <a:xfrm>
            <a:off x="184716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Text 7"/>
          <p:cNvSpPr/>
          <p:nvPr/>
        </p:nvSpPr>
        <p:spPr>
          <a:xfrm>
            <a:off x="192024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Clustering</a:t>
            </a:r>
            <a:endParaRPr lang="en-US" sz="1300" b="0" u="none" strike="noStrike">
              <a:solidFill>
                <a:srgbClr val="000000"/>
              </a:solidFill>
              <a:effectLst/>
              <a:uFillTx/>
              <a:latin typeface="Arial"/>
            </a:endParaRPr>
          </a:p>
        </p:txBody>
      </p:sp>
      <p:sp>
        <p:nvSpPr>
          <p:cNvPr id="56" name="Text 8"/>
          <p:cNvSpPr/>
          <p:nvPr/>
        </p:nvSpPr>
        <p:spPr>
          <a:xfrm>
            <a:off x="189288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05_clustering.R</a:t>
            </a:r>
            <a:endParaRPr lang="en-US" sz="850" b="0" u="none" strike="noStrike">
              <a:solidFill>
                <a:srgbClr val="000000"/>
              </a:solidFill>
              <a:effectLst/>
              <a:uFillTx/>
              <a:latin typeface="Arial"/>
            </a:endParaRPr>
          </a:p>
        </p:txBody>
      </p:sp>
      <p:sp>
        <p:nvSpPr>
          <p:cNvPr id="57" name="Shape 9"/>
          <p:cNvSpPr/>
          <p:nvPr/>
        </p:nvSpPr>
        <p:spPr>
          <a:xfrm>
            <a:off x="3099960" y="2148840"/>
            <a:ext cx="118440" cy="182520"/>
          </a:xfrm>
          <a:prstGeom prst="rtTriangle">
            <a:avLst/>
          </a:prstGeom>
          <a:solidFill>
            <a:srgbClr val="A9B1B8"/>
          </a:solidFill>
          <a:ln w="12700">
            <a:solidFill>
              <a:srgbClr val="A9B1B8"/>
            </a:solidFill>
            <a:round/>
          </a:ln>
        </p:spPr>
        <p:style>
          <a:lnRef idx="0"/>
          <a:fillRef idx="0"/>
          <a:effectRef idx="0"/>
          <a:fontRef idx="minor"/>
        </p:style>
        <p:txBody>
          <a:bodyPr lIns="90000" tIns="15840" rIns="90000" bIns="15840" anchor="t">
            <a:noAutofit/>
          </a:bodyPr>
          <a:p>
            <a:endParaRPr lang="en-US" sz="1800" b="0" u="none" strike="noStrike">
              <a:solidFill>
                <a:srgbClr val="000000"/>
              </a:solidFill>
              <a:effectLst/>
              <a:uFillTx/>
              <a:latin typeface="Arial"/>
            </a:endParaRPr>
          </a:p>
        </p:txBody>
      </p:sp>
      <p:sp>
        <p:nvSpPr>
          <p:cNvPr id="58" name="Shape 10"/>
          <p:cNvSpPr/>
          <p:nvPr/>
        </p:nvSpPr>
        <p:spPr>
          <a:xfrm>
            <a:off x="323712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Text 11"/>
          <p:cNvSpPr/>
          <p:nvPr/>
        </p:nvSpPr>
        <p:spPr>
          <a:xfrm>
            <a:off x="331020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Doublets + Harmony</a:t>
            </a:r>
            <a:endParaRPr lang="en-US" sz="1300" b="0" u="none" strike="noStrike">
              <a:solidFill>
                <a:srgbClr val="000000"/>
              </a:solidFill>
              <a:effectLst/>
              <a:uFillTx/>
              <a:latin typeface="Arial"/>
            </a:endParaRPr>
          </a:p>
        </p:txBody>
      </p:sp>
      <p:sp>
        <p:nvSpPr>
          <p:cNvPr id="60" name="Text 12"/>
          <p:cNvSpPr/>
          <p:nvPr/>
        </p:nvSpPr>
        <p:spPr>
          <a:xfrm>
            <a:off x="328284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06a_batch_doublets.R</a:t>
            </a:r>
            <a:endParaRPr lang="en-US" sz="850" b="0" u="none" strike="noStrike">
              <a:solidFill>
                <a:srgbClr val="000000"/>
              </a:solidFill>
              <a:effectLst/>
              <a:uFillTx/>
              <a:latin typeface="Arial"/>
            </a:endParaRPr>
          </a:p>
        </p:txBody>
      </p:sp>
      <p:sp>
        <p:nvSpPr>
          <p:cNvPr id="61" name="Shape 13"/>
          <p:cNvSpPr/>
          <p:nvPr/>
        </p:nvSpPr>
        <p:spPr>
          <a:xfrm>
            <a:off x="4489560" y="2148840"/>
            <a:ext cx="118440" cy="182520"/>
          </a:xfrm>
          <a:prstGeom prst="rtTriangle">
            <a:avLst/>
          </a:prstGeom>
          <a:solidFill>
            <a:srgbClr val="A9B1B8"/>
          </a:solidFill>
          <a:ln w="12700">
            <a:solidFill>
              <a:srgbClr val="A9B1B8"/>
            </a:solidFill>
            <a:round/>
          </a:ln>
        </p:spPr>
        <p:style>
          <a:lnRef idx="0"/>
          <a:fillRef idx="0"/>
          <a:effectRef idx="0"/>
          <a:fontRef idx="minor"/>
        </p:style>
        <p:txBody>
          <a:bodyPr lIns="90000" tIns="15840" rIns="90000" bIns="15840" anchor="t">
            <a:noAutofit/>
          </a:bodyPr>
          <a:p>
            <a:endParaRPr lang="en-US" sz="1800" b="0" u="none" strike="noStrike">
              <a:solidFill>
                <a:srgbClr val="000000"/>
              </a:solidFill>
              <a:effectLst/>
              <a:uFillTx/>
              <a:latin typeface="Arial"/>
            </a:endParaRPr>
          </a:p>
        </p:txBody>
      </p:sp>
      <p:sp>
        <p:nvSpPr>
          <p:cNvPr id="62" name="Shape 14"/>
          <p:cNvSpPr/>
          <p:nvPr/>
        </p:nvSpPr>
        <p:spPr>
          <a:xfrm>
            <a:off x="462672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 name="Text 15"/>
          <p:cNvSpPr/>
          <p:nvPr/>
        </p:nvSpPr>
        <p:spPr>
          <a:xfrm>
            <a:off x="470016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Annotation + DPSCs</a:t>
            </a:r>
            <a:endParaRPr lang="en-US" sz="1300" b="0" u="none" strike="noStrike">
              <a:solidFill>
                <a:srgbClr val="000000"/>
              </a:solidFill>
              <a:effectLst/>
              <a:uFillTx/>
              <a:latin typeface="Arial"/>
            </a:endParaRPr>
          </a:p>
        </p:txBody>
      </p:sp>
      <p:sp>
        <p:nvSpPr>
          <p:cNvPr id="64" name="Text 16"/>
          <p:cNvSpPr/>
          <p:nvPr/>
        </p:nvSpPr>
        <p:spPr>
          <a:xfrm>
            <a:off x="467244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06_annotation.R</a:t>
            </a:r>
            <a:endParaRPr lang="en-US" sz="850" b="0" u="none" strike="noStrike">
              <a:solidFill>
                <a:srgbClr val="000000"/>
              </a:solidFill>
              <a:effectLst/>
              <a:uFillTx/>
              <a:latin typeface="Arial"/>
            </a:endParaRPr>
          </a:p>
        </p:txBody>
      </p:sp>
      <p:sp>
        <p:nvSpPr>
          <p:cNvPr id="65" name="Shape 17"/>
          <p:cNvSpPr/>
          <p:nvPr/>
        </p:nvSpPr>
        <p:spPr>
          <a:xfrm>
            <a:off x="5879520" y="2148840"/>
            <a:ext cx="118440" cy="182520"/>
          </a:xfrm>
          <a:prstGeom prst="rtTriangle">
            <a:avLst/>
          </a:prstGeom>
          <a:solidFill>
            <a:srgbClr val="A9B1B8"/>
          </a:solidFill>
          <a:ln w="12700">
            <a:solidFill>
              <a:srgbClr val="A9B1B8"/>
            </a:solidFill>
            <a:round/>
          </a:ln>
        </p:spPr>
        <p:style>
          <a:lnRef idx="0"/>
          <a:fillRef idx="0"/>
          <a:effectRef idx="0"/>
          <a:fontRef idx="minor"/>
        </p:style>
        <p:txBody>
          <a:bodyPr lIns="90000" tIns="15840" rIns="90000" bIns="15840" anchor="t">
            <a:noAutofit/>
          </a:bodyPr>
          <a:p>
            <a:endParaRPr lang="en-US" sz="1800" b="0" u="none" strike="noStrike">
              <a:solidFill>
                <a:srgbClr val="000000"/>
              </a:solidFill>
              <a:effectLst/>
              <a:uFillTx/>
              <a:latin typeface="Arial"/>
            </a:endParaRPr>
          </a:p>
        </p:txBody>
      </p:sp>
      <p:sp>
        <p:nvSpPr>
          <p:cNvPr id="66" name="Shape 18"/>
          <p:cNvSpPr/>
          <p:nvPr/>
        </p:nvSpPr>
        <p:spPr>
          <a:xfrm>
            <a:off x="601668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Text 19"/>
          <p:cNvSpPr/>
          <p:nvPr/>
        </p:nvSpPr>
        <p:spPr>
          <a:xfrm>
            <a:off x="608976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WLS by donor</a:t>
            </a:r>
            <a:endParaRPr lang="en-US" sz="1300" b="0" u="none" strike="noStrike">
              <a:solidFill>
                <a:srgbClr val="000000"/>
              </a:solidFill>
              <a:effectLst/>
              <a:uFillTx/>
              <a:latin typeface="Arial"/>
            </a:endParaRPr>
          </a:p>
        </p:txBody>
      </p:sp>
      <p:sp>
        <p:nvSpPr>
          <p:cNvPr id="68" name="Text 20"/>
          <p:cNvSpPr/>
          <p:nvPr/>
        </p:nvSpPr>
        <p:spPr>
          <a:xfrm>
            <a:off x="606240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07_WLS_expression.R</a:t>
            </a:r>
            <a:endParaRPr lang="en-US" sz="850" b="0" u="none" strike="noStrike">
              <a:solidFill>
                <a:srgbClr val="000000"/>
              </a:solidFill>
              <a:effectLst/>
              <a:uFillTx/>
              <a:latin typeface="Arial"/>
            </a:endParaRPr>
          </a:p>
        </p:txBody>
      </p:sp>
      <p:sp>
        <p:nvSpPr>
          <p:cNvPr id="69" name="Shape 21"/>
          <p:cNvSpPr/>
          <p:nvPr/>
        </p:nvSpPr>
        <p:spPr>
          <a:xfrm>
            <a:off x="7269480" y="2148840"/>
            <a:ext cx="118440" cy="182520"/>
          </a:xfrm>
          <a:prstGeom prst="rtTriangle">
            <a:avLst/>
          </a:prstGeom>
          <a:solidFill>
            <a:srgbClr val="A9B1B8"/>
          </a:solidFill>
          <a:ln w="12700">
            <a:solidFill>
              <a:srgbClr val="A9B1B8"/>
            </a:solidFill>
            <a:round/>
          </a:ln>
        </p:spPr>
        <p:style>
          <a:lnRef idx="0"/>
          <a:fillRef idx="0"/>
          <a:effectRef idx="0"/>
          <a:fontRef idx="minor"/>
        </p:style>
        <p:txBody>
          <a:bodyPr lIns="90000" tIns="15840" rIns="90000" bIns="15840" anchor="t">
            <a:noAutofit/>
          </a:bodyPr>
          <a:p>
            <a:endParaRPr lang="en-US" sz="1800" b="0" u="none" strike="noStrike">
              <a:solidFill>
                <a:srgbClr val="000000"/>
              </a:solidFill>
              <a:effectLst/>
              <a:uFillTx/>
              <a:latin typeface="Arial"/>
            </a:endParaRPr>
          </a:p>
        </p:txBody>
      </p:sp>
      <p:sp>
        <p:nvSpPr>
          <p:cNvPr id="70" name="Shape 22"/>
          <p:cNvSpPr/>
          <p:nvPr/>
        </p:nvSpPr>
        <p:spPr>
          <a:xfrm>
            <a:off x="7406640" y="1417320"/>
            <a:ext cx="1234080" cy="1645560"/>
          </a:xfrm>
          <a:prstGeom prst="roundRect">
            <a:avLst>
              <a:gd name="adj" fmla="val 7407"/>
            </a:avLst>
          </a:prstGeom>
          <a:solidFill>
            <a:srgbClr val="6A1B3A"/>
          </a:solidFill>
          <a:ln w="12700">
            <a:solidFill>
              <a:srgbClr val="6A1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 name="Text 23"/>
          <p:cNvSpPr/>
          <p:nvPr/>
        </p:nvSpPr>
        <p:spPr>
          <a:xfrm>
            <a:off x="7479720" y="1554480"/>
            <a:ext cx="10879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Sensitivity</a:t>
            </a:r>
            <a:endParaRPr lang="en-US" sz="1300" b="0" u="none" strike="noStrike">
              <a:solidFill>
                <a:srgbClr val="000000"/>
              </a:solidFill>
              <a:effectLst/>
              <a:uFillTx/>
              <a:latin typeface="Arial"/>
            </a:endParaRPr>
          </a:p>
        </p:txBody>
      </p:sp>
      <p:sp>
        <p:nvSpPr>
          <p:cNvPr id="72" name="Text 24"/>
          <p:cNvSpPr/>
          <p:nvPr/>
        </p:nvSpPr>
        <p:spPr>
          <a:xfrm>
            <a:off x="7452360" y="2468880"/>
            <a:ext cx="1142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0" u="none" strike="noStrike">
                <a:solidFill>
                  <a:srgbClr val="F3DDE6"/>
                </a:solidFill>
                <a:effectLst/>
                <a:uFillTx/>
                <a:latin typeface="Calibri"/>
                <a:ea typeface="Calibri"/>
              </a:rPr>
              <a:t>07b_WLS_sensitivity.R</a:t>
            </a:r>
            <a:endParaRPr lang="en-US" sz="850" b="0" u="none" strike="noStrike">
              <a:solidFill>
                <a:srgbClr val="000000"/>
              </a:solidFill>
              <a:effectLst/>
              <a:uFillTx/>
              <a:latin typeface="Arial"/>
            </a:endParaRPr>
          </a:p>
        </p:txBody>
      </p:sp>
      <p:sp>
        <p:nvSpPr>
          <p:cNvPr id="73" name="Text 25"/>
          <p:cNvSpPr/>
          <p:nvPr/>
        </p:nvSpPr>
        <p:spPr>
          <a:xfrm>
            <a:off x="457200" y="3429000"/>
            <a:ext cx="822924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300" b="1" u="none" strike="noStrike">
                <a:solidFill>
                  <a:srgbClr val="1F2A33"/>
                </a:solidFill>
                <a:effectLst/>
                <a:uFillTx/>
                <a:latin typeface="Calibri"/>
                <a:ea typeface="Calibri"/>
              </a:rPr>
              <a:t>Environment: </a:t>
            </a:r>
            <a:r>
              <a:rPr lang="en-US" sz="1300" b="0" u="none" strike="noStrike">
                <a:solidFill>
                  <a:srgbClr val="1F2A33"/>
                </a:solidFill>
                <a:effectLst/>
                <a:uFillTx/>
                <a:latin typeface="Calibri"/>
                <a:ea typeface="Calibri"/>
              </a:rPr>
              <a:t>R 4.6, Seurat v5, harmony, scDblFinder, edgeR, lme4; versions locked in renv.lock</a:t>
            </a:r>
            <a:endParaRPr lang="en-US" sz="1300" b="0" u="none" strike="noStrike">
              <a:solidFill>
                <a:srgbClr val="000000"/>
              </a:solidFill>
              <a:effectLst/>
              <a:uFillTx/>
              <a:latin typeface="Arial"/>
            </a:endParaRPr>
          </a:p>
          <a:p>
            <a:pPr defTabSz="914400">
              <a:lnSpc>
                <a:spcPct val="100000"/>
              </a:lnSpc>
              <a:spcAft>
                <a:spcPts val="601"/>
              </a:spcAft>
              <a:tabLst>
                <a:tab pos="0" algn="l"/>
              </a:tabLst>
            </a:pPr>
            <a:r>
              <a:rPr lang="en-US" sz="1300" b="1" u="none" strike="noStrike">
                <a:solidFill>
                  <a:srgbClr val="1F2A33"/>
                </a:solidFill>
                <a:effectLst/>
                <a:uFillTx/>
                <a:latin typeface="Calibri"/>
                <a:ea typeface="Calibri"/>
              </a:rPr>
              <a:t>Next: </a:t>
            </a:r>
            <a:r>
              <a:rPr lang="en-US" sz="1300" b="0" u="none" strike="noStrike">
                <a:solidFill>
                  <a:srgbClr val="1F2A33"/>
                </a:solidFill>
                <a:effectLst/>
                <a:uFillTx/>
                <a:latin typeface="Calibri"/>
                <a:ea typeface="Calibri"/>
              </a:rPr>
              <a:t>08_DEG.R (WLS⁺ vs WLS⁻), 09_GSEA.R, ligand–receptor analysis, validation in a second dataset</a:t>
            </a:r>
            <a:endParaRPr lang="en-US" sz="1300" b="0" u="none" strike="noStrike">
              <a:solidFill>
                <a:srgbClr val="000000"/>
              </a:solidFill>
              <a:effectLst/>
              <a:uFillTx/>
              <a:latin typeface="Arial"/>
            </a:endParaRPr>
          </a:p>
        </p:txBody>
      </p:sp>
      <p:sp>
        <p:nvSpPr>
          <p:cNvPr id="74" name="Shape 26"/>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 name="Text 27"/>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Each stage is a separate R script that reads the previous stage's output and writes to its own results folder; Git/GitHub version control; renv environment.</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Code: github.com/mtariqi/dpsc-wls-human-scRNAseq/scripts  |  Environment: renv.lock  |  Session info: results/*/sessionInfo.txt</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TextBox 1"/>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Methods and scripts by stage</a:t>
            </a:r>
            <a:endParaRPr lang="en-US" sz="2800" b="0" u="none" strike="noStrike">
              <a:solidFill>
                <a:srgbClr val="000000"/>
              </a:solidFill>
              <a:effectLst/>
              <a:uFillTx/>
              <a:latin typeface="Arial"/>
            </a:endParaRPr>
          </a:p>
        </p:txBody>
      </p:sp>
      <p:sp>
        <p:nvSpPr>
          <p:cNvPr id="77" name="TextBox 2"/>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00" b="0" i="1" u="none" strike="noStrike">
                <a:solidFill>
                  <a:srgbClr val="55606B"/>
                </a:solidFill>
                <a:effectLst/>
                <a:uFillTx/>
                <a:latin typeface="Calibri"/>
              </a:rPr>
              <a:t>Every result in this deck comes from one of these R scripts; each slide's footer names its method and script</a:t>
            </a:r>
            <a:endParaRPr lang="en-US" sz="1300" b="0" u="none" strike="noStrike">
              <a:solidFill>
                <a:srgbClr val="000000"/>
              </a:solidFill>
              <a:effectLst/>
              <a:uFillTx/>
              <a:latin typeface="Arial"/>
            </a:endParaRPr>
          </a:p>
        </p:txBody>
      </p:sp>
      <p:graphicFrame>
        <p:nvGraphicFramePr>
          <p:cNvPr id="78" name="Table 3"/>
          <p:cNvGraphicFramePr/>
          <p:nvPr/>
        </p:nvGraphicFramePr>
        <p:xfrm>
          <a:off x="457200" y="1280160"/>
          <a:ext cx="8229240" cy="2832480"/>
        </p:xfrm>
        <a:graphic>
          <a:graphicData uri="http://schemas.openxmlformats.org/drawingml/2006/table">
            <a:tbl>
              <a:tblPr/>
              <a:tblGrid>
                <a:gridCol w="1783080"/>
                <a:gridCol w="1417320"/>
                <a:gridCol w="5029200"/>
              </a:tblGrid>
              <a:tr h="301680">
                <a:tc>
                  <a:txBody>
                    <a:bodyPr lIns="73080" tIns="27360" rIns="73080" bIns="27360" anchor="ctr">
                      <a:noAutofit/>
                    </a:bodyPr>
                    <a:p>
                      <a:pPr defTabSz="914400">
                        <a:lnSpc>
                          <a:spcPct val="100000"/>
                        </a:lnSpc>
                      </a:pPr>
                      <a:r>
                        <a:rPr lang="en-US" sz="1050" b="1" u="none" strike="noStrike">
                          <a:solidFill>
                            <a:srgbClr val="FFFFFF"/>
                          </a:solidFill>
                          <a:effectLst/>
                          <a:uFillTx/>
                          <a:latin typeface="Calibri"/>
                        </a:rPr>
                        <a:t>Script</a:t>
                      </a:r>
                      <a:endParaRPr lang="en-US" sz="1050" b="0" u="none" strike="noStrike">
                        <a:solidFill>
                          <a:srgbClr val="FFFFFF"/>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27360" rIns="73080" bIns="27360" anchor="ctr">
                      <a:noAutofit/>
                    </a:bodyPr>
                    <a:p>
                      <a:pPr defTabSz="914400">
                        <a:lnSpc>
                          <a:spcPct val="100000"/>
                        </a:lnSpc>
                      </a:pPr>
                      <a:r>
                        <a:rPr lang="en-US" sz="1050" b="1" u="none" strike="noStrike">
                          <a:solidFill>
                            <a:srgbClr val="FFFFFF"/>
                          </a:solidFill>
                          <a:effectLst/>
                          <a:uFillTx/>
                          <a:latin typeface="Calibri"/>
                        </a:rPr>
                        <a:t>Stage</a:t>
                      </a:r>
                      <a:endParaRPr lang="en-US" sz="1050" b="0" u="none" strike="noStrike">
                        <a:solidFill>
                          <a:srgbClr val="FFFFFF"/>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27360" rIns="73080" bIns="27360" anchor="ctr">
                      <a:noAutofit/>
                    </a:bodyPr>
                    <a:p>
                      <a:pPr defTabSz="914400">
                        <a:lnSpc>
                          <a:spcPct val="100000"/>
                        </a:lnSpc>
                      </a:pPr>
                      <a:r>
                        <a:rPr lang="en-US" sz="1050" b="1" u="none" strike="noStrike">
                          <a:solidFill>
                            <a:srgbClr val="FFFFFF"/>
                          </a:solidFill>
                          <a:effectLst/>
                          <a:uFillTx/>
                          <a:latin typeface="Calibri"/>
                        </a:rPr>
                        <a:t>Method and key settings</a:t>
                      </a:r>
                      <a:endParaRPr lang="en-US" sz="1050" b="0" u="none" strike="noStrike">
                        <a:solidFill>
                          <a:srgbClr val="FFFFFF"/>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02_download_GEO.R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Download</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GEOquery: GSE164157 count matrices for 5 donors</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04_QC.R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Quality control</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Seurat filters: genes &gt; 200, UMIs &gt; 500, mitochondrial &lt; 20%</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05_clustering.R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First clustering</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Seurat normalisation, PCA and clustering before integration</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06a_batch_doublets.R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Doublets, integration</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scDblFinder per donor; Harmony (donor, 20 PCs); clusters at resolution 0.5</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06_annotation.R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Cell types, DPSCs</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AddModuleScore, 14 panels + manual review; mesenchyme re-clustered (Harmony 1–15, res. 0.4); stem score &gt; 0</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07_WLS_expression.R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WLS by donor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 WLS⁺ per donor; edgeR quasi-likelihood pseudobulk ~ donor + group; lme4 mixed model</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07b_WLS_sensitivity.R</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Robustness</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4 DPSC definitions; depth-adjusted WLS–WNT models; per-donor QC</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01680">
                <a:tc>
                  <a:txBody>
                    <a:bodyPr lIns="73080" tIns="27360" rIns="73080" bIns="27360" anchor="ctr">
                      <a:noAutofit/>
                    </a:bodyPr>
                    <a:p>
                      <a:pPr defTabSz="914400">
                        <a:lnSpc>
                          <a:spcPct val="100000"/>
                        </a:lnSpc>
                      </a:pPr>
                      <a:r>
                        <a:rPr lang="en-US" sz="1000" b="0" u="none" strike="noStrike">
                          <a:solidFill>
                            <a:srgbClr val="1F2A33"/>
                          </a:solidFill>
                          <a:effectLst/>
                          <a:uFillTx/>
                          <a:latin typeface="Consolas"/>
                        </a:rPr>
                        <a:t>Validation 01–04</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Three new datasets</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27360" rIns="73080" bIns="27360" anchor="ctr">
                      <a:noAutofit/>
                    </a:bodyPr>
                    <a:p>
                      <a:pPr defTabSz="914400">
                        <a:lnSpc>
                          <a:spcPct val="100000"/>
                        </a:lnSpc>
                      </a:pPr>
                      <a:r>
                        <a:rPr lang="en-US" sz="1000" b="0" u="none" strike="noStrike">
                          <a:solidFill>
                            <a:srgbClr val="1F2A33"/>
                          </a:solidFill>
                          <a:effectLst/>
                          <a:uFillTx/>
                          <a:latin typeface="Calibri"/>
                        </a:rPr>
                        <a:t>Same pipeline in dpsc-wls-validation; 1-donor datasets reported descriptively</a:t>
                      </a:r>
                      <a:endParaRPr lang="en-US" sz="1000" b="0" u="none" strike="noStrike">
                        <a:solidFill>
                          <a:srgbClr val="000000"/>
                        </a:solidFill>
                        <a:effectLst/>
                        <a:uFillTx/>
                        <a:latin typeface="Arial"/>
                      </a:endParaRPr>
                    </a:p>
                  </a:txBody>
                  <a:tcPr anchor="ctr" marL="73080" marR="73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bl>
          </a:graphicData>
        </a:graphic>
      </p:graphicFrame>
      <p:sp>
        <p:nvSpPr>
          <p:cNvPr id="79" name="Rectangle 4"/>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TextBox 5"/>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Scripts written in R 4.6 and run in order from the terminal with Rscript; each reads the previous stage's output; renv-locked; Git/GitHub.</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github.com/mtariqi/dpsc-wls-human-scRNAseq/scripts  |  github.com/mtariqi/dpsc-wls-validation/scripts  |  renv.lock</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Quality control and doublet removal</a:t>
            </a:r>
            <a:endParaRPr lang="en-US" sz="2800" b="0" u="none" strike="noStrike">
              <a:solidFill>
                <a:srgbClr val="000000"/>
              </a:solidFill>
              <a:effectLst/>
              <a:uFillTx/>
              <a:latin typeface="Arial"/>
            </a:endParaRPr>
          </a:p>
        </p:txBody>
      </p:sp>
      <p:sp>
        <p:nvSpPr>
          <p:cNvPr id="82"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Even doublet rates across donors</a:t>
            </a:r>
            <a:endParaRPr lang="en-US" sz="1300" b="0" u="none" strike="noStrike">
              <a:solidFill>
                <a:srgbClr val="000000"/>
              </a:solidFill>
              <a:effectLst/>
              <a:uFillTx/>
              <a:latin typeface="Arial"/>
            </a:endParaRPr>
          </a:p>
        </p:txBody>
      </p:sp>
      <p:sp>
        <p:nvSpPr>
          <p:cNvPr id="83" name="Text 2"/>
          <p:cNvSpPr/>
          <p:nvPr/>
        </p:nvSpPr>
        <p:spPr>
          <a:xfrm>
            <a:off x="457200" y="1325880"/>
            <a:ext cx="237708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6A1B3A"/>
                </a:solidFill>
                <a:effectLst/>
                <a:uFillTx/>
                <a:latin typeface="Cambria"/>
                <a:ea typeface="Cambria"/>
              </a:rPr>
              <a:t>25,886</a:t>
            </a:r>
            <a:endParaRPr lang="en-US" sz="3200" b="0" u="none" strike="noStrike">
              <a:solidFill>
                <a:srgbClr val="000000"/>
              </a:solidFill>
              <a:effectLst/>
              <a:uFillTx/>
              <a:latin typeface="Arial"/>
            </a:endParaRPr>
          </a:p>
        </p:txBody>
      </p:sp>
      <p:sp>
        <p:nvSpPr>
          <p:cNvPr id="84" name="Text 3"/>
          <p:cNvSpPr/>
          <p:nvPr/>
        </p:nvSpPr>
        <p:spPr>
          <a:xfrm>
            <a:off x="457200" y="1892880"/>
            <a:ext cx="2377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5606B"/>
                </a:solidFill>
                <a:effectLst/>
                <a:uFillTx/>
                <a:latin typeface="Calibri"/>
                <a:ea typeface="Calibri"/>
              </a:rPr>
              <a:t>cells loaded</a:t>
            </a:r>
            <a:endParaRPr lang="en-US" sz="1200" b="0" u="none" strike="noStrike">
              <a:solidFill>
                <a:srgbClr val="000000"/>
              </a:solidFill>
              <a:effectLst/>
              <a:uFillTx/>
              <a:latin typeface="Arial"/>
            </a:endParaRPr>
          </a:p>
        </p:txBody>
      </p:sp>
      <p:sp>
        <p:nvSpPr>
          <p:cNvPr id="85" name="Text 4"/>
          <p:cNvSpPr/>
          <p:nvPr/>
        </p:nvSpPr>
        <p:spPr>
          <a:xfrm>
            <a:off x="457200" y="2377440"/>
            <a:ext cx="237708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6A1B3A"/>
                </a:solidFill>
                <a:effectLst/>
                <a:uFillTx/>
                <a:latin typeface="Cambria"/>
                <a:ea typeface="Cambria"/>
              </a:rPr>
              <a:t>25,030</a:t>
            </a:r>
            <a:endParaRPr lang="en-US" sz="3200" b="0" u="none" strike="noStrike">
              <a:solidFill>
                <a:srgbClr val="000000"/>
              </a:solidFill>
              <a:effectLst/>
              <a:uFillTx/>
              <a:latin typeface="Arial"/>
            </a:endParaRPr>
          </a:p>
        </p:txBody>
      </p:sp>
      <p:sp>
        <p:nvSpPr>
          <p:cNvPr id="86" name="Text 5"/>
          <p:cNvSpPr/>
          <p:nvPr/>
        </p:nvSpPr>
        <p:spPr>
          <a:xfrm>
            <a:off x="457200" y="2944440"/>
            <a:ext cx="2377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5606B"/>
                </a:solidFill>
                <a:effectLst/>
                <a:uFillTx/>
                <a:latin typeface="Calibri"/>
                <a:ea typeface="Calibri"/>
              </a:rPr>
              <a:t>after QC filters</a:t>
            </a:r>
            <a:endParaRPr lang="en-US" sz="1200" b="0" u="none" strike="noStrike">
              <a:solidFill>
                <a:srgbClr val="000000"/>
              </a:solidFill>
              <a:effectLst/>
              <a:uFillTx/>
              <a:latin typeface="Arial"/>
            </a:endParaRPr>
          </a:p>
        </p:txBody>
      </p:sp>
      <p:sp>
        <p:nvSpPr>
          <p:cNvPr id="87" name="Text 6"/>
          <p:cNvSpPr/>
          <p:nvPr/>
        </p:nvSpPr>
        <p:spPr>
          <a:xfrm>
            <a:off x="457200" y="3429000"/>
            <a:ext cx="237708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0E7C7B"/>
                </a:solidFill>
                <a:effectLst/>
                <a:uFillTx/>
                <a:latin typeface="Cambria"/>
                <a:ea typeface="Cambria"/>
              </a:rPr>
              <a:t>23,327</a:t>
            </a:r>
            <a:endParaRPr lang="en-US" sz="3200" b="0" u="none" strike="noStrike">
              <a:solidFill>
                <a:srgbClr val="000000"/>
              </a:solidFill>
              <a:effectLst/>
              <a:uFillTx/>
              <a:latin typeface="Arial"/>
            </a:endParaRPr>
          </a:p>
        </p:txBody>
      </p:sp>
      <p:sp>
        <p:nvSpPr>
          <p:cNvPr id="88" name="Text 7"/>
          <p:cNvSpPr/>
          <p:nvPr/>
        </p:nvSpPr>
        <p:spPr>
          <a:xfrm>
            <a:off x="457200" y="3996000"/>
            <a:ext cx="23770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5606B"/>
                </a:solidFill>
                <a:effectLst/>
                <a:uFillTx/>
                <a:latin typeface="Calibri"/>
                <a:ea typeface="Calibri"/>
              </a:rPr>
              <a:t>singlets analysed</a:t>
            </a:r>
            <a:endParaRPr lang="en-US" sz="1200" b="0" u="none" strike="noStrike">
              <a:solidFill>
                <a:srgbClr val="000000"/>
              </a:solidFill>
              <a:effectLst/>
              <a:uFillTx/>
              <a:latin typeface="Arial"/>
            </a:endParaRPr>
          </a:p>
        </p:txBody>
      </p:sp>
      <p:graphicFrame>
        <p:nvGraphicFramePr>
          <p:cNvPr id="89" name="Chart 0"/>
          <p:cNvGraphicFramePr/>
          <p:nvPr/>
        </p:nvGraphicFramePr>
        <p:xfrm>
          <a:off x="3108960" y="1234440"/>
          <a:ext cx="5577480" cy="3227400"/>
        </p:xfrm>
        <a:graphic>
          <a:graphicData uri="http://schemas.openxmlformats.org/drawingml/2006/chart">
            <c:chart xmlns:c="http://schemas.openxmlformats.org/drawingml/2006/chart" xmlns:r="http://schemas.openxmlformats.org/officeDocument/2006/relationships" r:id="rId1"/>
          </a:graphicData>
        </a:graphic>
      </p:graphicFrame>
      <p:sp>
        <p:nvSpPr>
          <p:cNvPr id="90" name="Shape 8"/>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 name="Text 9"/>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Seurat QC filters (genes &gt; 200, UMIs &gt; 500, mitochondrial &lt; 20%); scDblFinder doublet detection run separately for each donor's 10x capture.</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Scripts: scripts/04_QC.R (nFeature &gt; 200, nCount &gt; 500, mt &lt; 20%), scripts/06a_batch_doublets.R  |  Table: results/06a_batch/doublets_by_sample.csv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Harmony integration mixes the donors</a:t>
            </a:r>
            <a:endParaRPr lang="en-US" sz="2800" b="0" u="none" strike="noStrike">
              <a:solidFill>
                <a:srgbClr val="000000"/>
              </a:solidFill>
              <a:effectLst/>
              <a:uFillTx/>
              <a:latin typeface="Arial"/>
            </a:endParaRPr>
          </a:p>
        </p:txBody>
      </p:sp>
      <p:sp>
        <p:nvSpPr>
          <p:cNvPr id="93"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Share of each cluster coming from its largest donor (0.2 = perfect mixing)</a:t>
            </a:r>
            <a:endParaRPr lang="en-US" sz="1300" b="0" u="none" strike="noStrike">
              <a:solidFill>
                <a:srgbClr val="000000"/>
              </a:solidFill>
              <a:effectLst/>
              <a:uFillTx/>
              <a:latin typeface="Arial"/>
            </a:endParaRPr>
          </a:p>
        </p:txBody>
      </p:sp>
      <p:graphicFrame>
        <p:nvGraphicFramePr>
          <p:cNvPr id="94" name="Chart 0"/>
          <p:cNvGraphicFramePr/>
          <p:nvPr/>
        </p:nvGraphicFramePr>
        <p:xfrm>
          <a:off x="365760" y="1188720"/>
          <a:ext cx="5668920" cy="3273120"/>
        </p:xfrm>
        <a:graphic>
          <a:graphicData uri="http://schemas.openxmlformats.org/drawingml/2006/chart">
            <c:chart xmlns:c="http://schemas.openxmlformats.org/drawingml/2006/chart" xmlns:r="http://schemas.openxmlformats.org/officeDocument/2006/relationships" r:id="rId1"/>
          </a:graphicData>
        </a:graphic>
      </p:graphicFrame>
      <p:sp>
        <p:nvSpPr>
          <p:cNvPr id="95" name="Text 2"/>
          <p:cNvSpPr/>
          <p:nvPr/>
        </p:nvSpPr>
        <p:spPr>
          <a:xfrm>
            <a:off x="6217920" y="1280160"/>
            <a:ext cx="2559960" cy="3181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Mesenchymal, endothelial and glial clusters: 27–48% from their largest donor</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T/NK cluster 6 comes only from Pulp4 and Pulp5, likely an immune infiltrate; retained</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Epithelial cluster 14 is 82% Pulp3, likely contamination; excluded</a:t>
            </a:r>
            <a:endParaRPr lang="en-US" sz="1200" b="0" u="none" strike="noStrike">
              <a:solidFill>
                <a:srgbClr val="000000"/>
              </a:solidFill>
              <a:effectLst/>
              <a:uFillTx/>
              <a:latin typeface="Arial"/>
            </a:endParaRPr>
          </a:p>
        </p:txBody>
      </p:sp>
      <p:sp>
        <p:nvSpPr>
          <p:cNvPr id="96" name="Shape 3"/>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 name="Text 4"/>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Seurat log-normalisation and PCA; Harmony batch correction with donor as batch (20 PCs); graph-based clustering at resolution 0.5; UMAP; donor share per cluster.</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scripts/06a_batch_doublets.R (Harmony, 20 PCs, res. 0.5)  |  Tables: results/06a_batch/cluster_by_sample_before.csv, cluster_by_sample_after.csv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Nine cell types in human dental pulp</a:t>
            </a:r>
            <a:endParaRPr lang="en-US" sz="2800" b="0" u="none" strike="noStrike">
              <a:solidFill>
                <a:srgbClr val="000000"/>
              </a:solidFill>
              <a:effectLst/>
              <a:uFillTx/>
              <a:latin typeface="Arial"/>
            </a:endParaRPr>
          </a:p>
        </p:txBody>
      </p:sp>
      <p:sp>
        <p:nvSpPr>
          <p:cNvPr id="99"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All 16 clusters had a clear marker match and were confirmed manually</a:t>
            </a:r>
            <a:endParaRPr lang="en-US" sz="1300" b="0" u="none" strike="noStrike">
              <a:solidFill>
                <a:srgbClr val="000000"/>
              </a:solidFill>
              <a:effectLst/>
              <a:uFillTx/>
              <a:latin typeface="Arial"/>
            </a:endParaRPr>
          </a:p>
        </p:txBody>
      </p:sp>
      <p:graphicFrame>
        <p:nvGraphicFramePr>
          <p:cNvPr id="100" name="Chart 0"/>
          <p:cNvGraphicFramePr/>
          <p:nvPr/>
        </p:nvGraphicFramePr>
        <p:xfrm>
          <a:off x="365760" y="1188720"/>
          <a:ext cx="5120280" cy="3273120"/>
        </p:xfrm>
        <a:graphic>
          <a:graphicData uri="http://schemas.openxmlformats.org/drawingml/2006/chart">
            <c:chart xmlns:c="http://schemas.openxmlformats.org/drawingml/2006/chart" xmlns:r="http://schemas.openxmlformats.org/officeDocument/2006/relationships" r:id="rId1"/>
          </a:graphicData>
        </a:graphic>
      </p:graphicFrame>
      <p:sp>
        <p:nvSpPr>
          <p:cNvPr id="101" name="Shape 2"/>
          <p:cNvSpPr/>
          <p:nvPr/>
        </p:nvSpPr>
        <p:spPr>
          <a:xfrm>
            <a:off x="5760720" y="1280160"/>
            <a:ext cx="2925720" cy="3154320"/>
          </a:xfrm>
          <a:prstGeom prst="roundRect">
            <a:avLst>
              <a:gd name="adj" fmla="val 3125"/>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 name="Text 3"/>
          <p:cNvSpPr/>
          <p:nvPr/>
        </p:nvSpPr>
        <p:spPr>
          <a:xfrm>
            <a:off x="5943600" y="1417320"/>
            <a:ext cx="2605680" cy="292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400" b="1" u="none" strike="noStrike">
                <a:solidFill>
                  <a:srgbClr val="C48A2C"/>
                </a:solidFill>
                <a:effectLst/>
                <a:uFillTx/>
                <a:latin typeface="Cambria"/>
                <a:ea typeface="Cambria"/>
              </a:rPr>
              <a:t>41%</a:t>
            </a:r>
            <a:endParaRPr lang="en-US" sz="34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A33"/>
                </a:solidFill>
                <a:effectLst/>
                <a:uFillTx/>
                <a:latin typeface="Calibri"/>
                <a:ea typeface="Calibri"/>
              </a:rPr>
              <a:t>of cells are pulp fibroblasts</a:t>
            </a:r>
            <a:endParaRPr lang="en-US" sz="1300" b="0" u="none" strike="noStrike">
              <a:solidFill>
                <a:srgbClr val="000000"/>
              </a:solidFill>
              <a:effectLst/>
              <a:uFillTx/>
              <a:latin typeface="Arial"/>
            </a:endParaRPr>
          </a:p>
          <a:p>
            <a:pPr defTabSz="914400">
              <a:lnSpc>
                <a:spcPct val="100000"/>
              </a:lnSpc>
              <a:tabLst>
                <a:tab pos="0" algn="l"/>
              </a:tabLst>
            </a:pPr>
            <a:r>
              <a:rPr lang="en-US" sz="800" b="0" u="none" strike="noStrike">
                <a:solidFill>
                  <a:srgbClr val="000000"/>
                </a:solidFill>
                <a:effectLst/>
                <a:uFillTx/>
                <a:latin typeface="Calibri"/>
                <a:ea typeface="Calibri"/>
              </a:rPr>
              <a:t> </a:t>
            </a:r>
            <a:endParaRPr lang="en-US" sz="800" b="0" u="none" strike="noStrike">
              <a:solidFill>
                <a:srgbClr val="000000"/>
              </a:solidFill>
              <a:effectLst/>
              <a:uFillTx/>
              <a:latin typeface="Arial"/>
            </a:endParaRPr>
          </a:p>
          <a:p>
            <a:pPr defTabSz="914400">
              <a:lnSpc>
                <a:spcPct val="100000"/>
              </a:lnSpc>
              <a:tabLst>
                <a:tab pos="0" algn="l"/>
              </a:tabLst>
            </a:pPr>
            <a:r>
              <a:rPr lang="en-US" sz="1300" b="1" u="none" strike="noStrike">
                <a:solidFill>
                  <a:srgbClr val="1F2A33"/>
                </a:solidFill>
                <a:effectLst/>
                <a:uFillTx/>
                <a:latin typeface="Calibri"/>
                <a:ea typeface="Calibri"/>
              </a:rPr>
              <a:t>No odontoblast cluster</a:t>
            </a:r>
            <a:endParaRPr lang="en-US" sz="1300" b="0" u="none" strike="noStrike">
              <a:solidFill>
                <a:srgbClr val="000000"/>
              </a:solidFill>
              <a:effectLst/>
              <a:uFillTx/>
              <a:latin typeface="Arial"/>
            </a:endParaRPr>
          </a:p>
          <a:p>
            <a:pPr defTabSz="914400">
              <a:lnSpc>
                <a:spcPct val="100000"/>
              </a:lnSpc>
              <a:tabLst>
                <a:tab pos="0" algn="l"/>
              </a:tabLst>
            </a:pPr>
            <a:r>
              <a:rPr lang="en-US" sz="1150" b="0" u="none" strike="noStrike">
                <a:solidFill>
                  <a:srgbClr val="55606B"/>
                </a:solidFill>
                <a:effectLst/>
                <a:uFillTx/>
                <a:latin typeface="Calibri"/>
                <a:ea typeface="Calibri"/>
              </a:rPr>
              <a:t>Often lost during pulp extraction; lymphatic and mast cells too rare to cluster</a:t>
            </a:r>
            <a:endParaRPr lang="en-US" sz="1150" b="0" u="none" strike="noStrike">
              <a:solidFill>
                <a:srgbClr val="000000"/>
              </a:solidFill>
              <a:effectLst/>
              <a:uFillTx/>
              <a:latin typeface="Arial"/>
            </a:endParaRPr>
          </a:p>
        </p:txBody>
      </p:sp>
      <p:sp>
        <p:nvSpPr>
          <p:cNvPr id="103" name="Shape 4"/>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4" name="Text 5"/>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Seurat AddModuleScore for 14 marker panels; each cluster labelled by its highest panel score, then confirmed manually against a marker dot plot.</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scripts/06_annotation.R (14 marker panels, module scores)  |  Tables: data/annotation/cluster_labels.csv, results/06_annotation/cell_type_by_sample.csv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Candidate DPSCs are perivascular cells</a:t>
            </a:r>
            <a:endParaRPr lang="en-US" sz="2800" b="0" u="none" strike="noStrike">
              <a:solidFill>
                <a:srgbClr val="000000"/>
              </a:solidFill>
              <a:effectLst/>
              <a:uFillTx/>
              <a:latin typeface="Arial"/>
            </a:endParaRPr>
          </a:p>
        </p:txBody>
      </p:sp>
      <p:sp>
        <p:nvSpPr>
          <p:cNvPr id="106"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Stem/progenitor score of each mesenchymal sub-cluster, scored separately from perivascular genes</a:t>
            </a:r>
            <a:endParaRPr lang="en-US" sz="1300" b="0" u="none" strike="noStrike">
              <a:solidFill>
                <a:srgbClr val="000000"/>
              </a:solidFill>
              <a:effectLst/>
              <a:uFillTx/>
              <a:latin typeface="Arial"/>
            </a:endParaRPr>
          </a:p>
        </p:txBody>
      </p:sp>
      <p:graphicFrame>
        <p:nvGraphicFramePr>
          <p:cNvPr id="107" name="Chart 0"/>
          <p:cNvGraphicFramePr/>
          <p:nvPr/>
        </p:nvGraphicFramePr>
        <p:xfrm>
          <a:off x="365760" y="1234440"/>
          <a:ext cx="4937400" cy="3227400"/>
        </p:xfrm>
        <a:graphic>
          <a:graphicData uri="http://schemas.openxmlformats.org/drawingml/2006/chart">
            <c:chart xmlns:c="http://schemas.openxmlformats.org/drawingml/2006/chart" xmlns:r="http://schemas.openxmlformats.org/officeDocument/2006/relationships" r:id="rId1"/>
          </a:graphicData>
        </a:graphic>
      </p:graphicFrame>
      <p:sp>
        <p:nvSpPr>
          <p:cNvPr id="108" name="Text 2"/>
          <p:cNvSpPr/>
          <p:nvPr/>
        </p:nvSpPr>
        <p:spPr>
          <a:xfrm>
            <a:off x="5486400" y="1280160"/>
            <a:ext cx="3291480" cy="3181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Stem score: THY1, NT5E, ENG, NGFR, FRZB, LEPR, PRRX1, CXCL12</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Only 3 perivascular sub-clusters score above background: 2,847 cells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Their perivascular scores (0.62–1.13) far exceed stem scores (0.04–0.20)</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Fits the CD146⁺ perivascular niche (Shi &amp; Gronthos 2003)</a:t>
            </a:r>
            <a:endParaRPr lang="en-US" sz="1200" b="0" u="none" strike="noStrike">
              <a:solidFill>
                <a:srgbClr val="000000"/>
              </a:solidFill>
              <a:effectLst/>
              <a:uFillTx/>
              <a:latin typeface="Arial"/>
            </a:endParaRPr>
          </a:p>
        </p:txBody>
      </p:sp>
      <p:sp>
        <p:nvSpPr>
          <p:cNvPr id="109" name="Shape 3"/>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 name="Text 4"/>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Mesenchyme re-clustered (PCA, Harmony dims 1–15, resolution 0.4); stem score = AddModuleScore of 8 stem genes; sub-clusters with mean score &gt; 0 = candidate DPSCs.</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scripts/06_annotation.R (mesenchyme sub-clustering, res. 0.4)  |  Table: results/06_annotation/mesenchymal_subclusters_DPSC_score.csv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WLS is detected in candidate DPSCs in every donor</a:t>
            </a:r>
            <a:endParaRPr lang="en-US" sz="2800" b="0" u="none" strike="noStrike">
              <a:solidFill>
                <a:srgbClr val="000000"/>
              </a:solidFill>
              <a:effectLst/>
              <a:uFillTx/>
              <a:latin typeface="Arial"/>
            </a:endParaRPr>
          </a:p>
        </p:txBody>
      </p:sp>
      <p:sp>
        <p:nvSpPr>
          <p:cNvPr id="112"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Median % of WLS⁺ cells across donors</a:t>
            </a:r>
            <a:endParaRPr lang="en-US" sz="1300" b="0" u="none" strike="noStrike">
              <a:solidFill>
                <a:srgbClr val="000000"/>
              </a:solidFill>
              <a:effectLst/>
              <a:uFillTx/>
              <a:latin typeface="Arial"/>
            </a:endParaRPr>
          </a:p>
        </p:txBody>
      </p:sp>
      <p:graphicFrame>
        <p:nvGraphicFramePr>
          <p:cNvPr id="113" name="Chart 0"/>
          <p:cNvGraphicFramePr/>
          <p:nvPr/>
        </p:nvGraphicFramePr>
        <p:xfrm>
          <a:off x="365760" y="1188720"/>
          <a:ext cx="5303160" cy="3273120"/>
        </p:xfrm>
        <a:graphic>
          <a:graphicData uri="http://schemas.openxmlformats.org/drawingml/2006/chart">
            <c:chart xmlns:c="http://schemas.openxmlformats.org/drawingml/2006/chart" xmlns:r="http://schemas.openxmlformats.org/officeDocument/2006/relationships" r:id="rId1"/>
          </a:graphicData>
        </a:graphic>
      </p:graphicFrame>
      <p:sp>
        <p:nvSpPr>
          <p:cNvPr id="114" name="Shape 2"/>
          <p:cNvSpPr/>
          <p:nvPr/>
        </p:nvSpPr>
        <p:spPr>
          <a:xfrm>
            <a:off x="5943600" y="1280160"/>
            <a:ext cx="2742840" cy="3154320"/>
          </a:xfrm>
          <a:prstGeom prst="roundRect">
            <a:avLst>
              <a:gd name="adj" fmla="val 3333"/>
            </a:avLst>
          </a:prstGeom>
          <a:solidFill>
            <a:srgbClr val="F4F6F7"/>
          </a:solidFill>
          <a:ln w="12700">
            <a:solidFill>
              <a:srgbClr val="F4F6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Text 3"/>
          <p:cNvSpPr/>
          <p:nvPr/>
        </p:nvSpPr>
        <p:spPr>
          <a:xfrm>
            <a:off x="6126480" y="1417320"/>
            <a:ext cx="2422800" cy="2925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1F2A33"/>
                </a:solidFill>
                <a:effectLst/>
                <a:uFillTx/>
                <a:latin typeface="Calibri"/>
                <a:ea typeface="Calibri"/>
              </a:rPr>
              <a:t>Range across donors</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F2A33"/>
                </a:solidFill>
                <a:effectLst/>
                <a:uFillTx/>
                <a:latin typeface="Calibri"/>
                <a:ea typeface="Calibri"/>
              </a:rPr>
              <a:t>Candidate DPSC: 1.3–16.8%</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F2A33"/>
                </a:solidFill>
                <a:effectLst/>
                <a:uFillTx/>
                <a:latin typeface="Calibri"/>
                <a:ea typeface="Calibri"/>
              </a:rPr>
              <a:t>Pulp fibroblast: 6.3–24.0%</a:t>
            </a:r>
            <a:endParaRPr lang="en-US" sz="1200" b="0" u="none" strike="noStrike">
              <a:solidFill>
                <a:srgbClr val="000000"/>
              </a:solidFill>
              <a:effectLst/>
              <a:uFillTx/>
              <a:latin typeface="Arial"/>
            </a:endParaRPr>
          </a:p>
          <a:p>
            <a:pPr defTabSz="914400">
              <a:lnSpc>
                <a:spcPct val="100000"/>
              </a:lnSpc>
              <a:tabLst>
                <a:tab pos="0" algn="l"/>
              </a:tabLst>
            </a:pPr>
            <a:r>
              <a:rPr lang="en-US" sz="600" b="0" u="none" strike="noStrike">
                <a:solidFill>
                  <a:srgbClr val="1F2A33"/>
                </a:solidFill>
                <a:effectLst/>
                <a:uFillTx/>
                <a:latin typeface="Calibri"/>
                <a:ea typeface="Calibri"/>
              </a:rPr>
              <a:t> </a:t>
            </a:r>
            <a:endParaRPr lang="en-US" sz="600" b="0" u="none" strike="noStrike">
              <a:solidFill>
                <a:srgbClr val="000000"/>
              </a:solidFill>
              <a:effectLst/>
              <a:uFillTx/>
              <a:latin typeface="Arial"/>
            </a:endParaRPr>
          </a:p>
          <a:p>
            <a:pPr defTabSz="914400">
              <a:lnSpc>
                <a:spcPct val="100000"/>
              </a:lnSpc>
              <a:tabLst>
                <a:tab pos="0" algn="l"/>
              </a:tabLst>
            </a:pPr>
            <a:r>
              <a:rPr lang="en-US" sz="1200" b="1" u="none" strike="noStrike">
                <a:solidFill>
                  <a:srgbClr val="1F2A33"/>
                </a:solidFill>
                <a:effectLst/>
                <a:uFillTx/>
                <a:latin typeface="Calibri"/>
                <a:ea typeface="Calibri"/>
              </a:rPr>
              <a:t>Detection understates expression</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1F2A33"/>
                </a:solidFill>
                <a:effectLst/>
                <a:uFillTx/>
                <a:latin typeface="Calibri"/>
                <a:ea typeface="Calibri"/>
              </a:rPr>
              <a:t>10x data capture a fraction of transcripts, so compare groups, not absolute %.</a:t>
            </a:r>
            <a:endParaRPr lang="en-US" sz="1200" b="0" u="none" strike="noStrike">
              <a:solidFill>
                <a:srgbClr val="000000"/>
              </a:solidFill>
              <a:effectLst/>
              <a:uFillTx/>
              <a:latin typeface="Arial"/>
            </a:endParaRPr>
          </a:p>
        </p:txBody>
      </p:sp>
      <p:sp>
        <p:nvSpPr>
          <p:cNvPr id="116" name="Shape 4"/>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 name="Text 5"/>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WLS⁺ = cell with ≥ 1 WLS count; % WLS⁺ per donor and cell group (groups with ≥ 20 cells); median across the 5 donors.</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scripts/07_WLS_expression.R  |  Tables: results/07_WLS/WLS_summary_by_group.csv, results/07_WLS/WLS_per_donor_per_group.csv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Donor-level tests: WLS is not enriched</a:t>
            </a:r>
            <a:endParaRPr lang="en-US" sz="2800" b="0" u="none" strike="noStrike">
              <a:solidFill>
                <a:srgbClr val="000000"/>
              </a:solidFill>
              <a:effectLst/>
              <a:uFillTx/>
              <a:latin typeface="Arial"/>
            </a:endParaRPr>
          </a:p>
        </p:txBody>
      </p:sp>
      <p:sp>
        <p:nvSpPr>
          <p:cNvPr id="119"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WLS log2 fold change, candidate DPSC vs each group (pseudobulk edgeR, 5 donors)</a:t>
            </a:r>
            <a:endParaRPr lang="en-US" sz="1300" b="0" u="none" strike="noStrike">
              <a:solidFill>
                <a:srgbClr val="000000"/>
              </a:solidFill>
              <a:effectLst/>
              <a:uFillTx/>
              <a:latin typeface="Arial"/>
            </a:endParaRPr>
          </a:p>
        </p:txBody>
      </p:sp>
      <p:graphicFrame>
        <p:nvGraphicFramePr>
          <p:cNvPr id="120" name="Chart 0"/>
          <p:cNvGraphicFramePr/>
          <p:nvPr/>
        </p:nvGraphicFramePr>
        <p:xfrm>
          <a:off x="365760" y="1188720"/>
          <a:ext cx="5120280" cy="32731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21" name="Table 0"/>
          <p:cNvGraphicFramePr/>
          <p:nvPr/>
        </p:nvGraphicFramePr>
        <p:xfrm>
          <a:off x="5760720" y="1280160"/>
          <a:ext cx="2925720" cy="1755360"/>
        </p:xfrm>
        <a:graphic>
          <a:graphicData uri="http://schemas.openxmlformats.org/drawingml/2006/table">
            <a:tbl>
              <a:tblPr/>
              <a:tblGrid>
                <a:gridCol w="1920240"/>
                <a:gridCol w="1005840"/>
              </a:tblGrid>
              <a:tr h="292320">
                <a:tc>
                  <a:txBody>
                    <a:bodyPr anchor="t">
                      <a:noAutofit/>
                    </a:bodyPr>
                    <a:p>
                      <a:pPr defTabSz="914400">
                        <a:lnSpc>
                          <a:spcPct val="100000"/>
                        </a:lnSpc>
                        <a:tabLst>
                          <a:tab pos="0" algn="l"/>
                        </a:tabLst>
                      </a:pPr>
                      <a:r>
                        <a:rPr lang="en-US" sz="1100" b="1" u="none" strike="noStrike">
                          <a:solidFill>
                            <a:srgbClr val="FFFFFF"/>
                          </a:solidFill>
                          <a:effectLst/>
                          <a:uFillTx/>
                          <a:latin typeface="Calibri"/>
                          <a:ea typeface="Calibri"/>
                        </a:rPr>
                        <a:t>Comparison</a:t>
                      </a:r>
                      <a:endParaRPr lang="en-US" sz="11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c>
                  <a:txBody>
                    <a:bodyPr anchor="t">
                      <a:noAutofit/>
                    </a:bodyPr>
                    <a:p>
                      <a:pPr defTabSz="914400">
                        <a:lnSpc>
                          <a:spcPct val="100000"/>
                        </a:lnSpc>
                        <a:tabLst>
                          <a:tab pos="0" algn="l"/>
                        </a:tabLst>
                      </a:pPr>
                      <a:r>
                        <a:rPr lang="en-US" sz="1100" b="1" u="none" strike="noStrike">
                          <a:solidFill>
                            <a:srgbClr val="FFFFFF"/>
                          </a:solidFill>
                          <a:effectLst/>
                          <a:uFillTx/>
                          <a:latin typeface="Calibri"/>
                          <a:ea typeface="Calibri"/>
                        </a:rPr>
                        <a:t>FDR</a:t>
                      </a:r>
                      <a:endParaRPr lang="en-US" sz="11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vs Pulp fibroblast</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0.0014</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vs Myeloid</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0.0001</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vs Endothelial</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0.0002</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vs Schwann/glia</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0.32</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vs All other cells</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0.57</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bl>
          </a:graphicData>
        </a:graphic>
      </p:graphicFrame>
      <p:sp>
        <p:nvSpPr>
          <p:cNvPr id="122" name="Text 2"/>
          <p:cNvSpPr/>
          <p:nvPr/>
        </p:nvSpPr>
        <p:spPr>
          <a:xfrm>
            <a:off x="5760720" y="3246120"/>
            <a:ext cx="29257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1F2A33"/>
                </a:solidFill>
                <a:effectLst/>
                <a:uFillTx/>
                <a:latin typeface="Calibri"/>
                <a:ea typeface="Calibri"/>
              </a:rPr>
              <a:t>Mixed model (mesenchyme): </a:t>
            </a:r>
            <a:r>
              <a:rPr lang="en-US" sz="1150" b="0" u="none" strike="noStrike">
                <a:solidFill>
                  <a:srgbClr val="1F2A33"/>
                </a:solidFill>
                <a:effectLst/>
                <a:uFillTx/>
                <a:latin typeface="Calibri"/>
                <a:ea typeface="Calibri"/>
              </a:rPr>
              <a:t>OR 0.43 (95% CI 0.37–0.50)</a:t>
            </a:r>
            <a:endParaRPr lang="en-US" sz="1150" b="0" u="none" strike="noStrike">
              <a:solidFill>
                <a:srgbClr val="000000"/>
              </a:solidFill>
              <a:effectLst/>
              <a:uFillTx/>
              <a:latin typeface="Arial"/>
            </a:endParaRPr>
          </a:p>
        </p:txBody>
      </p:sp>
      <p:sp>
        <p:nvSpPr>
          <p:cNvPr id="123" name="Shape 3"/>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4" name="Text 4"/>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Pseudobulk: WLS counts summed per donor × group; edgeR quasi-likelihood GLM ~ donor + group, BH FDR; lme4 logistic mixed model with donor as random effect.</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scripts/07_WLS_expression.R (edgeR QL, ~ donor + group; lme4)  |  Tables: results/07_WLS/WLS_pseudobulk_edgeR_tests.csv, WLS_mixed_model.csv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WLS–WNT co-expression was a depth artefact</a:t>
            </a:r>
            <a:endParaRPr lang="en-US" sz="2800" b="0" u="none" strike="noStrike">
              <a:solidFill>
                <a:srgbClr val="000000"/>
              </a:solidFill>
              <a:effectLst/>
              <a:uFillTx/>
              <a:latin typeface="Arial"/>
            </a:endParaRPr>
          </a:p>
        </p:txBody>
      </p:sp>
      <p:sp>
        <p:nvSpPr>
          <p:cNvPr id="126"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Odds ratio for WLS in WNT⁺ vs WNT⁻ cells, before and after adjusting for genes per cell</a:t>
            </a:r>
            <a:endParaRPr lang="en-US" sz="1300" b="0" u="none" strike="noStrike">
              <a:solidFill>
                <a:srgbClr val="000000"/>
              </a:solidFill>
              <a:effectLst/>
              <a:uFillTx/>
              <a:latin typeface="Arial"/>
            </a:endParaRPr>
          </a:p>
        </p:txBody>
      </p:sp>
      <p:graphicFrame>
        <p:nvGraphicFramePr>
          <p:cNvPr id="127" name="Chart 0"/>
          <p:cNvGraphicFramePr/>
          <p:nvPr/>
        </p:nvGraphicFramePr>
        <p:xfrm>
          <a:off x="365760" y="1188720"/>
          <a:ext cx="4845960" cy="32731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28" name="Chart 1"/>
          <p:cNvGraphicFramePr/>
          <p:nvPr/>
        </p:nvGraphicFramePr>
        <p:xfrm>
          <a:off x="5394960" y="1188720"/>
          <a:ext cx="3382920" cy="3273120"/>
        </p:xfrm>
        <a:graphic>
          <a:graphicData uri="http://schemas.openxmlformats.org/drawingml/2006/chart">
            <c:chart xmlns:c="http://schemas.openxmlformats.org/drawingml/2006/chart" xmlns:r="http://schemas.openxmlformats.org/officeDocument/2006/relationships" r:id="rId2"/>
          </a:graphicData>
        </a:graphic>
      </p:graphicFrame>
      <p:sp>
        <p:nvSpPr>
          <p:cNvPr id="129" name="Shape 2"/>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0" name="Text 3"/>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Logistic regression of WLS⁺ on WNT-ligand⁺ with donor as covariate, then also adjusted for genes detected per cell (sequencing depth).</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Scripts: 07_WLS_expression.R, 07b_WLS_sensitivity.R  |  Tables: results/07b_sensitivity/WLS_WNT_coexpression_depth_adjusted.csv, WNT_ligand_pct_by_group.csv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Robust to the DPSC definition</a:t>
            </a:r>
            <a:endParaRPr lang="en-US" sz="2800" b="0" u="none" strike="noStrike">
              <a:solidFill>
                <a:srgbClr val="000000"/>
              </a:solidFill>
              <a:effectLst/>
              <a:uFillTx/>
              <a:latin typeface="Arial"/>
            </a:endParaRPr>
          </a:p>
        </p:txBody>
      </p:sp>
      <p:sp>
        <p:nvSpPr>
          <p:cNvPr id="132"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WLS log2FC, candidate DPSCs vs other mesenchymal cells</a:t>
            </a:r>
            <a:endParaRPr lang="en-US" sz="1300" b="0" u="none" strike="noStrike">
              <a:solidFill>
                <a:srgbClr val="000000"/>
              </a:solidFill>
              <a:effectLst/>
              <a:uFillTx/>
              <a:latin typeface="Arial"/>
            </a:endParaRPr>
          </a:p>
        </p:txBody>
      </p:sp>
      <p:graphicFrame>
        <p:nvGraphicFramePr>
          <p:cNvPr id="133" name="Chart 0"/>
          <p:cNvGraphicFramePr/>
          <p:nvPr/>
        </p:nvGraphicFramePr>
        <p:xfrm>
          <a:off x="365760" y="1188720"/>
          <a:ext cx="5303160" cy="32731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34" name="Table 0"/>
          <p:cNvGraphicFramePr/>
          <p:nvPr/>
        </p:nvGraphicFramePr>
        <p:xfrm>
          <a:off x="5897880" y="1280160"/>
          <a:ext cx="2788560" cy="1462680"/>
        </p:xfrm>
        <a:graphic>
          <a:graphicData uri="http://schemas.openxmlformats.org/drawingml/2006/table">
            <a:tbl>
              <a:tblPr/>
              <a:tblGrid>
                <a:gridCol w="1051560"/>
                <a:gridCol w="822960"/>
                <a:gridCol w="914400"/>
              </a:tblGrid>
              <a:tr h="292320">
                <a:tc>
                  <a:txBody>
                    <a:bodyPr anchor="t">
                      <a:noAutofit/>
                    </a:bodyPr>
                    <a:p>
                      <a:pPr defTabSz="914400">
                        <a:lnSpc>
                          <a:spcPct val="100000"/>
                        </a:lnSpc>
                        <a:tabLst>
                          <a:tab pos="0" algn="l"/>
                        </a:tabLst>
                      </a:pPr>
                      <a:r>
                        <a:rPr lang="en-US" sz="1100" b="1" u="none" strike="noStrike">
                          <a:solidFill>
                            <a:srgbClr val="FFFFFF"/>
                          </a:solidFill>
                          <a:effectLst/>
                          <a:uFillTx/>
                          <a:latin typeface="Calibri"/>
                          <a:ea typeface="Calibri"/>
                        </a:rPr>
                        <a:t>Definition</a:t>
                      </a:r>
                      <a:endParaRPr lang="en-US" sz="11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c>
                  <a:txBody>
                    <a:bodyPr anchor="t">
                      <a:noAutofit/>
                    </a:bodyPr>
                    <a:p>
                      <a:pPr defTabSz="914400">
                        <a:lnSpc>
                          <a:spcPct val="100000"/>
                        </a:lnSpc>
                        <a:tabLst>
                          <a:tab pos="0" algn="l"/>
                        </a:tabLst>
                      </a:pPr>
                      <a:r>
                        <a:rPr lang="en-US" sz="1100" b="1" u="none" strike="noStrike">
                          <a:solidFill>
                            <a:srgbClr val="FFFFFF"/>
                          </a:solidFill>
                          <a:effectLst/>
                          <a:uFillTx/>
                          <a:latin typeface="Calibri"/>
                          <a:ea typeface="Calibri"/>
                        </a:rPr>
                        <a:t>Cells</a:t>
                      </a:r>
                      <a:endParaRPr lang="en-US" sz="11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c>
                  <a:txBody>
                    <a:bodyPr anchor="t">
                      <a:noAutofit/>
                    </a:bodyPr>
                    <a:p>
                      <a:pPr defTabSz="914400">
                        <a:lnSpc>
                          <a:spcPct val="100000"/>
                        </a:lnSpc>
                        <a:tabLst>
                          <a:tab pos="0" algn="l"/>
                        </a:tabLst>
                      </a:pPr>
                      <a:r>
                        <a:rPr lang="en-US" sz="1100" b="1" u="none" strike="noStrike">
                          <a:solidFill>
                            <a:srgbClr val="FFFFFF"/>
                          </a:solidFill>
                          <a:effectLst/>
                          <a:uFillTx/>
                          <a:latin typeface="Calibri"/>
                          <a:ea typeface="Calibri"/>
                        </a:rPr>
                        <a:t>p</a:t>
                      </a:r>
                      <a:endParaRPr lang="en-US" sz="1100" b="0" u="none" strike="noStrike">
                        <a:solidFill>
                          <a:srgbClr val="FFFFFF"/>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solidFill>
                      <a:srgbClr val="6A1B3A"/>
                    </a:solid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A</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2,847</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2.3e-4</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B</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2,495</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7.9e-4</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C</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1,423</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0.38</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r h="292320">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D</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1,538</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c>
                  <a:txBody>
                    <a:bodyPr anchor="t">
                      <a:noAutofit/>
                    </a:bodyPr>
                    <a:p>
                      <a:pPr defTabSz="914400">
                        <a:lnSpc>
                          <a:spcPct val="100000"/>
                        </a:lnSpc>
                        <a:tabLst>
                          <a:tab pos="0" algn="l"/>
                        </a:tabLst>
                      </a:pPr>
                      <a:r>
                        <a:rPr lang="en-US" sz="1100" b="0" u="none" strike="noStrike">
                          <a:solidFill>
                            <a:srgbClr val="1F2A33"/>
                          </a:solidFill>
                          <a:effectLst/>
                          <a:uFillTx/>
                          <a:latin typeface="Calibri"/>
                          <a:ea typeface="Calibri"/>
                        </a:rPr>
                        <a:t>0.011</a:t>
                      </a:r>
                      <a:endParaRPr lang="en-US" sz="1100" b="0" u="none" strike="noStrike">
                        <a:solidFill>
                          <a:srgbClr val="000000"/>
                        </a:solidFill>
                        <a:effectLst/>
                        <a:uFillTx/>
                        <a:latin typeface="Arial"/>
                      </a:endParaRPr>
                    </a:p>
                  </a:txBody>
                  <a:tcPr anchor="t" marL="91440" marR="91440" marT="45720" marB="45720">
                    <a:lnL w="6480">
                      <a:solidFill>
                        <a:srgbClr val="D5DBDF"/>
                      </a:solidFill>
                      <a:prstDash val="solid"/>
                    </a:lnL>
                    <a:lnR w="6480">
                      <a:solidFill>
                        <a:srgbClr val="D5DBDF"/>
                      </a:solidFill>
                      <a:prstDash val="solid"/>
                    </a:lnR>
                    <a:lnT w="6480">
                      <a:solidFill>
                        <a:srgbClr val="D5DBDF"/>
                      </a:solidFill>
                      <a:prstDash val="solid"/>
                    </a:lnT>
                    <a:lnB w="6480">
                      <a:solidFill>
                        <a:srgbClr val="D5DBDF"/>
                      </a:solidFill>
                      <a:prstDash val="solid"/>
                    </a:lnB>
                    <a:noFill/>
                  </a:tcPr>
                </a:tc>
              </a:tr>
            </a:tbl>
          </a:graphicData>
        </a:graphic>
      </p:graphicFrame>
      <p:sp>
        <p:nvSpPr>
          <p:cNvPr id="135" name="Text 2"/>
          <p:cNvSpPr/>
          <p:nvPr/>
        </p:nvSpPr>
        <p:spPr>
          <a:xfrm>
            <a:off x="5897880" y="2971800"/>
            <a:ext cx="2788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i="1" u="none" strike="noStrike">
                <a:solidFill>
                  <a:srgbClr val="1F2A33"/>
                </a:solidFill>
                <a:effectLst/>
                <a:uFillTx/>
                <a:latin typeface="Calibri"/>
                <a:ea typeface="Calibri"/>
              </a:rPr>
              <a:t>Definitions overlap only 21–79%, yet WLS is never higher in candidate DPSCs.</a:t>
            </a:r>
            <a:endParaRPr lang="en-US" sz="1200" b="0" u="none" strike="noStrike">
              <a:solidFill>
                <a:srgbClr val="000000"/>
              </a:solidFill>
              <a:effectLst/>
              <a:uFillTx/>
              <a:latin typeface="Arial"/>
            </a:endParaRPr>
          </a:p>
        </p:txBody>
      </p:sp>
      <p:sp>
        <p:nvSpPr>
          <p:cNvPr id="136" name="Shape 3"/>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7" name="Text 4"/>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The WLS comparison vs remaining mesenchyme repeated under 4 DPSC definitions: A sub-clusters, B top 20% stem score, C ≥ 3 stem markers, D MCAM⁺.</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scripts/07b_WLS_sensitivity.R  |  Tables: results/07b_sensitivity/WLS_sensitivity_by_definition.csv, definition_overlap.csv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Donor differences track sequencing depth</a:t>
            </a:r>
            <a:endParaRPr lang="en-US" sz="2800" b="0" u="none" strike="noStrike">
              <a:solidFill>
                <a:srgbClr val="000000"/>
              </a:solidFill>
              <a:effectLst/>
              <a:uFillTx/>
              <a:latin typeface="Arial"/>
            </a:endParaRPr>
          </a:p>
        </p:txBody>
      </p:sp>
      <p:sp>
        <p:nvSpPr>
          <p:cNvPr id="139" name="Text 1"/>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5606B"/>
                </a:solidFill>
                <a:effectLst/>
                <a:uFillTx/>
                <a:latin typeface="Calibri"/>
                <a:ea typeface="Calibri"/>
              </a:rPr>
              <a:t>% WLS⁺ candidate DPSCs, donors ordered by median genes per cell</a:t>
            </a:r>
            <a:endParaRPr lang="en-US" sz="1300" b="0" u="none" strike="noStrike">
              <a:solidFill>
                <a:srgbClr val="000000"/>
              </a:solidFill>
              <a:effectLst/>
              <a:uFillTx/>
              <a:latin typeface="Arial"/>
            </a:endParaRPr>
          </a:p>
        </p:txBody>
      </p:sp>
      <p:graphicFrame>
        <p:nvGraphicFramePr>
          <p:cNvPr id="140" name="Chart 0"/>
          <p:cNvGraphicFramePr/>
          <p:nvPr/>
        </p:nvGraphicFramePr>
        <p:xfrm>
          <a:off x="365760" y="1188720"/>
          <a:ext cx="5486040" cy="3273120"/>
        </p:xfrm>
        <a:graphic>
          <a:graphicData uri="http://schemas.openxmlformats.org/drawingml/2006/chart">
            <c:chart xmlns:c="http://schemas.openxmlformats.org/drawingml/2006/chart" xmlns:r="http://schemas.openxmlformats.org/officeDocument/2006/relationships" r:id="rId1"/>
          </a:graphicData>
        </a:graphic>
      </p:graphicFrame>
      <p:sp>
        <p:nvSpPr>
          <p:cNvPr id="141" name="Text 2"/>
          <p:cNvSpPr/>
          <p:nvPr/>
        </p:nvSpPr>
        <p:spPr>
          <a:xfrm>
            <a:off x="6035040" y="1280160"/>
            <a:ext cx="2742840" cy="3181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Pulp3 has ~⅓ of the genes per cell of the best donors, hence 1.3% WLS⁺</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Pulp4/5 have high mitochondrial reads but the highest WLS detection</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Pseudobulk tests compare within donors, so fold changes are unaffected</a:t>
            </a:r>
            <a:endParaRPr lang="en-US" sz="120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00" b="0" u="none" strike="noStrike">
                <a:solidFill>
                  <a:srgbClr val="1F2A33"/>
                </a:solidFill>
                <a:effectLst/>
                <a:uFillTx/>
                <a:latin typeface="Calibri"/>
                <a:ea typeface="Calibri"/>
              </a:rPr>
              <a:t>Do not compare % WLS⁺ between donors</a:t>
            </a:r>
            <a:endParaRPr lang="en-US" sz="1200" b="0" u="none" strike="noStrike">
              <a:solidFill>
                <a:srgbClr val="000000"/>
              </a:solidFill>
              <a:effectLst/>
              <a:uFillTx/>
              <a:latin typeface="Arial"/>
            </a:endParaRPr>
          </a:p>
        </p:txBody>
      </p:sp>
      <p:sp>
        <p:nvSpPr>
          <p:cNvPr id="142" name="Shape 3"/>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3" name="Text 4"/>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Per-donor QC metrics of candidate DPSCs (median genes, UMIs, % mitochondrial) compared with % WLS⁺; within-donor tests are not affected by depth.</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Script: scripts/07b_WLS_sensitivity.R  |  Table: results/07b_sensitivity/candidate_DPSC_by_donor_QC.csv</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 name="Text 0"/>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6A1B3A"/>
                </a:solidFill>
                <a:effectLst/>
                <a:uFillTx/>
                <a:latin typeface="Cambria"/>
                <a:ea typeface="Cambria"/>
              </a:rPr>
              <a:t>Interpretation and limitations</a:t>
            </a:r>
            <a:endParaRPr lang="en-US" sz="2800" b="0" u="none" strike="noStrike">
              <a:solidFill>
                <a:srgbClr val="000000"/>
              </a:solidFill>
              <a:effectLst/>
              <a:uFillTx/>
              <a:latin typeface="Arial"/>
            </a:endParaRPr>
          </a:p>
        </p:txBody>
      </p:sp>
      <p:sp>
        <p:nvSpPr>
          <p:cNvPr id="145" name="Shape 1"/>
          <p:cNvSpPr/>
          <p:nvPr/>
        </p:nvSpPr>
        <p:spPr>
          <a:xfrm>
            <a:off x="457200" y="1097280"/>
            <a:ext cx="3977280" cy="3364560"/>
          </a:xfrm>
          <a:prstGeom prst="roundRect">
            <a:avLst>
              <a:gd name="adj" fmla="val 2703"/>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 name="Text 2"/>
          <p:cNvSpPr/>
          <p:nvPr/>
        </p:nvSpPr>
        <p:spPr>
          <a:xfrm>
            <a:off x="640080" y="1234440"/>
            <a:ext cx="3657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A1B3A"/>
                </a:solidFill>
                <a:effectLst/>
                <a:uFillTx/>
                <a:latin typeface="Cambria"/>
                <a:ea typeface="Cambria"/>
              </a:rPr>
              <a:t>What the data say</a:t>
            </a:r>
            <a:endParaRPr lang="en-US" sz="1600" b="0" u="none" strike="noStrike">
              <a:solidFill>
                <a:srgbClr val="000000"/>
              </a:solidFill>
              <a:effectLst/>
              <a:uFillTx/>
              <a:latin typeface="Arial"/>
            </a:endParaRPr>
          </a:p>
        </p:txBody>
      </p:sp>
      <p:sp>
        <p:nvSpPr>
          <p:cNvPr id="147" name="Text 3"/>
          <p:cNvSpPr/>
          <p:nvPr/>
        </p:nvSpPr>
        <p:spPr>
          <a:xfrm>
            <a:off x="640080" y="1691640"/>
            <a:ext cx="3657240" cy="265140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H1 supported: WLS is expressed in candidate DPSCs</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H2 not supported: DPSCs are at the pulp average</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Fibroblasts are the main WLS⁺ mesenchymal cells, with WNT5A/WNT5B</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No evidence of WLS–WNT co-expression in DPSCs</a:t>
            </a:r>
            <a:endParaRPr lang="en-US" sz="1250" b="0" u="none" strike="noStrike">
              <a:solidFill>
                <a:srgbClr val="000000"/>
              </a:solidFill>
              <a:effectLst/>
              <a:uFillTx/>
              <a:latin typeface="Arial"/>
            </a:endParaRPr>
          </a:p>
        </p:txBody>
      </p:sp>
      <p:sp>
        <p:nvSpPr>
          <p:cNvPr id="148" name="Shape 4"/>
          <p:cNvSpPr/>
          <p:nvPr/>
        </p:nvSpPr>
        <p:spPr>
          <a:xfrm>
            <a:off x="4709160" y="1097280"/>
            <a:ext cx="3977280" cy="3364560"/>
          </a:xfrm>
          <a:prstGeom prst="roundRect">
            <a:avLst>
              <a:gd name="adj" fmla="val 2703"/>
            </a:avLst>
          </a:prstGeom>
          <a:solidFill>
            <a:srgbClr val="F4F6F7"/>
          </a:solidFill>
          <a:ln w="12700">
            <a:solidFill>
              <a:srgbClr val="F4F6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9" name="Text 5"/>
          <p:cNvSpPr/>
          <p:nvPr/>
        </p:nvSpPr>
        <p:spPr>
          <a:xfrm>
            <a:off x="4892040" y="1234440"/>
            <a:ext cx="3657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F2A33"/>
                </a:solidFill>
                <a:effectLst/>
                <a:uFillTx/>
                <a:latin typeface="Cambria"/>
                <a:ea typeface="Cambria"/>
              </a:rPr>
              <a:t>Caveats</a:t>
            </a:r>
            <a:endParaRPr lang="en-US" sz="1600" b="0" u="none" strike="noStrike">
              <a:solidFill>
                <a:srgbClr val="000000"/>
              </a:solidFill>
              <a:effectLst/>
              <a:uFillTx/>
              <a:latin typeface="Arial"/>
            </a:endParaRPr>
          </a:p>
        </p:txBody>
      </p:sp>
      <p:sp>
        <p:nvSpPr>
          <p:cNvPr id="150" name="Text 6"/>
          <p:cNvSpPr/>
          <p:nvPr/>
        </p:nvSpPr>
        <p:spPr>
          <a:xfrm>
            <a:off x="4892040" y="1691640"/>
            <a:ext cx="3657240" cy="265140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One dataset (GSE164157); needs validation</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DPSCs defined computationally, not functionally</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Fresh tissue: cultured DPSCs may differ</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RNA only; no WLS protein or secretion data</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1F2A33"/>
              </a:buClr>
              <a:buFont typeface="Symbol" charset="2"/>
              <a:buChar char=""/>
            </a:pPr>
            <a:r>
              <a:rPr lang="en-US" sz="1250" b="0" u="none" strike="noStrike">
                <a:solidFill>
                  <a:srgbClr val="1F2A33"/>
                </a:solidFill>
                <a:effectLst/>
                <a:uFillTx/>
                <a:latin typeface="Calibri"/>
                <a:ea typeface="Calibri"/>
              </a:rPr>
              <a:t>Donor clinical details unknown</a:t>
            </a:r>
            <a:endParaRPr lang="en-US" sz="1250" b="0" u="none" strike="noStrike">
              <a:solidFill>
                <a:srgbClr val="000000"/>
              </a:solidFill>
              <a:effectLst/>
              <a:uFillTx/>
              <a:latin typeface="Arial"/>
            </a:endParaRPr>
          </a:p>
        </p:txBody>
      </p:sp>
      <p:sp>
        <p:nvSpPr>
          <p:cNvPr id="151" name="Shape 7"/>
          <p:cNvSpPr/>
          <p:nvPr/>
        </p:nvSpPr>
        <p:spPr>
          <a:xfrm>
            <a:off x="457200" y="4553640"/>
            <a:ext cx="8229240" cy="493560"/>
          </a:xfrm>
          <a:prstGeom prst="roundRect">
            <a:avLst>
              <a:gd name="adj" fmla="val 23529"/>
            </a:avLst>
          </a:prstGeom>
          <a:solidFill>
            <a:srgbClr val="F6EEF1"/>
          </a:solidFill>
          <a:ln w="12700">
            <a:solidFill>
              <a:srgbClr val="F6EEF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2" name="Text 8"/>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5A3A47"/>
                </a:solidFill>
                <a:effectLst/>
                <a:uFillTx/>
                <a:latin typeface="Calibri"/>
                <a:ea typeface="Calibri"/>
              </a:rPr>
              <a:t>Method: </a:t>
            </a:r>
            <a:r>
              <a:rPr lang="en-US" sz="800" b="0" u="none" strike="noStrike">
                <a:solidFill>
                  <a:srgbClr val="5A3A47"/>
                </a:solidFill>
                <a:effectLst/>
                <a:uFillTx/>
                <a:latin typeface="Calibri"/>
                <a:ea typeface="Calibri"/>
              </a:rPr>
              <a:t>Summary of scripts 04–07b: Seurat v5, scDblFinder, Harmony, AddModuleScore, edgeR pseudobulk, lme4; all outputs reproducible from the repository.</a:t>
            </a:r>
            <a:endParaRPr lang="en-US" sz="800" b="0" u="none" strike="noStrike">
              <a:solidFill>
                <a:srgbClr val="000000"/>
              </a:solidFill>
              <a:effectLst/>
              <a:uFillTx/>
              <a:latin typeface="Arial"/>
            </a:endParaRPr>
          </a:p>
          <a:p>
            <a:pPr defTabSz="914400">
              <a:lnSpc>
                <a:spcPct val="100000"/>
              </a:lnSpc>
              <a:tabLst>
                <a:tab pos="0" algn="l"/>
              </a:tabLst>
            </a:pPr>
            <a:r>
              <a:rPr lang="en-US" sz="800" b="1" u="none" strike="noStrike">
                <a:solidFill>
                  <a:srgbClr val="5A3A47"/>
                </a:solidFill>
                <a:effectLst/>
                <a:uFillTx/>
                <a:latin typeface="Calibri"/>
                <a:ea typeface="Calibri"/>
              </a:rPr>
              <a:t>Code and outputs: </a:t>
            </a:r>
            <a:r>
              <a:rPr lang="en-US" sz="800" b="0" u="none" strike="noStrike">
                <a:solidFill>
                  <a:srgbClr val="5A3A47"/>
                </a:solidFill>
                <a:effectLst/>
                <a:uFillTx/>
                <a:latin typeface="Calibri"/>
                <a:ea typeface="Calibri"/>
              </a:rPr>
              <a:t>Reports: docs/WLS_DPSC_Progress_Report_2.docx, docs/WLS_DPSC_Graduate_Report.docx  |  All tables: results/07_WLS/, results/07b_sensitivity/</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6A1B3A"/>
        </a:solidFill>
      </p:bgPr>
    </p:bg>
    <p:spTree>
      <p:nvGrpSpPr>
        <p:cNvPr id="1" name=""/>
        <p:cNvGrpSpPr/>
        <p:nvPr/>
      </p:nvGrpSpPr>
      <p:grpSpPr>
        <a:xfrm>
          <a:off x="0" y="0"/>
          <a:ext cx="0" cy="0"/>
          <a:chOff x="0" y="0"/>
          <a:chExt cx="0" cy="0"/>
        </a:xfrm>
      </p:grpSpPr>
      <p:sp>
        <p:nvSpPr>
          <p:cNvPr id="153" name="Text 0"/>
          <p:cNvSpPr/>
          <p:nvPr/>
        </p:nvSpPr>
        <p:spPr>
          <a:xfrm>
            <a:off x="457200" y="32004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Cambria"/>
                <a:ea typeface="Cambria"/>
              </a:rPr>
              <a:t>Next steps and questions</a:t>
            </a:r>
            <a:endParaRPr lang="en-US" sz="2800" b="0" u="none" strike="noStrike">
              <a:solidFill>
                <a:srgbClr val="FFFFFF"/>
              </a:solidFill>
              <a:effectLst/>
              <a:uFillTx/>
              <a:latin typeface="Arial"/>
            </a:endParaRPr>
          </a:p>
        </p:txBody>
      </p:sp>
      <p:sp>
        <p:nvSpPr>
          <p:cNvPr id="154" name="Text 1"/>
          <p:cNvSpPr/>
          <p:nvPr/>
        </p:nvSpPr>
        <p:spPr>
          <a:xfrm>
            <a:off x="457200" y="1051560"/>
            <a:ext cx="4023000" cy="32914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FFFFFF"/>
              </a:buClr>
              <a:buFont typeface="Symbol" charset="2"/>
              <a:buChar char=""/>
            </a:pPr>
            <a:r>
              <a:rPr lang="en-US" sz="1300" b="0" u="none" strike="noStrike">
                <a:solidFill>
                  <a:srgbClr val="FFFFFF"/>
                </a:solidFill>
                <a:effectLst/>
                <a:uFillTx/>
                <a:latin typeface="Calibri"/>
                <a:ea typeface="Calibri"/>
              </a:rPr>
              <a:t>08_DEG.R: WLS⁺ vs WLS⁻ cells in DPSCs and fibroblasts (pseudobulk, GSEA)</a:t>
            </a:r>
            <a:endParaRPr lang="en-US" sz="1300" b="0" u="none" strike="noStrike">
              <a:solidFill>
                <a:srgbClr val="FFFFFF"/>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300" b="0" u="none" strike="noStrike">
                <a:solidFill>
                  <a:srgbClr val="FFFFFF"/>
                </a:solidFill>
                <a:effectLst/>
                <a:uFillTx/>
                <a:latin typeface="Calibri"/>
                <a:ea typeface="Calibri"/>
              </a:rPr>
              <a:t>Ligand–receptor mapping of Wnt senders and receivers</a:t>
            </a:r>
            <a:endParaRPr lang="en-US" sz="1300" b="0" u="none" strike="noStrike">
              <a:solidFill>
                <a:srgbClr val="FFFFFF"/>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300" b="0" u="none" strike="noStrike">
                <a:solidFill>
                  <a:srgbClr val="FFFFFF"/>
                </a:solidFill>
                <a:effectLst/>
                <a:uFillTx/>
                <a:latin typeface="Calibri"/>
                <a:ea typeface="Calibri"/>
              </a:rPr>
              <a:t>Validation: GSE202476 / Pagella 2021 atlas; cultured DPSCs (Lee 2022)</a:t>
            </a:r>
            <a:endParaRPr lang="en-US" sz="1300" b="0" u="none" strike="noStrike">
              <a:solidFill>
                <a:srgbClr val="FFFFFF"/>
              </a:solidFill>
              <a:effectLst/>
              <a:uFillTx/>
              <a:latin typeface="Arial"/>
            </a:endParaRPr>
          </a:p>
          <a:p>
            <a:pPr marL="343080" indent="-343080" defTabSz="914400">
              <a:lnSpc>
                <a:spcPct val="100000"/>
              </a:lnSpc>
              <a:spcAft>
                <a:spcPts val="601"/>
              </a:spcAft>
              <a:buClr>
                <a:srgbClr val="FFFFFF"/>
              </a:buClr>
              <a:buFont typeface="Symbol" charset="2"/>
              <a:buChar char=""/>
            </a:pPr>
            <a:r>
              <a:rPr lang="en-US" sz="1300" b="0" u="none" strike="noStrike">
                <a:solidFill>
                  <a:srgbClr val="FFFFFF"/>
                </a:solidFill>
                <a:effectLst/>
                <a:uFillTx/>
                <a:latin typeface="Calibri"/>
                <a:ea typeface="Calibri"/>
              </a:rPr>
              <a:t>Bench: WLS immunostaining with MCAM/THY1 on pulp sections</a:t>
            </a:r>
            <a:endParaRPr lang="en-US" sz="1300" b="0" u="none" strike="noStrike">
              <a:solidFill>
                <a:srgbClr val="FFFFFF"/>
              </a:solidFill>
              <a:effectLst/>
              <a:uFillTx/>
              <a:latin typeface="Arial"/>
            </a:endParaRPr>
          </a:p>
        </p:txBody>
      </p:sp>
      <p:sp>
        <p:nvSpPr>
          <p:cNvPr id="155" name="Shape 2"/>
          <p:cNvSpPr/>
          <p:nvPr/>
        </p:nvSpPr>
        <p:spPr>
          <a:xfrm>
            <a:off x="4754880" y="1051560"/>
            <a:ext cx="3931560" cy="3291480"/>
          </a:xfrm>
          <a:prstGeom prst="roundRect">
            <a:avLst>
              <a:gd name="adj" fmla="val 3333"/>
            </a:avLst>
          </a:prstGeom>
          <a:solidFill>
            <a:srgbClr val="4A1328"/>
          </a:solidFill>
          <a:ln w="12700">
            <a:solidFill>
              <a:srgbClr val="4A1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6" name="Text 3"/>
          <p:cNvSpPr/>
          <p:nvPr/>
        </p:nvSpPr>
        <p:spPr>
          <a:xfrm>
            <a:off x="4937760" y="118872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3DDE6"/>
                </a:solidFill>
                <a:effectLst/>
                <a:uFillTx/>
                <a:latin typeface="Cambria"/>
                <a:ea typeface="Cambria"/>
              </a:rPr>
              <a:t>For Professor Hsu</a:t>
            </a:r>
            <a:endParaRPr lang="en-US" sz="1600" b="0" u="none" strike="noStrike">
              <a:solidFill>
                <a:srgbClr val="FFFFFF"/>
              </a:solidFill>
              <a:effectLst/>
              <a:uFillTx/>
              <a:latin typeface="Arial"/>
            </a:endParaRPr>
          </a:p>
        </p:txBody>
      </p:sp>
      <p:sp>
        <p:nvSpPr>
          <p:cNvPr id="157" name="Text 4"/>
          <p:cNvSpPr/>
          <p:nvPr/>
        </p:nvSpPr>
        <p:spPr>
          <a:xfrm>
            <a:off x="4937760" y="1645920"/>
            <a:ext cx="3611520" cy="25599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FFFFFF"/>
              </a:buClr>
              <a:buFont typeface="Calibri Light"/>
              <a:buAutoNum type="arabicPeriod"/>
            </a:pPr>
            <a:r>
              <a:rPr lang="en-US" sz="1250" b="0" u="none" strike="noStrike">
                <a:solidFill>
                  <a:srgbClr val="FFFFFF"/>
                </a:solidFill>
                <a:effectLst/>
                <a:uFillTx/>
                <a:latin typeface="Calibri"/>
                <a:ea typeface="Calibri"/>
              </a:rPr>
              <a:t>Which DPSC definition matters most to the lab?</a:t>
            </a:r>
            <a:endParaRPr lang="en-US" sz="125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Calibri Light"/>
              <a:buAutoNum type="arabicPeriod"/>
            </a:pPr>
            <a:r>
              <a:rPr lang="en-US" sz="1250" b="0" u="none" strike="noStrike">
                <a:solidFill>
                  <a:srgbClr val="FFFFFF"/>
                </a:solidFill>
                <a:effectLst/>
                <a:uFillTx/>
                <a:latin typeface="Calibri"/>
                <a:ea typeface="Calibri"/>
              </a:rPr>
              <a:t>Tissue DPSCs, or cultured DPSCs?</a:t>
            </a:r>
            <a:endParaRPr lang="en-US" sz="125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Calibri Light"/>
              <a:buAutoNum type="arabicPeriod"/>
            </a:pPr>
            <a:r>
              <a:rPr lang="en-US" sz="1250" b="0" u="none" strike="noStrike">
                <a:solidFill>
                  <a:srgbClr val="FFFFFF"/>
                </a:solidFill>
                <a:effectLst/>
                <a:uFillTx/>
                <a:latin typeface="Calibri"/>
                <a:ea typeface="Calibri"/>
              </a:rPr>
              <a:t>Should we follow up fibroblasts as the main WLS source?</a:t>
            </a:r>
            <a:endParaRPr lang="en-US" sz="1250" b="0" u="none" strike="noStrike">
              <a:solidFill>
                <a:srgbClr val="FFFFFF"/>
              </a:solidFill>
              <a:effectLst/>
              <a:uFillTx/>
              <a:latin typeface="Arial"/>
            </a:endParaRPr>
          </a:p>
          <a:p>
            <a:pPr marL="343080" indent="-343080" defTabSz="914400">
              <a:lnSpc>
                <a:spcPct val="100000"/>
              </a:lnSpc>
              <a:spcAft>
                <a:spcPts val="799"/>
              </a:spcAft>
              <a:buClr>
                <a:srgbClr val="FFFFFF"/>
              </a:buClr>
              <a:buFont typeface="Calibri Light"/>
              <a:buAutoNum type="arabicPeriod"/>
            </a:pPr>
            <a:r>
              <a:rPr lang="en-US" sz="1250" b="0" u="none" strike="noStrike">
                <a:solidFill>
                  <a:srgbClr val="FFFFFF"/>
                </a:solidFill>
                <a:effectLst/>
                <a:uFillTx/>
                <a:latin typeface="Calibri"/>
                <a:ea typeface="Calibri"/>
              </a:rPr>
              <a:t>Approve public release (Zenodo DOI) and authorship?</a:t>
            </a:r>
            <a:endParaRPr lang="en-US" sz="1250" b="0" u="none" strike="noStrike">
              <a:solidFill>
                <a:srgbClr val="FFFFFF"/>
              </a:solidFill>
              <a:effectLst/>
              <a:uFillTx/>
              <a:latin typeface="Arial"/>
            </a:endParaRPr>
          </a:p>
        </p:txBody>
      </p:sp>
      <p:sp>
        <p:nvSpPr>
          <p:cNvPr id="158" name="Shape 5"/>
          <p:cNvSpPr/>
          <p:nvPr/>
        </p:nvSpPr>
        <p:spPr>
          <a:xfrm>
            <a:off x="457200" y="4553640"/>
            <a:ext cx="8229240" cy="493560"/>
          </a:xfrm>
          <a:prstGeom prst="roundRect">
            <a:avLst>
              <a:gd name="adj" fmla="val 23529"/>
            </a:avLst>
          </a:prstGeom>
          <a:solidFill>
            <a:srgbClr val="4A1328"/>
          </a:solidFill>
          <a:ln w="12700">
            <a:solidFill>
              <a:srgbClr val="4A132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9" name="Text 6"/>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201"/>
              </a:spcAft>
              <a:tabLst>
                <a:tab pos="0" algn="l"/>
              </a:tabLst>
            </a:pPr>
            <a:r>
              <a:rPr lang="en-US" sz="800" b="1" u="none" strike="noStrike">
                <a:solidFill>
                  <a:srgbClr val="F3DDE6"/>
                </a:solidFill>
                <a:effectLst/>
                <a:uFillTx/>
                <a:latin typeface="Calibri"/>
                <a:ea typeface="Calibri"/>
              </a:rPr>
              <a:t>Method: </a:t>
            </a:r>
            <a:r>
              <a:rPr lang="en-US" sz="800" b="0" u="none" strike="noStrike">
                <a:solidFill>
                  <a:srgbClr val="F3DDE6"/>
                </a:solidFill>
                <a:effectLst/>
                <a:uFillTx/>
                <a:latin typeface="Calibri"/>
                <a:ea typeface="Calibri"/>
              </a:rPr>
              <a:t>Planned scripts 08–09 (pseudobulk DEG with edgeR, GSEA) were not run. The validation listed here is now complete: slides 17–21.</a:t>
            </a:r>
            <a:endParaRPr lang="en-US" sz="800" b="0" u="none" strike="noStrike">
              <a:solidFill>
                <a:srgbClr val="FFFFFF"/>
              </a:solidFill>
              <a:effectLst/>
              <a:uFillTx/>
              <a:latin typeface="Arial"/>
            </a:endParaRPr>
          </a:p>
          <a:p>
            <a:pPr defTabSz="914400">
              <a:lnSpc>
                <a:spcPct val="100000"/>
              </a:lnSpc>
              <a:tabLst>
                <a:tab pos="0" algn="l"/>
              </a:tabLst>
            </a:pPr>
            <a:r>
              <a:rPr lang="en-US" sz="800" b="1" u="none" strike="noStrike">
                <a:solidFill>
                  <a:srgbClr val="F3DDE6"/>
                </a:solidFill>
                <a:effectLst/>
                <a:uFillTx/>
                <a:latin typeface="Calibri"/>
                <a:ea typeface="Calibri"/>
              </a:rPr>
              <a:t>Code and outputs: </a:t>
            </a:r>
            <a:r>
              <a:rPr lang="en-US" sz="800" b="0" u="none" strike="noStrike">
                <a:solidFill>
                  <a:srgbClr val="F3DDE6"/>
                </a:solidFill>
                <a:effectLst/>
                <a:uFillTx/>
                <a:latin typeface="Calibri"/>
                <a:ea typeface="Calibri"/>
              </a:rPr>
              <a:t>Repository: github.com/mtariqi/dpsc-wls-human-scRNAseq  |  Planned scripts: scripts/08_DEG.R, scripts/09_GSEA.R</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Title"/>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Validation: the answer holds</a:t>
            </a:r>
            <a:endParaRPr lang="en-US" sz="2800" b="0" u="none" strike="noStrike">
              <a:solidFill>
                <a:srgbClr val="000000"/>
              </a:solidFill>
              <a:effectLst/>
              <a:uFillTx/>
              <a:latin typeface="Arial"/>
            </a:endParaRPr>
          </a:p>
        </p:txBody>
      </p:sp>
      <p:sp>
        <p:nvSpPr>
          <p:cNvPr id="161" name="Subtitle"/>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00" b="0" i="1" u="none" strike="noStrike">
                <a:solidFill>
                  <a:srgbClr val="55606B"/>
                </a:solidFill>
                <a:effectLst/>
                <a:uFillTx/>
                <a:latin typeface="Calibri"/>
              </a:rPr>
              <a:t>Same question, same pipeline, three independent datasets</a:t>
            </a:r>
            <a:endParaRPr lang="en-US" sz="1300" b="0" u="none" strike="noStrike">
              <a:solidFill>
                <a:srgbClr val="000000"/>
              </a:solidFill>
              <a:effectLst/>
              <a:uFillTx/>
              <a:latin typeface="Arial"/>
            </a:endParaRPr>
          </a:p>
        </p:txBody>
      </p:sp>
      <p:sp>
        <p:nvSpPr>
          <p:cNvPr id="162" name="Footer box"/>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 name="Footer"/>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Validation re-ran the discovery method in a new repository (scripts 00–04): same QC, marker panels and DPSC definition A on three GEO datasets.</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Code: github.com/mtariqi/dpsc-wls-validation  |  Table: results/WLS_cross_dataset_summary.csv  |  Scripts: scripts/02–04</a:t>
            </a:r>
            <a:endParaRPr lang="en-US" sz="800" b="0" u="none" strike="noStrike">
              <a:solidFill>
                <a:srgbClr val="000000"/>
              </a:solidFill>
              <a:effectLst/>
              <a:uFillTx/>
              <a:latin typeface="Arial"/>
            </a:endParaRPr>
          </a:p>
        </p:txBody>
      </p:sp>
      <p:sp>
        <p:nvSpPr>
          <p:cNvPr id="164" name="Headline"/>
          <p:cNvSpPr/>
          <p:nvPr/>
        </p:nvSpPr>
        <p:spPr>
          <a:xfrm>
            <a:off x="457200" y="128016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800" b="1" u="none" strike="noStrike">
                <a:solidFill>
                  <a:srgbClr val="1F2A33"/>
                </a:solidFill>
                <a:effectLst/>
                <a:uFillTx/>
                <a:latin typeface="Cambria"/>
              </a:rPr>
              <a:t>WLS is expressed in DPSCs in all four datasets, but enriched in none of them.</a:t>
            </a:r>
            <a:endParaRPr lang="en-US" sz="1800" b="0" u="none" strike="noStrike">
              <a:solidFill>
                <a:srgbClr val="000000"/>
              </a:solidFill>
              <a:effectLst/>
              <a:uFillTx/>
              <a:latin typeface="Arial"/>
            </a:endParaRPr>
          </a:p>
        </p:txBody>
      </p:sp>
      <p:sp>
        <p:nvSpPr>
          <p:cNvPr id="165" name="Card 1"/>
          <p:cNvSpPr/>
          <p:nvPr/>
        </p:nvSpPr>
        <p:spPr>
          <a:xfrm>
            <a:off x="457200" y="2057400"/>
            <a:ext cx="2605680" cy="228564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6" name="Card 1 number"/>
          <p:cNvSpPr/>
          <p:nvPr/>
        </p:nvSpPr>
        <p:spPr>
          <a:xfrm>
            <a:off x="640080" y="2240280"/>
            <a:ext cx="2239920" cy="914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4400" b="1" u="none" strike="noStrike">
                <a:solidFill>
                  <a:srgbClr val="0E7C7B"/>
                </a:solidFill>
                <a:effectLst/>
                <a:uFillTx/>
                <a:latin typeface="Cambria"/>
              </a:rPr>
              <a:t>4 of 4</a:t>
            </a:r>
            <a:endParaRPr lang="en-US" sz="4400" b="0" u="none" strike="noStrike">
              <a:solidFill>
                <a:srgbClr val="000000"/>
              </a:solidFill>
              <a:effectLst/>
              <a:uFillTx/>
              <a:latin typeface="Arial"/>
            </a:endParaRPr>
          </a:p>
        </p:txBody>
      </p:sp>
      <p:sp>
        <p:nvSpPr>
          <p:cNvPr id="167" name="Card 1 label"/>
          <p:cNvSpPr/>
          <p:nvPr/>
        </p:nvSpPr>
        <p:spPr>
          <a:xfrm>
            <a:off x="640080" y="3200400"/>
            <a:ext cx="2239920" cy="914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1F2A33"/>
                </a:solidFill>
                <a:effectLst/>
                <a:uFillTx/>
                <a:latin typeface="Calibri"/>
              </a:rPr>
              <a:t>datasets with WLS⁺ candidate DPSCs (11–70% of cells)</a:t>
            </a:r>
            <a:endParaRPr lang="en-US" sz="1300" b="0" u="none" strike="noStrike">
              <a:solidFill>
                <a:srgbClr val="000000"/>
              </a:solidFill>
              <a:effectLst/>
              <a:uFillTx/>
              <a:latin typeface="Arial"/>
            </a:endParaRPr>
          </a:p>
        </p:txBody>
      </p:sp>
      <p:sp>
        <p:nvSpPr>
          <p:cNvPr id="168" name="Card 2"/>
          <p:cNvSpPr/>
          <p:nvPr/>
        </p:nvSpPr>
        <p:spPr>
          <a:xfrm>
            <a:off x="3246120" y="2057400"/>
            <a:ext cx="2605680" cy="228564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9" name="Card 2 number"/>
          <p:cNvSpPr/>
          <p:nvPr/>
        </p:nvSpPr>
        <p:spPr>
          <a:xfrm>
            <a:off x="3429000" y="2240280"/>
            <a:ext cx="2239920" cy="914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4400" b="1" u="none" strike="noStrike">
                <a:solidFill>
                  <a:srgbClr val="B03A5B"/>
                </a:solidFill>
                <a:effectLst/>
                <a:uFillTx/>
                <a:latin typeface="Cambria"/>
              </a:rPr>
              <a:t>0 of 4</a:t>
            </a:r>
            <a:endParaRPr lang="en-US" sz="4400" b="0" u="none" strike="noStrike">
              <a:solidFill>
                <a:srgbClr val="000000"/>
              </a:solidFill>
              <a:effectLst/>
              <a:uFillTx/>
              <a:latin typeface="Arial"/>
            </a:endParaRPr>
          </a:p>
        </p:txBody>
      </p:sp>
      <p:sp>
        <p:nvSpPr>
          <p:cNvPr id="170" name="Card 2 label"/>
          <p:cNvSpPr/>
          <p:nvPr/>
        </p:nvSpPr>
        <p:spPr>
          <a:xfrm>
            <a:off x="3429000" y="3200400"/>
            <a:ext cx="2239920" cy="914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1F2A33"/>
                </a:solidFill>
                <a:effectLst/>
                <a:uFillTx/>
                <a:latin typeface="Calibri"/>
              </a:rPr>
              <a:t>datasets in which WLS is higher in DPSCs than in comparison cells</a:t>
            </a:r>
            <a:endParaRPr lang="en-US" sz="1300" b="0" u="none" strike="noStrike">
              <a:solidFill>
                <a:srgbClr val="000000"/>
              </a:solidFill>
              <a:effectLst/>
              <a:uFillTx/>
              <a:latin typeface="Arial"/>
            </a:endParaRPr>
          </a:p>
        </p:txBody>
      </p:sp>
      <p:sp>
        <p:nvSpPr>
          <p:cNvPr id="171" name="Card 3"/>
          <p:cNvSpPr/>
          <p:nvPr/>
        </p:nvSpPr>
        <p:spPr>
          <a:xfrm>
            <a:off x="6035040" y="2057400"/>
            <a:ext cx="2605680" cy="228564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Card 3 number"/>
          <p:cNvSpPr/>
          <p:nvPr/>
        </p:nvSpPr>
        <p:spPr>
          <a:xfrm>
            <a:off x="6217920" y="2240280"/>
            <a:ext cx="2239920" cy="914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4400" b="1" u="none" strike="noStrike">
                <a:solidFill>
                  <a:srgbClr val="C48A2C"/>
                </a:solidFill>
                <a:effectLst/>
                <a:uFillTx/>
                <a:latin typeface="Cambria"/>
              </a:rPr>
              <a:t>3 of 3</a:t>
            </a:r>
            <a:endParaRPr lang="en-US" sz="4400" b="0" u="none" strike="noStrike">
              <a:solidFill>
                <a:srgbClr val="000000"/>
              </a:solidFill>
              <a:effectLst/>
              <a:uFillTx/>
              <a:latin typeface="Arial"/>
            </a:endParaRPr>
          </a:p>
        </p:txBody>
      </p:sp>
      <p:sp>
        <p:nvSpPr>
          <p:cNvPr id="173" name="Card 3 label"/>
          <p:cNvSpPr/>
          <p:nvPr/>
        </p:nvSpPr>
        <p:spPr>
          <a:xfrm>
            <a:off x="6217920" y="3200400"/>
            <a:ext cx="2239920" cy="914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300" b="0" u="none" strike="noStrike">
                <a:solidFill>
                  <a:srgbClr val="1F2A33"/>
                </a:solidFill>
                <a:effectLst/>
                <a:uFillTx/>
                <a:latin typeface="Calibri"/>
              </a:rPr>
              <a:t>pulp tissues in which fibroblasts are the top WLS⁺ mesenchymal cells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Title"/>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Four datasets, one answer</a:t>
            </a:r>
            <a:endParaRPr lang="en-US" sz="2800" b="0" u="none" strike="noStrike">
              <a:solidFill>
                <a:srgbClr val="000000"/>
              </a:solidFill>
              <a:effectLst/>
              <a:uFillTx/>
              <a:latin typeface="Arial"/>
            </a:endParaRPr>
          </a:p>
        </p:txBody>
      </p:sp>
      <p:sp>
        <p:nvSpPr>
          <p:cNvPr id="175" name="Subtitle"/>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00" b="0" i="1" u="none" strike="noStrike">
                <a:solidFill>
                  <a:srgbClr val="55606B"/>
                </a:solidFill>
                <a:effectLst/>
                <a:uFillTx/>
                <a:latin typeface="Calibri"/>
              </a:rPr>
              <a:t>Candidate DPSCs (definition A) vs comparison cells within each dataset</a:t>
            </a:r>
            <a:endParaRPr lang="en-US" sz="1300" b="0" u="none" strike="noStrike">
              <a:solidFill>
                <a:srgbClr val="000000"/>
              </a:solidFill>
              <a:effectLst/>
              <a:uFillTx/>
              <a:latin typeface="Arial"/>
            </a:endParaRPr>
          </a:p>
        </p:txBody>
      </p:sp>
      <p:sp>
        <p:nvSpPr>
          <p:cNvPr id="176" name="Footer box"/>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7" name="Footer"/>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Definition A DPSCs vs all other cells (vs PDLSCs for GSE227731). ≥ 3 donors: edgeR pseudobulk; 1 donor or library: % WLS⁺, pooled log2FC, cell-level Wilcoxon (descriptive).</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Table: github.com/mtariqi/dpsc-wls-validation/results/WLS_cross_dataset_summary.csv  |  Per-dataset tests: results/&lt;GEO&gt;/WLS_tests.csv</a:t>
            </a:r>
            <a:endParaRPr lang="en-US" sz="800" b="0" u="none" strike="noStrike">
              <a:solidFill>
                <a:srgbClr val="000000"/>
              </a:solidFill>
              <a:effectLst/>
              <a:uFillTx/>
              <a:latin typeface="Arial"/>
            </a:endParaRPr>
          </a:p>
        </p:txBody>
      </p:sp>
      <p:graphicFrame>
        <p:nvGraphicFramePr>
          <p:cNvPr id="178" name="Table 5"/>
          <p:cNvGraphicFramePr/>
          <p:nvPr/>
        </p:nvGraphicFramePr>
        <p:xfrm>
          <a:off x="457200" y="1325880"/>
          <a:ext cx="8229240" cy="1975320"/>
        </p:xfrm>
        <a:graphic>
          <a:graphicData uri="http://schemas.openxmlformats.org/drawingml/2006/table">
            <a:tbl>
              <a:tblPr/>
              <a:tblGrid>
                <a:gridCol w="960120"/>
                <a:gridCol w="1965960"/>
                <a:gridCol w="640080"/>
                <a:gridCol w="685800"/>
                <a:gridCol w="960120"/>
                <a:gridCol w="640080"/>
                <a:gridCol w="2377440"/>
              </a:tblGrid>
              <a:tr h="320040">
                <a:tc>
                  <a:txBody>
                    <a:bodyPr lIns="73080" tIns="36360" rIns="73080" bIns="36360" anchor="ctr">
                      <a:noAutofit/>
                    </a:bodyPr>
                    <a:p>
                      <a:pPr defTabSz="914400">
                        <a:lnSpc>
                          <a:spcPct val="100000"/>
                        </a:lnSpc>
                      </a:pPr>
                      <a:r>
                        <a:rPr lang="en-US" sz="1100" b="1" u="none" strike="noStrike">
                          <a:solidFill>
                            <a:srgbClr val="FFFFFF"/>
                          </a:solidFill>
                          <a:effectLst/>
                          <a:uFillTx/>
                          <a:latin typeface="Calibri"/>
                        </a:rPr>
                        <a:t>Dataset</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defTabSz="914400">
                        <a:lnSpc>
                          <a:spcPct val="100000"/>
                        </a:lnSpc>
                      </a:pPr>
                      <a:r>
                        <a:rPr lang="en-US" sz="1100" b="1" u="none" strike="noStrike">
                          <a:solidFill>
                            <a:srgbClr val="FFFFFF"/>
                          </a:solidFill>
                          <a:effectLst/>
                          <a:uFillTx/>
                          <a:latin typeface="Calibri"/>
                        </a:rPr>
                        <a:t>Sample</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algn="ctr" defTabSz="914400">
                        <a:lnSpc>
                          <a:spcPct val="100000"/>
                        </a:lnSpc>
                      </a:pPr>
                      <a:r>
                        <a:rPr lang="en-US" sz="1100" b="1" u="none" strike="noStrike">
                          <a:solidFill>
                            <a:srgbClr val="FFFFFF"/>
                          </a:solidFill>
                          <a:effectLst/>
                          <a:uFillTx/>
                          <a:latin typeface="Calibri"/>
                        </a:rPr>
                        <a:t>DPSCs</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algn="ctr" defTabSz="914400">
                        <a:lnSpc>
                          <a:spcPct val="100000"/>
                        </a:lnSpc>
                      </a:pPr>
                      <a:r>
                        <a:rPr lang="en-US" sz="1100" b="1" u="none" strike="noStrike">
                          <a:solidFill>
                            <a:srgbClr val="FFFFFF"/>
                          </a:solidFill>
                          <a:effectLst/>
                          <a:uFillTx/>
                          <a:latin typeface="Calibri"/>
                        </a:rPr>
                        <a:t>% WLS⁺</a:t>
                      </a:r>
                      <a:endParaRPr lang="en-US" sz="1100" b="0" u="none" strike="noStrike">
                        <a:solidFill>
                          <a:srgbClr val="FFFFFF"/>
                        </a:solidFill>
                        <a:effectLst/>
                        <a:uFillTx/>
                        <a:latin typeface="Arial"/>
                      </a:endParaRPr>
                    </a:p>
                    <a:p>
                      <a:pPr algn="ctr" defTabSz="914400">
                        <a:lnSpc>
                          <a:spcPct val="100000"/>
                        </a:lnSpc>
                      </a:pPr>
                      <a:r>
                        <a:rPr lang="en-US" sz="1100" b="1" u="none" strike="noStrike">
                          <a:solidFill>
                            <a:srgbClr val="FFFFFF"/>
                          </a:solidFill>
                          <a:effectLst/>
                          <a:uFillTx/>
                          <a:latin typeface="Calibri"/>
                        </a:rPr>
                        <a:t>DPSC</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algn="ctr" defTabSz="914400">
                        <a:lnSpc>
                          <a:spcPct val="100000"/>
                        </a:lnSpc>
                      </a:pPr>
                      <a:r>
                        <a:rPr lang="en-US" sz="1100" b="1" u="none" strike="noStrike">
                          <a:solidFill>
                            <a:srgbClr val="FFFFFF"/>
                          </a:solidFill>
                          <a:effectLst/>
                          <a:uFillTx/>
                          <a:latin typeface="Calibri"/>
                        </a:rPr>
                        <a:t>% WLS⁺</a:t>
                      </a:r>
                      <a:endParaRPr lang="en-US" sz="1100" b="0" u="none" strike="noStrike">
                        <a:solidFill>
                          <a:srgbClr val="FFFFFF"/>
                        </a:solidFill>
                        <a:effectLst/>
                        <a:uFillTx/>
                        <a:latin typeface="Arial"/>
                      </a:endParaRPr>
                    </a:p>
                    <a:p>
                      <a:pPr algn="ctr" defTabSz="914400">
                        <a:lnSpc>
                          <a:spcPct val="100000"/>
                        </a:lnSpc>
                      </a:pPr>
                      <a:r>
                        <a:rPr lang="en-US" sz="1100" b="1" u="none" strike="noStrike">
                          <a:solidFill>
                            <a:srgbClr val="FFFFFF"/>
                          </a:solidFill>
                          <a:effectLst/>
                          <a:uFillTx/>
                          <a:latin typeface="Calibri"/>
                        </a:rPr>
                        <a:t>comparison</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algn="ctr" defTabSz="914400">
                        <a:lnSpc>
                          <a:spcPct val="100000"/>
                        </a:lnSpc>
                      </a:pPr>
                      <a:r>
                        <a:rPr lang="en-US" sz="1100" b="1" u="none" strike="noStrike">
                          <a:solidFill>
                            <a:srgbClr val="FFFFFF"/>
                          </a:solidFill>
                          <a:effectLst/>
                          <a:uFillTx/>
                          <a:latin typeface="Calibri"/>
                        </a:rPr>
                        <a:t>log2FC</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c>
                  <a:txBody>
                    <a:bodyPr lIns="73080" tIns="36360" rIns="73080" bIns="36360" anchor="ctr">
                      <a:noAutofit/>
                    </a:bodyPr>
                    <a:p>
                      <a:pPr defTabSz="914400">
                        <a:lnSpc>
                          <a:spcPct val="100000"/>
                        </a:lnSpc>
                      </a:pPr>
                      <a:r>
                        <a:rPr lang="en-US" sz="1100" b="1" u="none" strike="noStrike">
                          <a:solidFill>
                            <a:srgbClr val="FFFFFF"/>
                          </a:solidFill>
                          <a:effectLst/>
                          <a:uFillTx/>
                          <a:latin typeface="Calibri"/>
                        </a:rPr>
                        <a:t>Statistics</a:t>
                      </a:r>
                      <a:endParaRPr lang="en-US" sz="11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A1B3A"/>
                    </a:solidFill>
                  </a:tcPr>
                </a:tc>
              </a:tr>
              <a:tr h="320040">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GSE164157</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Fresh pulp, 5 donors</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2,847</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11.1</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pulp avg.</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1" u="none" strike="noStrike">
                          <a:solidFill>
                            <a:srgbClr val="B03A5B"/>
                          </a:solidFill>
                          <a:effectLst/>
                          <a:uFillTx/>
                          <a:latin typeface="Calibri"/>
                        </a:rPr>
                        <a:t>−0.14</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Pseudobulk, FDR 0.57</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0040">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GSE202476</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Fresh pulp, 13-year-old</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1,011</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33.8</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36.7</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1" u="none" strike="noStrike">
                          <a:solidFill>
                            <a:srgbClr val="B03A5B"/>
                          </a:solidFill>
                          <a:effectLst/>
                          <a:uFillTx/>
                          <a:latin typeface="Calibri"/>
                        </a:rPr>
                        <a:t>−0.16</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Descriptive, 1 donor</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r h="320040">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GSE185222</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Fresh pulp, sound tooth</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122</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14.8</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16.9</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914400">
                        <a:lnSpc>
                          <a:spcPct val="100000"/>
                        </a:lnSpc>
                      </a:pPr>
                      <a:r>
                        <a:rPr lang="en-US" sz="1200" b="1" u="none" strike="noStrike">
                          <a:solidFill>
                            <a:srgbClr val="B03A5B"/>
                          </a:solidFill>
                          <a:effectLst/>
                          <a:uFillTx/>
                          <a:latin typeface="Calibri"/>
                        </a:rPr>
                        <a:t>+0.21</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Descriptive, 1 donor</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0040">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GSE227731</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Stem cells: DPSC vs PDLSC</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2,150</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69.5</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0" u="none" strike="noStrike">
                          <a:solidFill>
                            <a:srgbClr val="1F2A33"/>
                          </a:solidFill>
                          <a:effectLst/>
                          <a:uFillTx/>
                          <a:latin typeface="Calibri"/>
                        </a:rPr>
                        <a:t>83.7 (PDLSC)</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algn="ctr" defTabSz="914400">
                        <a:lnSpc>
                          <a:spcPct val="100000"/>
                        </a:lnSpc>
                      </a:pPr>
                      <a:r>
                        <a:rPr lang="en-US" sz="1200" b="1" u="none" strike="noStrike">
                          <a:solidFill>
                            <a:srgbClr val="B03A5B"/>
                          </a:solidFill>
                          <a:effectLst/>
                          <a:uFillTx/>
                          <a:latin typeface="Calibri"/>
                        </a:rPr>
                        <a:t>−0.72</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c>
                  <a:txBody>
                    <a:bodyPr lIns="73080" tIns="36360" rIns="73080" bIns="36360" anchor="ctr">
                      <a:noAutofit/>
                    </a:bodyPr>
                    <a:p>
                      <a:pPr defTabSz="914400">
                        <a:lnSpc>
                          <a:spcPct val="100000"/>
                        </a:lnSpc>
                      </a:pPr>
                      <a:r>
                        <a:rPr lang="en-US" sz="1200" b="0" u="none" strike="noStrike">
                          <a:solidFill>
                            <a:srgbClr val="1F2A33"/>
                          </a:solidFill>
                          <a:effectLst/>
                          <a:uFillTx/>
                          <a:latin typeface="Calibri"/>
                        </a:rPr>
                        <a:t>Descriptive, 1 library each</a:t>
                      </a:r>
                      <a:endParaRPr lang="en-US" sz="12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6F7"/>
                    </a:solidFill>
                  </a:tcPr>
                </a:tc>
              </a:tr>
            </a:tbl>
          </a:graphicData>
        </a:graphic>
      </p:graphicFrame>
      <p:sp>
        <p:nvSpPr>
          <p:cNvPr id="179" name="Note card"/>
          <p:cNvSpPr/>
          <p:nvPr/>
        </p:nvSpPr>
        <p:spPr>
          <a:xfrm>
            <a:off x="457200" y="3291840"/>
            <a:ext cx="8229240" cy="82260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Note"/>
          <p:cNvSpPr/>
          <p:nvPr/>
        </p:nvSpPr>
        <p:spPr>
          <a:xfrm>
            <a:off x="640080" y="3383280"/>
            <a:ext cx="7863480" cy="6397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1F2A33"/>
                </a:solidFill>
                <a:effectLst/>
                <a:uFillTx/>
                <a:latin typeface="Calibri"/>
              </a:rPr>
              <a:t>No dataset shows enrichment. </a:t>
            </a:r>
            <a:r>
              <a:rPr lang="en-US" sz="1200" b="0" u="none" strike="noStrike">
                <a:solidFill>
                  <a:srgbClr val="1F2A33"/>
                </a:solidFill>
                <a:effectLst/>
                <a:uFillTx/>
                <a:latin typeface="Calibri"/>
              </a:rPr>
              <a:t>log2FC is DPSC vs all other cells (vs PDLSC for GSE227731); positive = higher in DPSCs. Compare within a row: % WLS⁺ varies between datasets with depth, chemistry and culture.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Title"/>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Fibroblasts, not DPSCs, lead WLS expression</a:t>
            </a:r>
            <a:endParaRPr lang="en-US" sz="2800" b="0" u="none" strike="noStrike">
              <a:solidFill>
                <a:srgbClr val="000000"/>
              </a:solidFill>
              <a:effectLst/>
              <a:uFillTx/>
              <a:latin typeface="Arial"/>
            </a:endParaRPr>
          </a:p>
        </p:txBody>
      </p:sp>
      <p:sp>
        <p:nvSpPr>
          <p:cNvPr id="182" name="Subtitle"/>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00" b="0" i="1" u="none" strike="noStrike">
                <a:solidFill>
                  <a:srgbClr val="55606B"/>
                </a:solidFill>
                <a:effectLst/>
                <a:uFillTx/>
                <a:latin typeface="Calibri"/>
              </a:rPr>
              <a:t>% of cells expressing WLS by cell type; candidate DPSCs in burgundy</a:t>
            </a:r>
            <a:endParaRPr lang="en-US" sz="1300" b="0" u="none" strike="noStrike">
              <a:solidFill>
                <a:srgbClr val="000000"/>
              </a:solidFill>
              <a:effectLst/>
              <a:uFillTx/>
              <a:latin typeface="Arial"/>
            </a:endParaRPr>
          </a:p>
        </p:txBody>
      </p:sp>
      <p:sp>
        <p:nvSpPr>
          <p:cNvPr id="183" name="Footer box"/>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Footer"/>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 WLS⁺ cells by cell type, with cell types from module-score labels confirmed manually; GSE185222 sound tooth only; GSE227731 DPSC sub-clusters by re-clustering.</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Tables: results/GSE202476/WLS_by_cell_type.csv, results/GSE185222/WLS_by_cell_type.csv, results/GSE227731/WLS_by_cell_type.csv, WLS_by_DPSC_subcluster.csv</a:t>
            </a:r>
            <a:endParaRPr lang="en-US" sz="800" b="0" u="none" strike="noStrike">
              <a:solidFill>
                <a:srgbClr val="000000"/>
              </a:solidFill>
              <a:effectLst/>
              <a:uFillTx/>
              <a:latin typeface="Arial"/>
            </a:endParaRPr>
          </a:p>
        </p:txBody>
      </p:sp>
      <p:graphicFrame>
        <p:nvGraphicFramePr>
          <p:cNvPr id="185" name="Chart GSE202476"/>
          <p:cNvGraphicFramePr/>
          <p:nvPr/>
        </p:nvGraphicFramePr>
        <p:xfrm>
          <a:off x="365760" y="1188720"/>
          <a:ext cx="2834280" cy="327312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86" name="Chart GSE185222"/>
          <p:cNvGraphicFramePr/>
          <p:nvPr/>
        </p:nvGraphicFramePr>
        <p:xfrm>
          <a:off x="3200400" y="1188720"/>
          <a:ext cx="2834280" cy="3273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7" name="Chart GSE227731"/>
          <p:cNvGraphicFramePr/>
          <p:nvPr/>
        </p:nvGraphicFramePr>
        <p:xfrm>
          <a:off x="6035040" y="1188720"/>
          <a:ext cx="2651400" cy="1737000"/>
        </p:xfrm>
        <a:graphic>
          <a:graphicData uri="http://schemas.openxmlformats.org/drawingml/2006/chart">
            <c:chart xmlns:c="http://schemas.openxmlformats.org/drawingml/2006/chart" xmlns:r="http://schemas.openxmlformats.org/officeDocument/2006/relationships" r:id="rId3"/>
          </a:graphicData>
        </a:graphic>
      </p:graphicFrame>
      <p:sp>
        <p:nvSpPr>
          <p:cNvPr id="188" name="Subcluster card"/>
          <p:cNvSpPr/>
          <p:nvPr/>
        </p:nvSpPr>
        <p:spPr>
          <a:xfrm>
            <a:off x="6126480" y="3063240"/>
            <a:ext cx="2559960" cy="139860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9" name="Subcluster note"/>
          <p:cNvSpPr/>
          <p:nvPr/>
        </p:nvSpPr>
        <p:spPr>
          <a:xfrm>
            <a:off x="6263640" y="3154680"/>
            <a:ext cx="2285640" cy="1234080"/>
          </a:xfrm>
          <a:prstGeom prst="rect">
            <a:avLst/>
          </a:prstGeom>
          <a:noFill/>
          <a:ln w="0">
            <a:noFill/>
          </a:ln>
        </p:spPr>
        <p:style>
          <a:lnRef idx="0"/>
          <a:fillRef idx="0"/>
          <a:effectRef idx="0"/>
          <a:fontRef idx="minor"/>
        </p:style>
        <p:txBody>
          <a:bodyPr lIns="0" tIns="0" rIns="0" bIns="0" anchor="t">
            <a:spAutoFit/>
          </a:bodyPr>
          <a:p>
            <a:pPr defTabSz="914400">
              <a:lnSpc>
                <a:spcPct val="100000"/>
              </a:lnSpc>
              <a:spcAft>
                <a:spcPts val="400"/>
              </a:spcAft>
            </a:pPr>
            <a:r>
              <a:rPr lang="en-US" sz="1100" b="1" u="none" strike="noStrike">
                <a:solidFill>
                  <a:srgbClr val="1F2A33"/>
                </a:solidFill>
                <a:effectLst/>
                <a:uFillTx/>
                <a:latin typeface="Calibri"/>
              </a:rPr>
              <a:t>No WLS-high DPSC subset</a:t>
            </a:r>
            <a:endParaRPr lang="en-US" sz="1100" b="0" u="none" strike="noStrike">
              <a:solidFill>
                <a:srgbClr val="000000"/>
              </a:solidFill>
              <a:effectLst/>
              <a:uFillTx/>
              <a:latin typeface="Arial"/>
            </a:endParaRPr>
          </a:p>
          <a:p>
            <a:pPr defTabSz="914400">
              <a:lnSpc>
                <a:spcPct val="100000"/>
              </a:lnSpc>
            </a:pPr>
            <a:r>
              <a:rPr lang="en-US" sz="1100" b="0" u="none" strike="noStrike">
                <a:solidFill>
                  <a:srgbClr val="1F2A33"/>
                </a:solidFill>
                <a:effectLst/>
                <a:uFillTx/>
                <a:latin typeface="Calibri"/>
              </a:rPr>
              <a:t>Main DPSC sub-clusters: 64–80% WLS⁺. One sub-cluster (187 cells) is WLS-low at 14%.</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Title"/>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Where WLS is detected</a:t>
            </a:r>
            <a:endParaRPr lang="en-US" sz="2800" b="0" u="none" strike="noStrike">
              <a:solidFill>
                <a:srgbClr val="000000"/>
              </a:solidFill>
              <a:effectLst/>
              <a:uFillTx/>
              <a:latin typeface="Arial"/>
            </a:endParaRPr>
          </a:p>
        </p:txBody>
      </p:sp>
      <p:sp>
        <p:nvSpPr>
          <p:cNvPr id="191" name="Subtitle"/>
          <p:cNvSpPr/>
          <p:nvPr/>
        </p:nvSpPr>
        <p:spPr>
          <a:xfrm>
            <a:off x="457200" y="822960"/>
            <a:ext cx="8229240" cy="3196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00" b="0" i="1" u="none" strike="noStrike">
                <a:solidFill>
                  <a:srgbClr val="55606B"/>
                </a:solidFill>
                <a:effectLst/>
                <a:uFillTx/>
                <a:latin typeface="Calibri"/>
              </a:rPr>
              <a:t>WLS expression on each validation dataset's UMAP (grey = not detected)</a:t>
            </a:r>
            <a:endParaRPr lang="en-US" sz="1300" b="0" u="none" strike="noStrike">
              <a:solidFill>
                <a:srgbClr val="000000"/>
              </a:solidFill>
              <a:effectLst/>
              <a:uFillTx/>
              <a:latin typeface="Arial"/>
            </a:endParaRPr>
          </a:p>
        </p:txBody>
      </p:sp>
      <p:sp>
        <p:nvSpPr>
          <p:cNvPr id="192" name="Footer box"/>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3" name="Footer"/>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Seurat FeaturePlot of log-normalised WLS on each dataset's UMAP (Harmony by sample when there is more than one sample).</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Figures: results/GSE202476/WLS_umap.png, results/GSE185222/WLS_umap.png, results/GSE227731/WLS_umap.png  |  Script: scripts/03_WLS_analysis.R</a:t>
            </a:r>
            <a:endParaRPr lang="en-US" sz="800" b="0" u="none" strike="noStrike">
              <a:solidFill>
                <a:srgbClr val="000000"/>
              </a:solidFill>
              <a:effectLst/>
              <a:uFillTx/>
              <a:latin typeface="Arial"/>
            </a:endParaRPr>
          </a:p>
        </p:txBody>
      </p:sp>
      <p:pic>
        <p:nvPicPr>
          <p:cNvPr id="194" name="Picture 5" descr="WLS_umap.png"/>
          <p:cNvPicPr/>
          <p:nvPr/>
        </p:nvPicPr>
        <p:blipFill>
          <a:blip r:embed="rId1"/>
          <a:stretch/>
        </p:blipFill>
        <p:spPr>
          <a:xfrm>
            <a:off x="457200" y="1280160"/>
            <a:ext cx="2605680" cy="2171520"/>
          </a:xfrm>
          <a:prstGeom prst="rect">
            <a:avLst/>
          </a:prstGeom>
          <a:noFill/>
          <a:ln w="0">
            <a:noFill/>
          </a:ln>
        </p:spPr>
      </p:pic>
      <p:sp>
        <p:nvSpPr>
          <p:cNvPr id="195" name="Caption GSE202476"/>
          <p:cNvSpPr/>
          <p:nvPr/>
        </p:nvSpPr>
        <p:spPr>
          <a:xfrm>
            <a:off x="457200" y="3566160"/>
            <a:ext cx="2605680" cy="4568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1F2A33"/>
                </a:solidFill>
                <a:effectLst/>
                <a:uFillTx/>
                <a:latin typeface="Calibri"/>
              </a:rPr>
              <a:t>GSE202476</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55606B"/>
                </a:solidFill>
                <a:effectLst/>
                <a:uFillTx/>
                <a:latin typeface="Calibri"/>
              </a:rPr>
              <a:t>Young tooth, 11,298 cells</a:t>
            </a:r>
            <a:endParaRPr lang="en-US" sz="1100" b="0" u="none" strike="noStrike">
              <a:solidFill>
                <a:srgbClr val="000000"/>
              </a:solidFill>
              <a:effectLst/>
              <a:uFillTx/>
              <a:latin typeface="Arial"/>
            </a:endParaRPr>
          </a:p>
        </p:txBody>
      </p:sp>
      <p:pic>
        <p:nvPicPr>
          <p:cNvPr id="196" name="Picture 7" descr="WLS_umap.png"/>
          <p:cNvPicPr/>
          <p:nvPr/>
        </p:nvPicPr>
        <p:blipFill>
          <a:blip r:embed="rId2"/>
          <a:stretch/>
        </p:blipFill>
        <p:spPr>
          <a:xfrm>
            <a:off x="3246120" y="1280160"/>
            <a:ext cx="2605680" cy="2171520"/>
          </a:xfrm>
          <a:prstGeom prst="rect">
            <a:avLst/>
          </a:prstGeom>
          <a:noFill/>
          <a:ln w="0">
            <a:noFill/>
          </a:ln>
        </p:spPr>
      </p:pic>
      <p:sp>
        <p:nvSpPr>
          <p:cNvPr id="197" name="Caption GSE185222"/>
          <p:cNvSpPr/>
          <p:nvPr/>
        </p:nvSpPr>
        <p:spPr>
          <a:xfrm>
            <a:off x="3246120" y="3566160"/>
            <a:ext cx="2605680" cy="4568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1F2A33"/>
                </a:solidFill>
                <a:effectLst/>
                <a:uFillTx/>
                <a:latin typeface="Calibri"/>
              </a:rPr>
              <a:t>GSE185222</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55606B"/>
                </a:solidFill>
                <a:effectLst/>
                <a:uFillTx/>
                <a:latin typeface="Calibri"/>
              </a:rPr>
              <a:t>Sound tooth (DTP_01), 887 cells</a:t>
            </a:r>
            <a:endParaRPr lang="en-US" sz="1100" b="0" u="none" strike="noStrike">
              <a:solidFill>
                <a:srgbClr val="000000"/>
              </a:solidFill>
              <a:effectLst/>
              <a:uFillTx/>
              <a:latin typeface="Arial"/>
            </a:endParaRPr>
          </a:p>
        </p:txBody>
      </p:sp>
      <p:pic>
        <p:nvPicPr>
          <p:cNvPr id="198" name="Picture 9" descr="WLS_umap.png"/>
          <p:cNvPicPr/>
          <p:nvPr/>
        </p:nvPicPr>
        <p:blipFill>
          <a:blip r:embed="rId3"/>
          <a:stretch/>
        </p:blipFill>
        <p:spPr>
          <a:xfrm>
            <a:off x="6035040" y="1280160"/>
            <a:ext cx="2605680" cy="2171520"/>
          </a:xfrm>
          <a:prstGeom prst="rect">
            <a:avLst/>
          </a:prstGeom>
          <a:noFill/>
          <a:ln w="0">
            <a:noFill/>
          </a:ln>
        </p:spPr>
      </p:pic>
      <p:sp>
        <p:nvSpPr>
          <p:cNvPr id="199" name="Caption GSE227731"/>
          <p:cNvSpPr/>
          <p:nvPr/>
        </p:nvSpPr>
        <p:spPr>
          <a:xfrm>
            <a:off x="6035040" y="3566160"/>
            <a:ext cx="2605680" cy="45684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1F2A33"/>
                </a:solidFill>
                <a:effectLst/>
                <a:uFillTx/>
                <a:latin typeface="Calibri"/>
              </a:rPr>
              <a:t>GSE227731</a:t>
            </a:r>
            <a:endParaRPr lang="en-US" sz="1100" b="0" u="none" strike="noStrike">
              <a:solidFill>
                <a:srgbClr val="000000"/>
              </a:solidFill>
              <a:effectLst/>
              <a:uFillTx/>
              <a:latin typeface="Arial"/>
            </a:endParaRPr>
          </a:p>
          <a:p>
            <a:pPr algn="ctr" defTabSz="914400">
              <a:lnSpc>
                <a:spcPct val="100000"/>
              </a:lnSpc>
            </a:pPr>
            <a:r>
              <a:rPr lang="en-US" sz="1100" b="0" u="none" strike="noStrike">
                <a:solidFill>
                  <a:srgbClr val="55606B"/>
                </a:solidFill>
                <a:effectLst/>
                <a:uFillTx/>
                <a:latin typeface="Calibri"/>
              </a:rPr>
              <a:t>DPSCs + PDLSCs, 4,015 cells</a:t>
            </a:r>
            <a:endParaRPr lang="en-US" sz="1100" b="0" u="none" strike="noStrike">
              <a:solidFill>
                <a:srgbClr val="000000"/>
              </a:solidFill>
              <a:effectLst/>
              <a:uFillTx/>
              <a:latin typeface="Arial"/>
            </a:endParaRPr>
          </a:p>
        </p:txBody>
      </p:sp>
      <p:sp>
        <p:nvSpPr>
          <p:cNvPr id="200" name="Takeaway"/>
          <p:cNvSpPr/>
          <p:nvPr/>
        </p:nvSpPr>
        <p:spPr>
          <a:xfrm>
            <a:off x="457200" y="4160520"/>
            <a:ext cx="8229240" cy="3013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1F2A33"/>
                </a:solidFill>
                <a:effectLst/>
                <a:uFillTx/>
                <a:latin typeface="Calibri"/>
              </a:rPr>
              <a:t>In pulp tissue the densest WLS signal is the fibroblast mass; </a:t>
            </a:r>
            <a:r>
              <a:rPr lang="en-US" sz="1200" b="0" u="none" strike="noStrike">
                <a:solidFill>
                  <a:srgbClr val="1F2A33"/>
                </a:solidFill>
                <a:effectLst/>
                <a:uFillTx/>
                <a:latin typeface="Calibri"/>
              </a:rPr>
              <a:t>in culture, WLS is broad across DPSCs and PDLSCs.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Title"/>
          <p:cNvSpPr/>
          <p:nvPr/>
        </p:nvSpPr>
        <p:spPr>
          <a:xfrm>
            <a:off x="457200" y="274320"/>
            <a:ext cx="8229240" cy="5482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2800" b="1" u="none" strike="noStrike">
                <a:solidFill>
                  <a:srgbClr val="6A1B3A"/>
                </a:solidFill>
                <a:effectLst/>
                <a:uFillTx/>
                <a:latin typeface="Cambria"/>
              </a:rPr>
              <a:t>What validation adds</a:t>
            </a:r>
            <a:endParaRPr lang="en-US" sz="2800" b="0" u="none" strike="noStrike">
              <a:solidFill>
                <a:srgbClr val="000000"/>
              </a:solidFill>
              <a:effectLst/>
              <a:uFillTx/>
              <a:latin typeface="Arial"/>
            </a:endParaRPr>
          </a:p>
        </p:txBody>
      </p:sp>
      <p:sp>
        <p:nvSpPr>
          <p:cNvPr id="202" name="Footer box"/>
          <p:cNvSpPr/>
          <p:nvPr/>
        </p:nvSpPr>
        <p:spPr>
          <a:xfrm>
            <a:off x="457200" y="4553640"/>
            <a:ext cx="8229240" cy="493560"/>
          </a:xfrm>
          <a:prstGeom prst="rect">
            <a:avLst/>
          </a:prstGeom>
          <a:solidFill>
            <a:srgbClr val="F6EEF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3" name="Footer"/>
          <p:cNvSpPr/>
          <p:nvPr/>
        </p:nvSpPr>
        <p:spPr>
          <a:xfrm>
            <a:off x="567000" y="4553640"/>
            <a:ext cx="8046360" cy="493560"/>
          </a:xfrm>
          <a:prstGeom prst="rect">
            <a:avLst/>
          </a:prstGeom>
          <a:noFill/>
          <a:ln w="0">
            <a:noFill/>
          </a:ln>
        </p:spPr>
        <p:style>
          <a:lnRef idx="0"/>
          <a:fillRef idx="0"/>
          <a:effectRef idx="0"/>
          <a:fontRef idx="minor"/>
        </p:style>
        <p:txBody>
          <a:bodyPr lIns="0" tIns="0" rIns="0" bIns="0" anchor="ctr">
            <a:spAutoFit/>
          </a:bodyPr>
          <a:p>
            <a:pPr defTabSz="914400">
              <a:lnSpc>
                <a:spcPct val="100000"/>
              </a:lnSpc>
              <a:spcAft>
                <a:spcPts val="201"/>
              </a:spcAft>
            </a:pPr>
            <a:r>
              <a:rPr lang="en-US" sz="800" b="1" u="none" strike="noStrike">
                <a:solidFill>
                  <a:srgbClr val="5A3A47"/>
                </a:solidFill>
                <a:effectLst/>
                <a:uFillTx/>
                <a:latin typeface="Calibri"/>
              </a:rPr>
              <a:t>Method: </a:t>
            </a:r>
            <a:r>
              <a:rPr lang="en-US" sz="800" b="0" u="none" strike="noStrike">
                <a:solidFill>
                  <a:srgbClr val="5A3A47"/>
                </a:solidFill>
                <a:effectLst/>
                <a:uFillTx/>
                <a:latin typeface="Calibri"/>
              </a:rPr>
              <a:t>Validation scripts: 01 download (GEOquery) → 02 QC, scDblFinder, Harmony, annotation, DPSC definitions → 03 WLS tests → 04 summary table; renv-locked.</a:t>
            </a:r>
            <a:endParaRPr lang="en-US" sz="800" b="0" u="none" strike="noStrike">
              <a:solidFill>
                <a:srgbClr val="000000"/>
              </a:solidFill>
              <a:effectLst/>
              <a:uFillTx/>
              <a:latin typeface="Arial"/>
            </a:endParaRPr>
          </a:p>
          <a:p>
            <a:pPr defTabSz="914400">
              <a:lnSpc>
                <a:spcPct val="100000"/>
              </a:lnSpc>
            </a:pPr>
            <a:r>
              <a:rPr lang="en-US" sz="800" b="1" u="none" strike="noStrike">
                <a:solidFill>
                  <a:srgbClr val="5A3A47"/>
                </a:solidFill>
                <a:effectLst/>
                <a:uFillTx/>
                <a:latin typeface="Calibri"/>
              </a:rPr>
              <a:t>Code and outputs: </a:t>
            </a:r>
            <a:r>
              <a:rPr lang="en-US" sz="800" b="0" u="none" strike="noStrike">
                <a:solidFill>
                  <a:srgbClr val="5A3A47"/>
                </a:solidFill>
                <a:effectLst/>
                <a:uFillTx/>
                <a:latin typeface="Calibri"/>
              </a:rPr>
              <a:t>Repository: github.com/mtariqi/dpsc-wls-validation  |  Discovery: github.com/mtariqi/dpsc-wls-human-scRNAseq</a:t>
            </a:r>
            <a:endParaRPr lang="en-US" sz="800" b="0" u="none" strike="noStrike">
              <a:solidFill>
                <a:srgbClr val="000000"/>
              </a:solidFill>
              <a:effectLst/>
              <a:uFillTx/>
              <a:latin typeface="Arial"/>
            </a:endParaRPr>
          </a:p>
        </p:txBody>
      </p:sp>
      <p:sp>
        <p:nvSpPr>
          <p:cNvPr id="204" name="Column 1"/>
          <p:cNvSpPr/>
          <p:nvPr/>
        </p:nvSpPr>
        <p:spPr>
          <a:xfrm>
            <a:off x="457200" y="1097280"/>
            <a:ext cx="3977280" cy="336456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5" name="Column 1 heading"/>
          <p:cNvSpPr/>
          <p:nvPr/>
        </p:nvSpPr>
        <p:spPr>
          <a:xfrm>
            <a:off x="640080" y="1234440"/>
            <a:ext cx="3657240" cy="3654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600" b="1" u="none" strike="noStrike">
                <a:solidFill>
                  <a:srgbClr val="6A1B3A"/>
                </a:solidFill>
                <a:effectLst/>
                <a:uFillTx/>
                <a:latin typeface="Cambria"/>
              </a:rPr>
              <a:t>What the data now say</a:t>
            </a:r>
            <a:endParaRPr lang="en-US" sz="1600" b="0" u="none" strike="noStrike">
              <a:solidFill>
                <a:srgbClr val="000000"/>
              </a:solidFill>
              <a:effectLst/>
              <a:uFillTx/>
              <a:latin typeface="Arial"/>
            </a:endParaRPr>
          </a:p>
        </p:txBody>
      </p:sp>
      <p:sp>
        <p:nvSpPr>
          <p:cNvPr id="206" name="Column 1 body"/>
          <p:cNvSpPr/>
          <p:nvPr/>
        </p:nvSpPr>
        <p:spPr>
          <a:xfrm>
            <a:off x="640080" y="1691640"/>
            <a:ext cx="3657240" cy="2651400"/>
          </a:xfrm>
          <a:prstGeom prst="rect">
            <a:avLst/>
          </a:prstGeom>
          <a:noFill/>
          <a:ln w="0">
            <a:noFill/>
          </a:ln>
        </p:spPr>
        <p:style>
          <a:lnRef idx="0"/>
          <a:fillRef idx="0"/>
          <a:effectRef idx="0"/>
          <a:fontRef idx="minor"/>
        </p:style>
        <p:txBody>
          <a:bodyPr lIns="0" tIns="0" rIns="0" bIns="0" anchor="t">
            <a:spAutoFit/>
          </a:bodyPr>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WLS is expressed in DPSCs in all four datasets</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Never enriched: DPSCs sit at or below the pulp average</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Fibroblasts lead WLS⁺ mesenchyme in all three pulp tissues</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Carious teeth show the same pattern</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Stem cells: DPSCs below PDLSCs; no WLS-high DPSC subset</a:t>
            </a:r>
            <a:endParaRPr lang="en-US" sz="1300" b="0" u="none" strike="noStrike">
              <a:solidFill>
                <a:srgbClr val="000000"/>
              </a:solidFill>
              <a:effectLst/>
              <a:uFillTx/>
              <a:latin typeface="Arial"/>
            </a:endParaRPr>
          </a:p>
        </p:txBody>
      </p:sp>
      <p:sp>
        <p:nvSpPr>
          <p:cNvPr id="207" name="Column 2"/>
          <p:cNvSpPr/>
          <p:nvPr/>
        </p:nvSpPr>
        <p:spPr>
          <a:xfrm>
            <a:off x="4709160" y="1097280"/>
            <a:ext cx="3977280" cy="3364560"/>
          </a:xfrm>
          <a:prstGeom prst="roundRect">
            <a:avLst>
              <a:gd name="adj" fmla="val 4000"/>
            </a:avLst>
          </a:prstGeom>
          <a:solidFill>
            <a:srgbClr val="F4F6F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8" name="Column 2 heading"/>
          <p:cNvSpPr/>
          <p:nvPr/>
        </p:nvSpPr>
        <p:spPr>
          <a:xfrm>
            <a:off x="4892040" y="1234440"/>
            <a:ext cx="3657240" cy="3654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600" b="1" u="none" strike="noStrike">
                <a:solidFill>
                  <a:srgbClr val="6A1B3A"/>
                </a:solidFill>
                <a:effectLst/>
                <a:uFillTx/>
                <a:latin typeface="Cambria"/>
              </a:rPr>
              <a:t>Caveats</a:t>
            </a:r>
            <a:endParaRPr lang="en-US" sz="1600" b="0" u="none" strike="noStrike">
              <a:solidFill>
                <a:srgbClr val="000000"/>
              </a:solidFill>
              <a:effectLst/>
              <a:uFillTx/>
              <a:latin typeface="Arial"/>
            </a:endParaRPr>
          </a:p>
        </p:txBody>
      </p:sp>
      <p:sp>
        <p:nvSpPr>
          <p:cNvPr id="209" name="Column 2 body"/>
          <p:cNvSpPr/>
          <p:nvPr/>
        </p:nvSpPr>
        <p:spPr>
          <a:xfrm>
            <a:off x="4892040" y="1691640"/>
            <a:ext cx="3657240" cy="2651400"/>
          </a:xfrm>
          <a:prstGeom prst="rect">
            <a:avLst/>
          </a:prstGeom>
          <a:noFill/>
          <a:ln w="0">
            <a:noFill/>
          </a:ln>
        </p:spPr>
        <p:style>
          <a:lnRef idx="0"/>
          <a:fillRef idx="0"/>
          <a:effectRef idx="0"/>
          <a:fontRef idx="minor"/>
        </p:style>
        <p:txBody>
          <a:bodyPr lIns="0" tIns="0" rIns="0" bIns="0" anchor="t">
            <a:spAutoFit/>
          </a:bodyPr>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Validation sets have one donor or library per group: descriptive only</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DPSCs defined computationally, with the same rule in every dataset</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 WLS⁺ is not comparable between datasets</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GSE227731 culture conditions to confirm with the authors</a:t>
            </a:r>
            <a:endParaRPr lang="en-US" sz="1300" b="0" u="none" strike="noStrike">
              <a:solidFill>
                <a:srgbClr val="000000"/>
              </a:solidFill>
              <a:effectLst/>
              <a:uFillTx/>
              <a:latin typeface="Arial"/>
            </a:endParaRPr>
          </a:p>
          <a:p>
            <a:pPr marL="201240" indent="-201240" defTabSz="914400">
              <a:lnSpc>
                <a:spcPct val="100000"/>
              </a:lnSpc>
              <a:spcAft>
                <a:spcPts val="601"/>
              </a:spcAft>
              <a:buClr>
                <a:srgbClr val="1F2A33"/>
              </a:buClr>
              <a:buFont typeface="Symbol" charset="2"/>
              <a:buChar char=""/>
            </a:pPr>
            <a:r>
              <a:rPr lang="en-US" sz="1300" b="0" u="none" strike="noStrike">
                <a:solidFill>
                  <a:srgbClr val="1F2A33"/>
                </a:solidFill>
                <a:effectLst/>
                <a:uFillTx/>
                <a:latin typeface="Calibri"/>
              </a:rPr>
              <a:t>RNA only; no WLS protein or secretion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2026-10-02T15:53:12Z</dcterms:created>
  <dc:creator>Md Tariqul Islam</dc:creator>
  <dc:description/>
  <dc:language>en-US</dc:language>
  <cp:lastModifiedBy/>
  <dcterms:modified xsi:type="dcterms:W3CDTF">2026-10-09T09:38:13Z</dcterms:modified>
  <cp:revision>2</cp:revision>
  <dc:subject>PptxGenJS Presentation</dc:subject>
  <dc:title>WLS in candidate human DPSCs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